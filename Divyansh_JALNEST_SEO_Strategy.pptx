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embeddedFontLst>
    <p:embeddedFont>
      <p:font typeface="Fraunces" panose="020B0604020202020204" charset="0"/>
      <p:regular r:id="rId20"/>
      <p:bold r:id="rId21"/>
      <p:italic r:id="rId22"/>
      <p:boldItalic r:id="rId23"/>
    </p:embeddedFont>
    <p:embeddedFont>
      <p:font typeface="Inter" panose="020B0604020202020204" charset="0"/>
      <p:regular r:id="rId24"/>
      <p:bold r:id="rId25"/>
    </p:embeddedFont>
    <p:embeddedFont>
      <p:font typeface="Inter Medium" panose="020B0604020202020204" charset="0"/>
      <p:regular r:id="rId26"/>
      <p:bold r:id="rId27"/>
    </p:embeddedFont>
    <p:embeddedFont>
      <p:font typeface="Inter SemiBold" panose="020B0604020202020204" charset="0"/>
      <p:regular r:id="rId28"/>
      <p:bold r:id="rId29"/>
    </p:embeddedFont>
    <p:embeddedFont>
      <p:font typeface="JetBrains Mono" panose="020B0604020202020204" charset="0"/>
      <p:regular r:id="rId3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1" d="100"/>
          <a:sy n="91" d="100"/>
        </p:scale>
        <p:origin x="168" y="6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7.xml"/><Relationship Id="rId5" Type="http://schemas.openxmlformats.org/officeDocument/2006/relationships/image" Target="../media/image10.jpg"/><Relationship Id="rId4" Type="http://schemas.openxmlformats.org/officeDocument/2006/relationships/image" Target="../media/image9.jpg"/></Relationships>
</file>

<file path=ppt/slides/_rels/slide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7.xml"/><Relationship Id="rId4" Type="http://schemas.openxmlformats.org/officeDocument/2006/relationships/image" Target="../media/image13.jpg"/></Relationships>
</file>

<file path=ppt/slides/_rels/slide1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7.xml"/><Relationship Id="rId4" Type="http://schemas.openxmlformats.org/officeDocument/2006/relationships/image" Target="../media/image20.jpg"/></Relationships>
</file>

<file path=ppt/slides/_rels/slide13.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7.xml"/><Relationship Id="rId4" Type="http://schemas.openxmlformats.org/officeDocument/2006/relationships/image" Target="../media/image23.jpg"/></Relationships>
</file>

<file path=ppt/slides/_rels/slide14.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28.jpg"/><Relationship Id="rId1" Type="http://schemas.openxmlformats.org/officeDocument/2006/relationships/slideLayout" Target="../slideLayouts/slideLayout7.xml"/><Relationship Id="rId4" Type="http://schemas.openxmlformats.org/officeDocument/2006/relationships/image" Target="../media/image3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9F4"/>
        </a:solidFill>
        <a:effectLst/>
      </p:bgPr>
    </p:bg>
    <p:spTree>
      <p:nvGrpSpPr>
        <p:cNvPr id="1" name=""/>
        <p:cNvGrpSpPr/>
        <p:nvPr/>
      </p:nvGrpSpPr>
      <p:grpSpPr>
        <a:xfrm>
          <a:off x="0" y="0"/>
          <a:ext cx="0" cy="0"/>
          <a:chOff x="0" y="0"/>
          <a:chExt cx="0" cy="0"/>
        </a:xfrm>
      </p:grpSpPr>
      <p:pic>
        <p:nvPicPr>
          <p:cNvPr id="2" name="Picture 1" descr="22989a614f6b.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7498079" cy="6858000"/>
          </a:xfrm>
          <a:prstGeom prst="rect">
            <a:avLst/>
          </a:prstGeom>
          <a:gradFill rotWithShape="1">
            <a:gsLst>
              <a:gs pos="0">
                <a:srgbClr val="FBF9F4">
                  <a:alpha val="97000"/>
                </a:srgbClr>
              </a:gs>
              <a:gs pos="62000">
                <a:srgbClr val="FBF9F4">
                  <a:alpha val="86000"/>
                </a:srgbClr>
              </a:gs>
              <a:gs pos="100000">
                <a:srgbClr val="FBF9F4">
                  <a:alpha val="0"/>
                </a:srgb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college_logo_wide19.png"/>
          <p:cNvPicPr>
            <a:picLocks noChangeAspect="1"/>
          </p:cNvPicPr>
          <p:nvPr/>
        </p:nvPicPr>
        <p:blipFill>
          <a:blip r:embed="rId3"/>
          <a:stretch>
            <a:fillRect/>
          </a:stretch>
        </p:blipFill>
        <p:spPr>
          <a:xfrm>
            <a:off x="548640" y="411479"/>
            <a:ext cx="3093985" cy="841248"/>
          </a:xfrm>
          <a:prstGeom prst="rect">
            <a:avLst/>
          </a:prstGeom>
        </p:spPr>
      </p:pic>
      <p:sp>
        <p:nvSpPr>
          <p:cNvPr id="5" name="TextBox 4"/>
          <p:cNvSpPr txBox="1"/>
          <p:nvPr/>
        </p:nvSpPr>
        <p:spPr>
          <a:xfrm>
            <a:off x="548640" y="1691640"/>
            <a:ext cx="6400800" cy="199851"/>
          </a:xfrm>
          <a:prstGeom prst="rect">
            <a:avLst/>
          </a:prstGeom>
          <a:noFill/>
        </p:spPr>
        <p:txBody>
          <a:bodyPr wrap="square" lIns="0" tIns="0" rIns="0" bIns="0" anchor="t">
            <a:noAutofit/>
          </a:bodyPr>
          <a:lstStyle/>
          <a:p>
            <a:pPr algn="l">
              <a:lnSpc>
                <a:spcPct val="118000"/>
              </a:lnSpc>
              <a:buNone/>
            </a:pPr>
            <a:r>
              <a:rPr sz="850" b="0" i="0" spc="140" dirty="0">
                <a:solidFill>
                  <a:srgbClr val="5C7A63"/>
                </a:solidFill>
                <a:latin typeface="Inter SemiBold"/>
                <a:ea typeface="Inter SemiBold"/>
                <a:cs typeface="Inter SemiBold"/>
              </a:rPr>
              <a:t>DIGITAL MARKETING ASSIGNMENT  ·  SESSION 2026–27</a:t>
            </a:r>
          </a:p>
        </p:txBody>
      </p:sp>
      <p:sp>
        <p:nvSpPr>
          <p:cNvPr id="6" name="TextBox 5"/>
          <p:cNvSpPr txBox="1"/>
          <p:nvPr/>
        </p:nvSpPr>
        <p:spPr>
          <a:xfrm>
            <a:off x="548640" y="1993392"/>
            <a:ext cx="6583680" cy="1825846"/>
          </a:xfrm>
          <a:prstGeom prst="rect">
            <a:avLst/>
          </a:prstGeom>
          <a:noFill/>
        </p:spPr>
        <p:txBody>
          <a:bodyPr wrap="square" lIns="0" tIns="0" rIns="0" bIns="0" anchor="t">
            <a:noAutofit/>
          </a:bodyPr>
          <a:lstStyle/>
          <a:p>
            <a:pPr algn="l">
              <a:lnSpc>
                <a:spcPct val="98000"/>
              </a:lnSpc>
              <a:spcAft>
                <a:spcPts val="0"/>
              </a:spcAft>
              <a:buNone/>
            </a:pPr>
            <a:r>
              <a:rPr sz="5800" b="0" i="0">
                <a:solidFill>
                  <a:srgbClr val="16201B"/>
                </a:solidFill>
                <a:latin typeface="Fraunces"/>
                <a:ea typeface="Fraunces"/>
                <a:cs typeface="Fraunces"/>
              </a:rPr>
              <a:t>SEO Strategy for</a:t>
            </a:r>
          </a:p>
          <a:p>
            <a:pPr algn="l">
              <a:lnSpc>
                <a:spcPct val="98000"/>
              </a:lnSpc>
              <a:buNone/>
            </a:pPr>
            <a:r>
              <a:rPr sz="5800" b="0" i="1">
                <a:solidFill>
                  <a:srgbClr val="B8663C"/>
                </a:solidFill>
                <a:latin typeface="Fraunces"/>
                <a:ea typeface="Fraunces"/>
                <a:cs typeface="Fraunces"/>
              </a:rPr>
              <a:t>JalNest</a:t>
            </a:r>
          </a:p>
        </p:txBody>
      </p:sp>
      <p:sp>
        <p:nvSpPr>
          <p:cNvPr id="7" name="Rectangle 6"/>
          <p:cNvSpPr/>
          <p:nvPr/>
        </p:nvSpPr>
        <p:spPr>
          <a:xfrm>
            <a:off x="548640" y="3666362"/>
            <a:ext cx="822960" cy="19050"/>
          </a:xfrm>
          <a:prstGeom prst="rect">
            <a:avLst/>
          </a:prstGeom>
          <a:solidFill>
            <a:srgbClr val="B86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48640" y="3840480"/>
            <a:ext cx="5577840" cy="872771"/>
          </a:xfrm>
          <a:prstGeom prst="rect">
            <a:avLst/>
          </a:prstGeom>
          <a:noFill/>
        </p:spPr>
        <p:txBody>
          <a:bodyPr wrap="square" lIns="0" tIns="0" rIns="0" bIns="0" anchor="t">
            <a:noAutofit/>
          </a:bodyPr>
          <a:lstStyle/>
          <a:p>
            <a:pPr algn="l">
              <a:lnSpc>
                <a:spcPct val="138000"/>
              </a:lnSpc>
              <a:buNone/>
            </a:pPr>
            <a:r>
              <a:rPr sz="1300" b="0" i="0">
                <a:solidFill>
                  <a:srgbClr val="4A5751"/>
                </a:solidFill>
                <a:latin typeface="Inter"/>
                <a:ea typeface="Inter"/>
                <a:cs typeface="Inter"/>
              </a:rPr>
              <a:t>An SEO plan for the </a:t>
            </a:r>
            <a:r>
              <a:rPr sz="1300" b="0" i="0">
                <a:solidFill>
                  <a:srgbClr val="4A5751"/>
                </a:solidFill>
                <a:latin typeface="Inter SemiBold"/>
                <a:ea typeface="Inter SemiBold"/>
                <a:cs typeface="Inter SemiBold"/>
              </a:rPr>
              <a:t>ORIVYAA · JalNest</a:t>
            </a:r>
            <a:r>
              <a:rPr sz="1300" b="0" i="0">
                <a:solidFill>
                  <a:srgbClr val="4A5751"/>
                </a:solidFill>
                <a:latin typeface="Inter"/>
                <a:ea typeface="Inter"/>
                <a:cs typeface="Inter"/>
              </a:rPr>
              <a:t> landing page on Wix Studio — a self-watering planter with a visible water reservoir — covering keyword research, on-page, off-page and technical SEO.</a:t>
            </a:r>
          </a:p>
        </p:txBody>
      </p:sp>
      <p:sp>
        <p:nvSpPr>
          <p:cNvPr id="9" name="TextBox 8"/>
          <p:cNvSpPr txBox="1"/>
          <p:nvPr/>
        </p:nvSpPr>
        <p:spPr>
          <a:xfrm>
            <a:off x="548640" y="4956048"/>
            <a:ext cx="2743200" cy="181717"/>
          </a:xfrm>
          <a:prstGeom prst="rect">
            <a:avLst/>
          </a:prstGeom>
          <a:noFill/>
        </p:spPr>
        <p:txBody>
          <a:bodyPr wrap="square" lIns="0" tIns="0" rIns="0" bIns="0" anchor="t">
            <a:noAutofit/>
          </a:bodyPr>
          <a:lstStyle/>
          <a:p>
            <a:pPr algn="l">
              <a:lnSpc>
                <a:spcPct val="118000"/>
              </a:lnSpc>
              <a:buNone/>
            </a:pPr>
            <a:r>
              <a:rPr sz="750" b="0" i="0" spc="140">
                <a:solidFill>
                  <a:srgbClr val="7F8A83"/>
                </a:solidFill>
                <a:latin typeface="Inter SemiBold"/>
                <a:ea typeface="Inter SemiBold"/>
                <a:cs typeface="Inter SemiBold"/>
              </a:rPr>
              <a:t>SUBMITTED BY</a:t>
            </a:r>
          </a:p>
        </p:txBody>
      </p:sp>
      <p:sp>
        <p:nvSpPr>
          <p:cNvPr id="10" name="TextBox 9"/>
          <p:cNvSpPr txBox="1"/>
          <p:nvPr/>
        </p:nvSpPr>
        <p:spPr>
          <a:xfrm>
            <a:off x="548640" y="5138928"/>
            <a:ext cx="4114800" cy="407445"/>
          </a:xfrm>
          <a:prstGeom prst="rect">
            <a:avLst/>
          </a:prstGeom>
          <a:noFill/>
        </p:spPr>
        <p:txBody>
          <a:bodyPr wrap="square" lIns="0" tIns="0" rIns="0" bIns="0" anchor="t">
            <a:noAutofit/>
          </a:bodyPr>
          <a:lstStyle/>
          <a:p>
            <a:pPr algn="l">
              <a:lnSpc>
                <a:spcPct val="105000"/>
              </a:lnSpc>
              <a:buNone/>
            </a:pPr>
            <a:r>
              <a:rPr lang="en-IN" sz="2200" b="0" i="0" dirty="0">
                <a:solidFill>
                  <a:srgbClr val="16201B"/>
                </a:solidFill>
                <a:latin typeface="Fraunces"/>
                <a:ea typeface="Fraunces"/>
                <a:cs typeface="Fraunces"/>
              </a:rPr>
              <a:t>Divyansh</a:t>
            </a:r>
            <a:endParaRPr sz="2200" b="0" i="0" dirty="0">
              <a:solidFill>
                <a:srgbClr val="16201B"/>
              </a:solidFill>
              <a:latin typeface="Fraunces"/>
              <a:ea typeface="Fraunces"/>
              <a:cs typeface="Fraunces"/>
            </a:endParaRPr>
          </a:p>
        </p:txBody>
      </p:sp>
      <p:sp>
        <p:nvSpPr>
          <p:cNvPr id="11" name="TextBox 10"/>
          <p:cNvSpPr txBox="1"/>
          <p:nvPr/>
        </p:nvSpPr>
        <p:spPr>
          <a:xfrm>
            <a:off x="548640" y="5559552"/>
            <a:ext cx="4572000" cy="474503"/>
          </a:xfrm>
          <a:prstGeom prst="rect">
            <a:avLst/>
          </a:prstGeom>
          <a:noFill/>
        </p:spPr>
        <p:txBody>
          <a:bodyPr wrap="square" lIns="0" tIns="0" rIns="0" bIns="0" anchor="t">
            <a:noAutofit/>
          </a:bodyPr>
          <a:lstStyle/>
          <a:p>
            <a:pPr algn="l">
              <a:lnSpc>
                <a:spcPct val="125000"/>
              </a:lnSpc>
              <a:spcAft>
                <a:spcPts val="200"/>
              </a:spcAft>
              <a:buNone/>
            </a:pPr>
            <a:r>
              <a:rPr sz="1050" b="0" i="0">
                <a:solidFill>
                  <a:srgbClr val="4A5751"/>
                </a:solidFill>
                <a:latin typeface="Inter"/>
                <a:ea typeface="Inter"/>
                <a:cs typeface="Inter"/>
              </a:rPr>
              <a:t>BCA  ·  2nd Year</a:t>
            </a:r>
          </a:p>
          <a:p>
            <a:pPr algn="l">
              <a:lnSpc>
                <a:spcPct val="125000"/>
              </a:lnSpc>
              <a:buNone/>
            </a:pPr>
            <a:r>
              <a:rPr sz="1050" b="0" i="0">
                <a:solidFill>
                  <a:srgbClr val="4A5751"/>
                </a:solidFill>
                <a:latin typeface="Inter"/>
                <a:ea typeface="Inter"/>
                <a:cs typeface="Inter"/>
              </a:rPr>
              <a:t>Dezyne École College, Ajmer</a:t>
            </a:r>
          </a:p>
        </p:txBody>
      </p:sp>
      <p:sp>
        <p:nvSpPr>
          <p:cNvPr id="12" name="Rounded Rectangle 11"/>
          <p:cNvSpPr/>
          <p:nvPr/>
        </p:nvSpPr>
        <p:spPr>
          <a:xfrm>
            <a:off x="9464040" y="5943600"/>
            <a:ext cx="2331720" cy="566928"/>
          </a:xfrm>
          <a:prstGeom prst="roundRect">
            <a:avLst>
              <a:gd name="adj" fmla="val 12903"/>
            </a:avLst>
          </a:prstGeom>
          <a:solidFill>
            <a:srgbClr val="FFFFFF">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9601200" y="5943600"/>
            <a:ext cx="2103120" cy="566928"/>
          </a:xfrm>
          <a:prstGeom prst="rect">
            <a:avLst/>
          </a:prstGeom>
          <a:noFill/>
        </p:spPr>
        <p:txBody>
          <a:bodyPr wrap="square" lIns="0" tIns="0" rIns="0" bIns="0" anchor="ctr">
            <a:noAutofit/>
          </a:bodyPr>
          <a:lstStyle/>
          <a:p>
            <a:pPr algn="l">
              <a:lnSpc>
                <a:spcPct val="115000"/>
              </a:lnSpc>
              <a:spcAft>
                <a:spcPts val="0"/>
              </a:spcAft>
              <a:buNone/>
            </a:pPr>
            <a:r>
              <a:rPr sz="750" b="0" i="0">
                <a:solidFill>
                  <a:srgbClr val="16201B"/>
                </a:solidFill>
                <a:latin typeface="Inter SemiBold"/>
                <a:ea typeface="Inter SemiBold"/>
                <a:cs typeface="Inter SemiBold"/>
              </a:rPr>
              <a:t>Landing page analysed</a:t>
            </a:r>
          </a:p>
          <a:p>
            <a:pPr algn="l">
              <a:lnSpc>
                <a:spcPct val="115000"/>
              </a:lnSpc>
              <a:buNone/>
            </a:pPr>
            <a:r>
              <a:rPr sz="750" b="0" i="0">
                <a:solidFill>
                  <a:srgbClr val="16201B"/>
                </a:solidFill>
                <a:latin typeface="Inter"/>
                <a:ea typeface="Inter"/>
                <a:cs typeface="Inter"/>
              </a:rPr>
              <a:t>divyanshkumar47473.wixstudio.com/orivyaa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9F4"/>
        </a:solidFill>
        <a:effectLst/>
      </p:bgPr>
    </p:bg>
    <p:spTree>
      <p:nvGrpSpPr>
        <p:cNvPr id="1" name=""/>
        <p:cNvGrpSpPr/>
        <p:nvPr/>
      </p:nvGrpSpPr>
      <p:grpSpPr>
        <a:xfrm>
          <a:off x="0" y="0"/>
          <a:ext cx="0" cy="0"/>
          <a:chOff x="0" y="0"/>
          <a:chExt cx="0" cy="0"/>
        </a:xfrm>
      </p:grpSpPr>
      <p:sp>
        <p:nvSpPr>
          <p:cNvPr id="2" name="Rectangle 1"/>
          <p:cNvSpPr/>
          <p:nvPr/>
        </p:nvSpPr>
        <p:spPr>
          <a:xfrm>
            <a:off x="548640" y="6377749"/>
            <a:ext cx="6613855"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48640" y="6455664"/>
            <a:ext cx="7315200" cy="190784"/>
          </a:xfrm>
          <a:prstGeom prst="rect">
            <a:avLst/>
          </a:prstGeom>
          <a:noFill/>
        </p:spPr>
        <p:txBody>
          <a:bodyPr wrap="square" lIns="0" tIns="0" rIns="0" bIns="0" anchor="t">
            <a:noAutofit/>
          </a:bodyPr>
          <a:lstStyle/>
          <a:p>
            <a:pPr algn="l">
              <a:lnSpc>
                <a:spcPct val="118000"/>
              </a:lnSpc>
              <a:buNone/>
            </a:pPr>
            <a:r>
              <a:rPr sz="800" b="0" i="0">
                <a:solidFill>
                  <a:srgbClr val="7F8A83"/>
                </a:solidFill>
                <a:latin typeface="Inter"/>
                <a:ea typeface="Inter"/>
                <a:cs typeface="Inter"/>
              </a:rPr>
              <a:t>SEO for JalNest  —  Digital Marketing Assignment</a:t>
            </a:r>
          </a:p>
        </p:txBody>
      </p:sp>
      <p:sp>
        <p:nvSpPr>
          <p:cNvPr id="4" name="TextBox 3"/>
          <p:cNvSpPr txBox="1"/>
          <p:nvPr/>
        </p:nvSpPr>
        <p:spPr>
          <a:xfrm>
            <a:off x="4419295" y="6455664"/>
            <a:ext cx="2743200" cy="190784"/>
          </a:xfrm>
          <a:prstGeom prst="rect">
            <a:avLst/>
          </a:prstGeom>
          <a:noFill/>
        </p:spPr>
        <p:txBody>
          <a:bodyPr wrap="square" lIns="0" tIns="0" rIns="0" bIns="0" anchor="t">
            <a:noAutofit/>
          </a:bodyPr>
          <a:lstStyle/>
          <a:p>
            <a:pPr algn="r">
              <a:lnSpc>
                <a:spcPct val="118000"/>
              </a:lnSpc>
              <a:buNone/>
            </a:pPr>
            <a:r>
              <a:rPr sz="800" b="0" i="0">
                <a:solidFill>
                  <a:srgbClr val="7F8A83"/>
                </a:solidFill>
                <a:latin typeface="Inter"/>
                <a:ea typeface="Inter"/>
                <a:cs typeface="Inter"/>
              </a:rPr>
              <a:t>Session 2026–27   ·   02 / 18</a:t>
            </a:r>
          </a:p>
        </p:txBody>
      </p:sp>
      <p:pic>
        <p:nvPicPr>
          <p:cNvPr id="5" name="Picture 4" descr="d3143ee062ce.jpg"/>
          <p:cNvPicPr>
            <a:picLocks noChangeAspect="1"/>
          </p:cNvPicPr>
          <p:nvPr/>
        </p:nvPicPr>
        <p:blipFill>
          <a:blip r:embed="rId2"/>
          <a:stretch>
            <a:fillRect/>
          </a:stretch>
        </p:blipFill>
        <p:spPr>
          <a:xfrm>
            <a:off x="0" y="0"/>
            <a:ext cx="4480560" cy="6858000"/>
          </a:xfrm>
          <a:prstGeom prst="rect">
            <a:avLst/>
          </a:prstGeom>
        </p:spPr>
      </p:pic>
      <p:sp>
        <p:nvSpPr>
          <p:cNvPr id="6" name="TextBox 5"/>
          <p:cNvSpPr txBox="1"/>
          <p:nvPr/>
        </p:nvSpPr>
        <p:spPr>
          <a:xfrm>
            <a:off x="5029200" y="384048"/>
            <a:ext cx="5486400" cy="199851"/>
          </a:xfrm>
          <a:prstGeom prst="rect">
            <a:avLst/>
          </a:prstGeom>
          <a:noFill/>
        </p:spPr>
        <p:txBody>
          <a:bodyPr wrap="square" lIns="0" tIns="0" rIns="0" bIns="0" anchor="t">
            <a:noAutofit/>
          </a:bodyPr>
          <a:lstStyle/>
          <a:p>
            <a:pPr algn="l">
              <a:lnSpc>
                <a:spcPct val="118000"/>
              </a:lnSpc>
              <a:buNone/>
            </a:pPr>
            <a:r>
              <a:rPr sz="850" b="0" i="0" spc="140">
                <a:solidFill>
                  <a:srgbClr val="5C7A63"/>
                </a:solidFill>
                <a:latin typeface="Inter SemiBold"/>
                <a:ea typeface="Inter SemiBold"/>
                <a:cs typeface="Inter SemiBold"/>
              </a:rPr>
              <a:t>DIGITAL MARKETING  ·  ASSIGNMENT FOLIO</a:t>
            </a:r>
          </a:p>
        </p:txBody>
      </p:sp>
      <p:sp>
        <p:nvSpPr>
          <p:cNvPr id="7" name="TextBox 6"/>
          <p:cNvSpPr txBox="1"/>
          <p:nvPr/>
        </p:nvSpPr>
        <p:spPr>
          <a:xfrm>
            <a:off x="7071055" y="384048"/>
            <a:ext cx="4572000" cy="199851"/>
          </a:xfrm>
          <a:prstGeom prst="rect">
            <a:avLst/>
          </a:prstGeom>
          <a:noFill/>
        </p:spPr>
        <p:txBody>
          <a:bodyPr wrap="square" lIns="0" tIns="0" rIns="0" bIns="0" anchor="t">
            <a:noAutofit/>
          </a:bodyPr>
          <a:lstStyle/>
          <a:p>
            <a:pPr algn="r">
              <a:lnSpc>
                <a:spcPct val="118000"/>
              </a:lnSpc>
              <a:buNone/>
            </a:pPr>
            <a:r>
              <a:rPr sz="850" b="0" i="0" spc="140">
                <a:solidFill>
                  <a:srgbClr val="7F8A83"/>
                </a:solidFill>
                <a:latin typeface="Inter SemiBold"/>
                <a:ea typeface="Inter SemiBold"/>
                <a:cs typeface="Inter SemiBold"/>
              </a:rPr>
              <a:t>ASSIGNMENT REPORT</a:t>
            </a:r>
          </a:p>
        </p:txBody>
      </p:sp>
      <p:sp>
        <p:nvSpPr>
          <p:cNvPr id="8" name="TextBox 7"/>
          <p:cNvSpPr txBox="1"/>
          <p:nvPr/>
        </p:nvSpPr>
        <p:spPr>
          <a:xfrm>
            <a:off x="5029200" y="1097280"/>
            <a:ext cx="6613855" cy="199851"/>
          </a:xfrm>
          <a:prstGeom prst="rect">
            <a:avLst/>
          </a:prstGeom>
          <a:noFill/>
        </p:spPr>
        <p:txBody>
          <a:bodyPr wrap="square" lIns="0" tIns="0" rIns="0" bIns="0" anchor="t">
            <a:noAutofit/>
          </a:bodyPr>
          <a:lstStyle/>
          <a:p>
            <a:pPr algn="ctr">
              <a:lnSpc>
                <a:spcPct val="118000"/>
              </a:lnSpc>
              <a:buNone/>
            </a:pPr>
            <a:r>
              <a:rPr sz="850" b="0" i="0" spc="140">
                <a:solidFill>
                  <a:srgbClr val="7F8A83"/>
                </a:solidFill>
                <a:latin typeface="Inter SemiBold"/>
                <a:ea typeface="Inter SemiBold"/>
                <a:cs typeface="Inter SemiBold"/>
              </a:rPr>
              <a:t>ASSIGNMENT FOLIO OF</a:t>
            </a:r>
          </a:p>
        </p:txBody>
      </p:sp>
      <p:sp>
        <p:nvSpPr>
          <p:cNvPr id="9" name="TextBox 8"/>
          <p:cNvSpPr txBox="1"/>
          <p:nvPr/>
        </p:nvSpPr>
        <p:spPr>
          <a:xfrm>
            <a:off x="5029200" y="1325880"/>
            <a:ext cx="6613855" cy="766038"/>
          </a:xfrm>
          <a:prstGeom prst="rect">
            <a:avLst/>
          </a:prstGeom>
          <a:noFill/>
        </p:spPr>
        <p:txBody>
          <a:bodyPr wrap="square" lIns="0" tIns="0" rIns="0" bIns="0" anchor="t">
            <a:noAutofit/>
          </a:bodyPr>
          <a:lstStyle/>
          <a:p>
            <a:pPr algn="ctr">
              <a:lnSpc>
                <a:spcPct val="100000"/>
              </a:lnSpc>
              <a:buNone/>
            </a:pPr>
            <a:r>
              <a:rPr sz="4600" b="0" i="0">
                <a:solidFill>
                  <a:srgbClr val="16201B"/>
                </a:solidFill>
                <a:latin typeface="Fraunces"/>
                <a:ea typeface="Fraunces"/>
                <a:cs typeface="Fraunces"/>
              </a:rPr>
              <a:t>Digital Marketing</a:t>
            </a:r>
          </a:p>
        </p:txBody>
      </p:sp>
      <p:sp>
        <p:nvSpPr>
          <p:cNvPr id="10" name="Rectangle 9"/>
          <p:cNvSpPr/>
          <p:nvPr/>
        </p:nvSpPr>
        <p:spPr>
          <a:xfrm>
            <a:off x="7924647" y="2203323"/>
            <a:ext cx="822960" cy="19050"/>
          </a:xfrm>
          <a:prstGeom prst="rect">
            <a:avLst/>
          </a:prstGeom>
          <a:solidFill>
            <a:srgbClr val="B86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029200" y="2395728"/>
            <a:ext cx="6613855" cy="199851"/>
          </a:xfrm>
          <a:prstGeom prst="rect">
            <a:avLst/>
          </a:prstGeom>
          <a:noFill/>
        </p:spPr>
        <p:txBody>
          <a:bodyPr wrap="square" lIns="0" tIns="0" rIns="0" bIns="0" anchor="t">
            <a:noAutofit/>
          </a:bodyPr>
          <a:lstStyle/>
          <a:p>
            <a:pPr algn="ctr">
              <a:lnSpc>
                <a:spcPct val="118000"/>
              </a:lnSpc>
              <a:buNone/>
            </a:pPr>
            <a:r>
              <a:rPr sz="850" b="0" i="0" spc="140">
                <a:solidFill>
                  <a:srgbClr val="7F8A83"/>
                </a:solidFill>
                <a:latin typeface="Inter SemiBold"/>
                <a:ea typeface="Inter SemiBold"/>
                <a:cs typeface="Inter SemiBold"/>
              </a:rPr>
              <a:t>SUBMITTED TO</a:t>
            </a:r>
          </a:p>
        </p:txBody>
      </p:sp>
      <p:sp>
        <p:nvSpPr>
          <p:cNvPr id="12" name="TextBox 11"/>
          <p:cNvSpPr txBox="1"/>
          <p:nvPr/>
        </p:nvSpPr>
        <p:spPr>
          <a:xfrm>
            <a:off x="5029200" y="2615184"/>
            <a:ext cx="6613855" cy="452856"/>
          </a:xfrm>
          <a:prstGeom prst="rect">
            <a:avLst/>
          </a:prstGeom>
          <a:noFill/>
        </p:spPr>
        <p:txBody>
          <a:bodyPr wrap="square" lIns="0" tIns="0" rIns="0" bIns="0" anchor="t">
            <a:noAutofit/>
          </a:bodyPr>
          <a:lstStyle/>
          <a:p>
            <a:pPr algn="ctr">
              <a:lnSpc>
                <a:spcPct val="100000"/>
              </a:lnSpc>
              <a:buNone/>
            </a:pPr>
            <a:r>
              <a:rPr sz="2600" b="0" i="0">
                <a:solidFill>
                  <a:srgbClr val="3B5744"/>
                </a:solidFill>
                <a:latin typeface="Fraunces"/>
                <a:ea typeface="Fraunces"/>
                <a:cs typeface="Fraunces"/>
              </a:rPr>
              <a:t>Dezyne École College</a:t>
            </a:r>
          </a:p>
        </p:txBody>
      </p:sp>
      <p:sp>
        <p:nvSpPr>
          <p:cNvPr id="13" name="TextBox 12"/>
          <p:cNvSpPr txBox="1"/>
          <p:nvPr/>
        </p:nvSpPr>
        <p:spPr>
          <a:xfrm>
            <a:off x="5029200" y="3054096"/>
            <a:ext cx="6613855" cy="254250"/>
          </a:xfrm>
          <a:prstGeom prst="rect">
            <a:avLst/>
          </a:prstGeom>
          <a:noFill/>
        </p:spPr>
        <p:txBody>
          <a:bodyPr wrap="square" lIns="0" tIns="0" rIns="0" bIns="0" anchor="t">
            <a:noAutofit/>
          </a:bodyPr>
          <a:lstStyle/>
          <a:p>
            <a:pPr algn="ctr">
              <a:lnSpc>
                <a:spcPct val="118000"/>
              </a:lnSpc>
              <a:buNone/>
            </a:pPr>
            <a:r>
              <a:rPr sz="1150" b="0" i="0">
                <a:solidFill>
                  <a:srgbClr val="4A5751"/>
                </a:solidFill>
                <a:latin typeface="Inter"/>
                <a:ea typeface="Inter"/>
                <a:cs typeface="Inter"/>
              </a:rPr>
              <a:t>Toward Digital Marketing  ·  Topic: Search Engine Optimization (SEO)</a:t>
            </a:r>
          </a:p>
        </p:txBody>
      </p:sp>
      <p:sp>
        <p:nvSpPr>
          <p:cNvPr id="14" name="TextBox 13"/>
          <p:cNvSpPr txBox="1"/>
          <p:nvPr/>
        </p:nvSpPr>
        <p:spPr>
          <a:xfrm>
            <a:off x="5029200" y="3520440"/>
            <a:ext cx="6613855" cy="199851"/>
          </a:xfrm>
          <a:prstGeom prst="rect">
            <a:avLst/>
          </a:prstGeom>
          <a:noFill/>
        </p:spPr>
        <p:txBody>
          <a:bodyPr wrap="square" lIns="0" tIns="0" rIns="0" bIns="0" anchor="t">
            <a:noAutofit/>
          </a:bodyPr>
          <a:lstStyle/>
          <a:p>
            <a:pPr algn="ctr">
              <a:lnSpc>
                <a:spcPct val="118000"/>
              </a:lnSpc>
              <a:buNone/>
            </a:pPr>
            <a:r>
              <a:rPr sz="850" b="0" i="0" spc="140">
                <a:solidFill>
                  <a:srgbClr val="7F8A83"/>
                </a:solidFill>
                <a:latin typeface="Inter SemiBold"/>
                <a:ea typeface="Inter SemiBold"/>
                <a:cs typeface="Inter SemiBold"/>
              </a:rPr>
              <a:t>BY</a:t>
            </a:r>
          </a:p>
        </p:txBody>
      </p:sp>
      <p:sp>
        <p:nvSpPr>
          <p:cNvPr id="15" name="TextBox 14"/>
          <p:cNvSpPr txBox="1"/>
          <p:nvPr/>
        </p:nvSpPr>
        <p:spPr>
          <a:xfrm>
            <a:off x="5029200" y="3730752"/>
            <a:ext cx="6613855" cy="254250"/>
          </a:xfrm>
          <a:prstGeom prst="rect">
            <a:avLst/>
          </a:prstGeom>
          <a:noFill/>
        </p:spPr>
        <p:txBody>
          <a:bodyPr wrap="square" lIns="0" tIns="0" rIns="0" bIns="0" anchor="t">
            <a:noAutofit/>
          </a:bodyPr>
          <a:lstStyle/>
          <a:p>
            <a:pPr algn="ctr">
              <a:lnSpc>
                <a:spcPct val="118000"/>
              </a:lnSpc>
              <a:buNone/>
            </a:pPr>
            <a:r>
              <a:rPr sz="1150" b="0" i="0">
                <a:solidFill>
                  <a:srgbClr val="4A5751"/>
                </a:solidFill>
                <a:latin typeface="Inter"/>
                <a:ea typeface="Inter"/>
                <a:cs typeface="Inter"/>
              </a:rPr>
              <a:t>BCA (Bachelor of Computer Applications)  ·  2nd Year</a:t>
            </a:r>
          </a:p>
        </p:txBody>
      </p:sp>
      <p:sp>
        <p:nvSpPr>
          <p:cNvPr id="16" name="Rectangle 15"/>
          <p:cNvSpPr/>
          <p:nvPr/>
        </p:nvSpPr>
        <p:spPr>
          <a:xfrm>
            <a:off x="0" y="6473952"/>
            <a:ext cx="4480560" cy="384048"/>
          </a:xfrm>
          <a:prstGeom prst="rect">
            <a:avLst/>
          </a:prstGeom>
          <a:solidFill>
            <a:srgbClr val="16201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182880" y="6473952"/>
            <a:ext cx="4114800" cy="384048"/>
          </a:xfrm>
          <a:prstGeom prst="rect">
            <a:avLst/>
          </a:prstGeom>
          <a:noFill/>
        </p:spPr>
        <p:txBody>
          <a:bodyPr wrap="square" lIns="0" tIns="0" rIns="0" bIns="0" anchor="ctr">
            <a:noAutofit/>
          </a:bodyPr>
          <a:lstStyle/>
          <a:p>
            <a:pPr algn="l">
              <a:lnSpc>
                <a:spcPct val="120000"/>
              </a:lnSpc>
              <a:buNone/>
            </a:pPr>
            <a:r>
              <a:rPr sz="850" b="0" i="0">
                <a:solidFill>
                  <a:srgbClr val="FFFFFF"/>
                </a:solidFill>
                <a:latin typeface="Inter"/>
                <a:ea typeface="Inter"/>
                <a:cs typeface="Inter"/>
              </a:rPr>
              <a:t>JalNest in Sage Current — one of the three finishes on the ORIVYAA landing page.</a:t>
            </a:r>
          </a:p>
        </p:txBody>
      </p:sp>
      <p:sp>
        <p:nvSpPr>
          <p:cNvPr id="18" name="TextBox 17"/>
          <p:cNvSpPr txBox="1"/>
          <p:nvPr/>
        </p:nvSpPr>
        <p:spPr>
          <a:xfrm>
            <a:off x="5029200" y="3986784"/>
            <a:ext cx="6613855" cy="452856"/>
          </a:xfrm>
          <a:prstGeom prst="rect">
            <a:avLst/>
          </a:prstGeom>
          <a:noFill/>
        </p:spPr>
        <p:txBody>
          <a:bodyPr wrap="square" lIns="0" tIns="0" rIns="0" bIns="0" anchor="t">
            <a:noAutofit/>
          </a:bodyPr>
          <a:lstStyle/>
          <a:p>
            <a:pPr algn="ctr">
              <a:lnSpc>
                <a:spcPct val="100000"/>
              </a:lnSpc>
              <a:buNone/>
            </a:pPr>
            <a:r>
              <a:rPr lang="en-IN" sz="2600" b="0" i="1" dirty="0">
                <a:solidFill>
                  <a:srgbClr val="B8663C"/>
                </a:solidFill>
                <a:latin typeface="Fraunces"/>
                <a:ea typeface="Fraunces"/>
                <a:cs typeface="Fraunces"/>
              </a:rPr>
              <a:t>Divyansh</a:t>
            </a:r>
            <a:endParaRPr sz="2600" b="0" i="1" dirty="0">
              <a:solidFill>
                <a:srgbClr val="B8663C"/>
              </a:solidFill>
              <a:latin typeface="Fraunces"/>
              <a:ea typeface="Fraunces"/>
              <a:cs typeface="Fraunces"/>
            </a:endParaRPr>
          </a:p>
        </p:txBody>
      </p:sp>
      <p:pic>
        <p:nvPicPr>
          <p:cNvPr id="19" name="Picture 18" descr="college_logo.png"/>
          <p:cNvPicPr>
            <a:picLocks noChangeAspect="1"/>
          </p:cNvPicPr>
          <p:nvPr/>
        </p:nvPicPr>
        <p:blipFill>
          <a:blip r:embed="rId3"/>
          <a:stretch>
            <a:fillRect/>
          </a:stretch>
        </p:blipFill>
        <p:spPr>
          <a:xfrm>
            <a:off x="7709438" y="4572000"/>
            <a:ext cx="1253378" cy="960120"/>
          </a:xfrm>
          <a:prstGeom prst="rect">
            <a:avLst/>
          </a:prstGeom>
        </p:spPr>
      </p:pic>
      <p:sp>
        <p:nvSpPr>
          <p:cNvPr id="20" name="TextBox 19"/>
          <p:cNvSpPr txBox="1"/>
          <p:nvPr/>
        </p:nvSpPr>
        <p:spPr>
          <a:xfrm>
            <a:off x="5029200" y="5669280"/>
            <a:ext cx="6613855" cy="436086"/>
          </a:xfrm>
          <a:prstGeom prst="rect">
            <a:avLst/>
          </a:prstGeom>
          <a:noFill/>
        </p:spPr>
        <p:txBody>
          <a:bodyPr wrap="square" lIns="0" tIns="0" rIns="0" bIns="0" anchor="t">
            <a:noAutofit/>
          </a:bodyPr>
          <a:lstStyle/>
          <a:p>
            <a:pPr algn="ctr">
              <a:lnSpc>
                <a:spcPct val="125000"/>
              </a:lnSpc>
              <a:spcAft>
                <a:spcPts val="200"/>
              </a:spcAft>
              <a:buNone/>
            </a:pPr>
            <a:r>
              <a:rPr sz="950" b="0" i="0">
                <a:solidFill>
                  <a:srgbClr val="7F8A83"/>
                </a:solidFill>
                <a:latin typeface="Inter"/>
                <a:ea typeface="Inter"/>
                <a:cs typeface="Inter"/>
              </a:rPr>
              <a:t>Dezyne École College  ·  106/10, Civil Lines, Ajmer</a:t>
            </a:r>
          </a:p>
          <a:p>
            <a:pPr algn="ctr">
              <a:lnSpc>
                <a:spcPct val="125000"/>
              </a:lnSpc>
              <a:buNone/>
            </a:pPr>
            <a:r>
              <a:rPr sz="950" b="0" i="0">
                <a:solidFill>
                  <a:srgbClr val="7F8A83"/>
                </a:solidFill>
                <a:latin typeface="Inter"/>
                <a:ea typeface="Inter"/>
                <a:cs typeface="Inter"/>
              </a:rPr>
              <a:t>www.dezyneecole.com  ·  2026–27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9F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5486400" cy="199851"/>
          </a:xfrm>
          <a:prstGeom prst="rect">
            <a:avLst/>
          </a:prstGeom>
          <a:noFill/>
        </p:spPr>
        <p:txBody>
          <a:bodyPr wrap="square" lIns="0" tIns="0" rIns="0" bIns="0" anchor="t">
            <a:noAutofit/>
          </a:bodyPr>
          <a:lstStyle/>
          <a:p>
            <a:pPr algn="l">
              <a:lnSpc>
                <a:spcPct val="118000"/>
              </a:lnSpc>
              <a:buNone/>
            </a:pPr>
            <a:r>
              <a:rPr sz="850" b="0" i="0" spc="140">
                <a:solidFill>
                  <a:srgbClr val="5C7A63"/>
                </a:solidFill>
                <a:latin typeface="Inter SemiBold"/>
                <a:ea typeface="Inter SemiBold"/>
                <a:cs typeface="Inter SemiBold"/>
              </a:rPr>
              <a:t>DIGITAL MARKETING  ·  ASSIGNMENT FOLIO</a:t>
            </a:r>
          </a:p>
        </p:txBody>
      </p:sp>
      <p:sp>
        <p:nvSpPr>
          <p:cNvPr id="3" name="TextBox 2"/>
          <p:cNvSpPr txBox="1"/>
          <p:nvPr/>
        </p:nvSpPr>
        <p:spPr>
          <a:xfrm>
            <a:off x="6728069" y="384048"/>
            <a:ext cx="4572000" cy="199851"/>
          </a:xfrm>
          <a:prstGeom prst="rect">
            <a:avLst/>
          </a:prstGeom>
          <a:noFill/>
        </p:spPr>
        <p:txBody>
          <a:bodyPr wrap="square" lIns="0" tIns="0" rIns="0" bIns="0" anchor="t">
            <a:noAutofit/>
          </a:bodyPr>
          <a:lstStyle/>
          <a:p>
            <a:pPr algn="r">
              <a:lnSpc>
                <a:spcPct val="118000"/>
              </a:lnSpc>
              <a:buNone/>
            </a:pPr>
            <a:r>
              <a:rPr sz="850" b="0" i="0" spc="140" dirty="0">
                <a:solidFill>
                  <a:srgbClr val="7F8A83"/>
                </a:solidFill>
                <a:latin typeface="Inter SemiBold"/>
                <a:ea typeface="Inter SemiBold"/>
                <a:cs typeface="Inter SemiBold"/>
              </a:rPr>
              <a:t>ACKNOWLEDGEMENT</a:t>
            </a:r>
          </a:p>
        </p:txBody>
      </p:sp>
      <p:sp>
        <p:nvSpPr>
          <p:cNvPr id="4" name="Rectangle 3"/>
          <p:cNvSpPr/>
          <p:nvPr/>
        </p:nvSpPr>
        <p:spPr>
          <a:xfrm>
            <a:off x="548640" y="6377749"/>
            <a:ext cx="10989644" cy="45719"/>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640" y="6455664"/>
            <a:ext cx="7315200" cy="190784"/>
          </a:xfrm>
          <a:prstGeom prst="rect">
            <a:avLst/>
          </a:prstGeom>
          <a:noFill/>
        </p:spPr>
        <p:txBody>
          <a:bodyPr wrap="square" lIns="0" tIns="0" rIns="0" bIns="0" anchor="t">
            <a:noAutofit/>
          </a:bodyPr>
          <a:lstStyle/>
          <a:p>
            <a:pPr algn="l">
              <a:lnSpc>
                <a:spcPct val="118000"/>
              </a:lnSpc>
              <a:buNone/>
            </a:pPr>
            <a:r>
              <a:rPr sz="800" b="0" i="0">
                <a:solidFill>
                  <a:srgbClr val="7F8A83"/>
                </a:solidFill>
                <a:latin typeface="Inter"/>
                <a:ea typeface="Inter"/>
                <a:cs typeface="Inter"/>
              </a:rPr>
              <a:t>SEO for JalNest  —  Digital Marketing Assignment</a:t>
            </a:r>
          </a:p>
        </p:txBody>
      </p:sp>
      <p:sp>
        <p:nvSpPr>
          <p:cNvPr id="6" name="TextBox 5"/>
          <p:cNvSpPr txBox="1"/>
          <p:nvPr/>
        </p:nvSpPr>
        <p:spPr>
          <a:xfrm>
            <a:off x="4526280" y="6455664"/>
            <a:ext cx="2743200" cy="190784"/>
          </a:xfrm>
          <a:prstGeom prst="rect">
            <a:avLst/>
          </a:prstGeom>
          <a:noFill/>
        </p:spPr>
        <p:txBody>
          <a:bodyPr wrap="square" lIns="0" tIns="0" rIns="0" bIns="0" anchor="t">
            <a:noAutofit/>
          </a:bodyPr>
          <a:lstStyle/>
          <a:p>
            <a:pPr algn="r">
              <a:lnSpc>
                <a:spcPct val="118000"/>
              </a:lnSpc>
              <a:buNone/>
            </a:pPr>
            <a:r>
              <a:rPr sz="800" b="0" i="0">
                <a:solidFill>
                  <a:srgbClr val="7F8A83"/>
                </a:solidFill>
                <a:latin typeface="Inter"/>
                <a:ea typeface="Inter"/>
                <a:cs typeface="Inter"/>
              </a:rPr>
              <a:t>Session 2026–27   ·   03 / 18</a:t>
            </a:r>
          </a:p>
        </p:txBody>
      </p:sp>
      <p:sp>
        <p:nvSpPr>
          <p:cNvPr id="8" name="TextBox 7"/>
          <p:cNvSpPr txBox="1"/>
          <p:nvPr/>
        </p:nvSpPr>
        <p:spPr>
          <a:xfrm>
            <a:off x="548640" y="841248"/>
            <a:ext cx="6400800" cy="588777"/>
          </a:xfrm>
          <a:prstGeom prst="rect">
            <a:avLst/>
          </a:prstGeom>
          <a:noFill/>
        </p:spPr>
        <p:txBody>
          <a:bodyPr wrap="square" lIns="0" tIns="0" rIns="0" bIns="0" anchor="t">
            <a:noAutofit/>
          </a:bodyPr>
          <a:lstStyle/>
          <a:p>
            <a:pPr algn="l">
              <a:lnSpc>
                <a:spcPct val="102000"/>
              </a:lnSpc>
              <a:buNone/>
            </a:pPr>
            <a:r>
              <a:rPr sz="3400" b="0" i="0">
                <a:solidFill>
                  <a:srgbClr val="16201B"/>
                </a:solidFill>
                <a:latin typeface="Fraunces"/>
                <a:ea typeface="Fraunces"/>
                <a:cs typeface="Fraunces"/>
              </a:rPr>
              <a:t>Acknowledgement</a:t>
            </a:r>
          </a:p>
        </p:txBody>
      </p:sp>
      <p:sp>
        <p:nvSpPr>
          <p:cNvPr id="9" name="TextBox 8"/>
          <p:cNvSpPr txBox="1"/>
          <p:nvPr/>
        </p:nvSpPr>
        <p:spPr>
          <a:xfrm>
            <a:off x="548640" y="1691640"/>
            <a:ext cx="10821202" cy="3291840"/>
          </a:xfrm>
          <a:prstGeom prst="rect">
            <a:avLst/>
          </a:prstGeom>
          <a:noFill/>
        </p:spPr>
        <p:txBody>
          <a:bodyPr wrap="square" lIns="0" tIns="0" rIns="0" bIns="0" anchor="t">
            <a:noAutofit/>
          </a:bodyPr>
          <a:lstStyle/>
          <a:p>
            <a:pPr algn="l">
              <a:lnSpc>
                <a:spcPct val="138000"/>
              </a:lnSpc>
              <a:spcAft>
                <a:spcPts val="1000"/>
              </a:spcAft>
              <a:buNone/>
            </a:pPr>
            <a:r>
              <a:rPr sz="1152" b="0" i="0" dirty="0">
                <a:solidFill>
                  <a:srgbClr val="4A5751"/>
                </a:solidFill>
                <a:latin typeface="Inter"/>
                <a:ea typeface="Inter"/>
                <a:cs typeface="Inter"/>
              </a:rPr>
              <a:t>We take this opportunity to express our sincere gratitude to </a:t>
            </a:r>
            <a:r>
              <a:rPr sz="1152" b="0" i="0" dirty="0">
                <a:solidFill>
                  <a:srgbClr val="4A5751"/>
                </a:solidFill>
                <a:latin typeface="Inter SemiBold"/>
                <a:ea typeface="Inter SemiBold"/>
                <a:cs typeface="Inter SemiBold"/>
              </a:rPr>
              <a:t>Dezyne École College</a:t>
            </a:r>
            <a:r>
              <a:rPr sz="1152" b="0" i="0" dirty="0">
                <a:solidFill>
                  <a:srgbClr val="4A5751"/>
                </a:solidFill>
                <a:latin typeface="Inter"/>
                <a:ea typeface="Inter"/>
                <a:cs typeface="Inter"/>
              </a:rPr>
              <a:t> for providing us with the knowledge, resources and guidance essential to the successful completion of this project.</a:t>
            </a:r>
          </a:p>
          <a:p>
            <a:pPr algn="l">
              <a:lnSpc>
                <a:spcPct val="138000"/>
              </a:lnSpc>
              <a:spcAft>
                <a:spcPts val="1000"/>
              </a:spcAft>
              <a:buNone/>
            </a:pPr>
            <a:r>
              <a:rPr sz="1152" b="0" i="0" dirty="0">
                <a:solidFill>
                  <a:srgbClr val="4A5751"/>
                </a:solidFill>
                <a:latin typeface="Inter"/>
                <a:ea typeface="Inter"/>
                <a:cs typeface="Inter"/>
              </a:rPr>
              <a:t>Our deepest thanks to our respected Principal, </a:t>
            </a:r>
            <a:r>
              <a:rPr sz="1152" b="0" i="0" dirty="0">
                <a:solidFill>
                  <a:srgbClr val="4A5751"/>
                </a:solidFill>
                <a:latin typeface="Inter SemiBold"/>
                <a:ea typeface="Inter SemiBold"/>
                <a:cs typeface="Inter SemiBold"/>
              </a:rPr>
              <a:t>Dr. Vinita Mathur</a:t>
            </a:r>
            <a:r>
              <a:rPr sz="1152" b="0" i="0" dirty="0">
                <a:solidFill>
                  <a:srgbClr val="4A5751"/>
                </a:solidFill>
                <a:latin typeface="Inter"/>
                <a:ea typeface="Inter"/>
                <a:cs typeface="Inter"/>
              </a:rPr>
              <a:t>, for her visionary leadership and continuous encouragement. Her commitment to academic excellence and student growth has been a constant source of motivation and pride.</a:t>
            </a:r>
          </a:p>
          <a:p>
            <a:pPr algn="l">
              <a:lnSpc>
                <a:spcPct val="138000"/>
              </a:lnSpc>
              <a:spcAft>
                <a:spcPts val="1000"/>
              </a:spcAft>
              <a:buNone/>
            </a:pPr>
            <a:r>
              <a:rPr sz="1152" b="0" i="0" dirty="0">
                <a:solidFill>
                  <a:srgbClr val="4A5751"/>
                </a:solidFill>
                <a:latin typeface="Inter"/>
                <a:ea typeface="Inter"/>
                <a:cs typeface="Inter"/>
              </a:rPr>
              <a:t>We are equally thankful to all our faculty members for their consistent support, expert advice and valuable insights that shaped our learning and helped us achieve this milestone.</a:t>
            </a:r>
          </a:p>
          <a:p>
            <a:pPr algn="l">
              <a:lnSpc>
                <a:spcPct val="138000"/>
              </a:lnSpc>
              <a:buNone/>
            </a:pPr>
            <a:r>
              <a:rPr sz="1152" b="0" i="0" dirty="0">
                <a:solidFill>
                  <a:srgbClr val="4A5751"/>
                </a:solidFill>
                <a:latin typeface="Inter"/>
                <a:ea typeface="Inter"/>
                <a:cs typeface="Inter"/>
              </a:rPr>
              <a:t>Lastly, we extend heartfelt thanks to everyone who directly or indirectly contributed to the success of this project. We are proud to be part of Dezyne École College, an institution that truly nurtures professionalism, innovation and purpose.</a:t>
            </a:r>
          </a:p>
        </p:txBody>
      </p:sp>
      <p:sp>
        <p:nvSpPr>
          <p:cNvPr id="10" name="TextBox 9"/>
          <p:cNvSpPr txBox="1"/>
          <p:nvPr/>
        </p:nvSpPr>
        <p:spPr>
          <a:xfrm>
            <a:off x="548640" y="4451273"/>
            <a:ext cx="4572000" cy="236117"/>
          </a:xfrm>
          <a:prstGeom prst="rect">
            <a:avLst/>
          </a:prstGeom>
          <a:noFill/>
        </p:spPr>
        <p:txBody>
          <a:bodyPr wrap="square" lIns="0" tIns="0" rIns="0" bIns="0" anchor="t">
            <a:noAutofit/>
          </a:bodyPr>
          <a:lstStyle/>
          <a:p>
            <a:pPr algn="l">
              <a:lnSpc>
                <a:spcPct val="118000"/>
              </a:lnSpc>
              <a:buNone/>
            </a:pPr>
            <a:r>
              <a:rPr sz="1050" b="0" i="0" dirty="0">
                <a:solidFill>
                  <a:srgbClr val="7F8A83"/>
                </a:solidFill>
                <a:latin typeface="Inter"/>
                <a:ea typeface="Inter"/>
                <a:cs typeface="Inter"/>
              </a:rPr>
              <a:t>With sincere appreciation,</a:t>
            </a:r>
          </a:p>
        </p:txBody>
      </p:sp>
      <p:sp>
        <p:nvSpPr>
          <p:cNvPr id="11" name="TextBox 10"/>
          <p:cNvSpPr txBox="1"/>
          <p:nvPr/>
        </p:nvSpPr>
        <p:spPr>
          <a:xfrm>
            <a:off x="548640" y="4872419"/>
            <a:ext cx="4572000" cy="358902"/>
          </a:xfrm>
          <a:prstGeom prst="rect">
            <a:avLst/>
          </a:prstGeom>
          <a:noFill/>
        </p:spPr>
        <p:txBody>
          <a:bodyPr wrap="square" lIns="0" tIns="0" rIns="0" bIns="0" anchor="t">
            <a:noAutofit/>
          </a:bodyPr>
          <a:lstStyle/>
          <a:p>
            <a:pPr algn="l">
              <a:lnSpc>
                <a:spcPct val="100000"/>
              </a:lnSpc>
              <a:buNone/>
            </a:pPr>
            <a:r>
              <a:rPr lang="en-IN" sz="2000" b="0" i="1" dirty="0">
                <a:solidFill>
                  <a:srgbClr val="16201B"/>
                </a:solidFill>
                <a:latin typeface="Fraunces"/>
                <a:ea typeface="Fraunces"/>
                <a:cs typeface="Fraunces"/>
              </a:rPr>
              <a:t>Divyansh</a:t>
            </a:r>
            <a:endParaRPr sz="2000" b="0" i="1" dirty="0">
              <a:solidFill>
                <a:srgbClr val="16201B"/>
              </a:solidFill>
              <a:latin typeface="Fraunces"/>
              <a:ea typeface="Fraunces"/>
              <a:cs typeface="Fraunces"/>
            </a:endParaRPr>
          </a:p>
        </p:txBody>
      </p:sp>
      <p:sp>
        <p:nvSpPr>
          <p:cNvPr id="12" name="TextBox 11"/>
          <p:cNvSpPr txBox="1"/>
          <p:nvPr/>
        </p:nvSpPr>
        <p:spPr>
          <a:xfrm>
            <a:off x="548640" y="5371646"/>
            <a:ext cx="5943600" cy="217984"/>
          </a:xfrm>
          <a:prstGeom prst="rect">
            <a:avLst/>
          </a:prstGeom>
          <a:noFill/>
        </p:spPr>
        <p:txBody>
          <a:bodyPr wrap="square" lIns="0" tIns="0" rIns="0" bIns="0" anchor="t">
            <a:noAutofit/>
          </a:bodyPr>
          <a:lstStyle/>
          <a:p>
            <a:pPr algn="l">
              <a:lnSpc>
                <a:spcPct val="118000"/>
              </a:lnSpc>
              <a:buNone/>
            </a:pPr>
            <a:r>
              <a:rPr sz="950" b="0" i="0" dirty="0">
                <a:solidFill>
                  <a:srgbClr val="7F8A83"/>
                </a:solidFill>
                <a:latin typeface="Inter"/>
                <a:ea typeface="Inter"/>
                <a:cs typeface="Inter"/>
              </a:rPr>
              <a:t>Department – BCA  ·  Dezyne École College, Ajmer</a:t>
            </a:r>
          </a:p>
        </p:txBody>
      </p:sp>
      <p:sp>
        <p:nvSpPr>
          <p:cNvPr id="13" name="Rectangle 12"/>
          <p:cNvSpPr/>
          <p:nvPr/>
        </p:nvSpPr>
        <p:spPr>
          <a:xfrm>
            <a:off x="7589520" y="6473952"/>
            <a:ext cx="4602175" cy="384048"/>
          </a:xfrm>
          <a:prstGeom prst="rect">
            <a:avLst/>
          </a:prstGeom>
          <a:solidFill>
            <a:srgbClr val="16201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772400" y="6473952"/>
            <a:ext cx="4236415" cy="384048"/>
          </a:xfrm>
          <a:prstGeom prst="rect">
            <a:avLst/>
          </a:prstGeom>
          <a:noFill/>
        </p:spPr>
        <p:txBody>
          <a:bodyPr wrap="square" lIns="0" tIns="0" rIns="0" bIns="0" anchor="ctr">
            <a:noAutofit/>
          </a:bodyPr>
          <a:lstStyle/>
          <a:p>
            <a:pPr algn="l">
              <a:lnSpc>
                <a:spcPct val="120000"/>
              </a:lnSpc>
              <a:buNone/>
            </a:pPr>
            <a:r>
              <a:rPr sz="850" b="0" i="0">
                <a:solidFill>
                  <a:srgbClr val="FFFFFF"/>
                </a:solidFill>
                <a:latin typeface="Inter"/>
                <a:ea typeface="Inter"/>
                <a:cs typeface="Inter"/>
              </a:rPr>
              <a:t>Care, patience and guidance — what grows a plant is also what grew this project.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9F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5486400" cy="199851"/>
          </a:xfrm>
          <a:prstGeom prst="rect">
            <a:avLst/>
          </a:prstGeom>
          <a:noFill/>
        </p:spPr>
        <p:txBody>
          <a:bodyPr wrap="square" lIns="0" tIns="0" rIns="0" bIns="0" anchor="t">
            <a:noAutofit/>
          </a:bodyPr>
          <a:lstStyle/>
          <a:p>
            <a:pPr algn="l">
              <a:lnSpc>
                <a:spcPct val="118000"/>
              </a:lnSpc>
              <a:buNone/>
            </a:pPr>
            <a:r>
              <a:rPr sz="850" b="0" i="0" spc="140">
                <a:solidFill>
                  <a:srgbClr val="5C7A63"/>
                </a:solidFill>
                <a:latin typeface="Inter SemiBold"/>
                <a:ea typeface="Inter SemiBold"/>
                <a:cs typeface="Inter SemiBold"/>
              </a:rPr>
              <a:t>DIGITAL MARKETING  ·  ASSIGNMENT FOLIO</a:t>
            </a:r>
          </a:p>
        </p:txBody>
      </p:sp>
      <p:sp>
        <p:nvSpPr>
          <p:cNvPr id="3" name="TextBox 2"/>
          <p:cNvSpPr txBox="1"/>
          <p:nvPr/>
        </p:nvSpPr>
        <p:spPr>
          <a:xfrm>
            <a:off x="7071055" y="384048"/>
            <a:ext cx="4572000" cy="199851"/>
          </a:xfrm>
          <a:prstGeom prst="rect">
            <a:avLst/>
          </a:prstGeom>
          <a:noFill/>
        </p:spPr>
        <p:txBody>
          <a:bodyPr wrap="square" lIns="0" tIns="0" rIns="0" bIns="0" anchor="t">
            <a:noAutofit/>
          </a:bodyPr>
          <a:lstStyle/>
          <a:p>
            <a:pPr algn="r">
              <a:lnSpc>
                <a:spcPct val="118000"/>
              </a:lnSpc>
              <a:buNone/>
            </a:pPr>
            <a:r>
              <a:rPr sz="850" b="0" i="0" spc="140">
                <a:solidFill>
                  <a:srgbClr val="7F8A83"/>
                </a:solidFill>
                <a:latin typeface="Inter SemiBold"/>
                <a:ea typeface="Inter SemiBold"/>
                <a:cs typeface="Inter SemiBold"/>
              </a:rPr>
              <a:t>CASE STUDY</a:t>
            </a:r>
          </a:p>
        </p:txBody>
      </p:sp>
      <p:sp>
        <p:nvSpPr>
          <p:cNvPr id="4" name="Rectangle 3"/>
          <p:cNvSpPr/>
          <p:nvPr/>
        </p:nvSpPr>
        <p:spPr>
          <a:xfrm>
            <a:off x="548640" y="6377749"/>
            <a:ext cx="11094415"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640" y="6455664"/>
            <a:ext cx="7315200" cy="190784"/>
          </a:xfrm>
          <a:prstGeom prst="rect">
            <a:avLst/>
          </a:prstGeom>
          <a:noFill/>
        </p:spPr>
        <p:txBody>
          <a:bodyPr wrap="square" lIns="0" tIns="0" rIns="0" bIns="0" anchor="t">
            <a:noAutofit/>
          </a:bodyPr>
          <a:lstStyle/>
          <a:p>
            <a:pPr algn="l">
              <a:lnSpc>
                <a:spcPct val="118000"/>
              </a:lnSpc>
              <a:buNone/>
            </a:pPr>
            <a:r>
              <a:rPr sz="800" b="0" i="0">
                <a:solidFill>
                  <a:srgbClr val="7F8A83"/>
                </a:solidFill>
                <a:latin typeface="Inter"/>
                <a:ea typeface="Inter"/>
                <a:cs typeface="Inter"/>
              </a:rPr>
              <a:t>SEO for JalNest  —  Digital Marketing Assignment</a:t>
            </a:r>
          </a:p>
        </p:txBody>
      </p:sp>
      <p:sp>
        <p:nvSpPr>
          <p:cNvPr id="6" name="TextBox 5"/>
          <p:cNvSpPr txBox="1"/>
          <p:nvPr/>
        </p:nvSpPr>
        <p:spPr>
          <a:xfrm>
            <a:off x="8899855" y="6455664"/>
            <a:ext cx="2743200" cy="190784"/>
          </a:xfrm>
          <a:prstGeom prst="rect">
            <a:avLst/>
          </a:prstGeom>
          <a:noFill/>
        </p:spPr>
        <p:txBody>
          <a:bodyPr wrap="square" lIns="0" tIns="0" rIns="0" bIns="0" anchor="t">
            <a:noAutofit/>
          </a:bodyPr>
          <a:lstStyle/>
          <a:p>
            <a:pPr algn="r">
              <a:lnSpc>
                <a:spcPct val="118000"/>
              </a:lnSpc>
              <a:buNone/>
            </a:pPr>
            <a:r>
              <a:rPr sz="800" b="0" i="0">
                <a:solidFill>
                  <a:srgbClr val="7F8A83"/>
                </a:solidFill>
                <a:latin typeface="Inter"/>
                <a:ea typeface="Inter"/>
                <a:cs typeface="Inter"/>
              </a:rPr>
              <a:t>Session 2026–27   ·   04 / 18</a:t>
            </a:r>
          </a:p>
        </p:txBody>
      </p:sp>
      <p:sp>
        <p:nvSpPr>
          <p:cNvPr id="7" name="TextBox 6"/>
          <p:cNvSpPr txBox="1"/>
          <p:nvPr/>
        </p:nvSpPr>
        <p:spPr>
          <a:xfrm>
            <a:off x="548640" y="841248"/>
            <a:ext cx="6949440" cy="588777"/>
          </a:xfrm>
          <a:prstGeom prst="rect">
            <a:avLst/>
          </a:prstGeom>
          <a:noFill/>
        </p:spPr>
        <p:txBody>
          <a:bodyPr wrap="square" lIns="0" tIns="0" rIns="0" bIns="0" anchor="t">
            <a:noAutofit/>
          </a:bodyPr>
          <a:lstStyle/>
          <a:p>
            <a:pPr algn="l">
              <a:lnSpc>
                <a:spcPct val="102000"/>
              </a:lnSpc>
              <a:buNone/>
            </a:pPr>
            <a:r>
              <a:rPr sz="3400" b="0" i="0">
                <a:solidFill>
                  <a:srgbClr val="16201B"/>
                </a:solidFill>
                <a:latin typeface="Fraunces"/>
                <a:ea typeface="Fraunces"/>
                <a:cs typeface="Fraunces"/>
              </a:rPr>
              <a:t>SEO </a:t>
            </a:r>
            <a:r>
              <a:rPr sz="3400" b="0" i="1">
                <a:solidFill>
                  <a:srgbClr val="B8663C"/>
                </a:solidFill>
                <a:latin typeface="Fraunces"/>
                <a:ea typeface="Fraunces"/>
                <a:cs typeface="Fraunces"/>
              </a:rPr>
              <a:t>Optimization</a:t>
            </a:r>
          </a:p>
        </p:txBody>
      </p:sp>
      <p:pic>
        <p:nvPicPr>
          <p:cNvPr id="8" name="Picture 7" descr="9728780de084.jpg"/>
          <p:cNvPicPr>
            <a:picLocks noChangeAspect="1"/>
          </p:cNvPicPr>
          <p:nvPr/>
        </p:nvPicPr>
        <p:blipFill>
          <a:blip r:embed="rId2"/>
          <a:stretch>
            <a:fillRect/>
          </a:stretch>
        </p:blipFill>
        <p:spPr>
          <a:xfrm>
            <a:off x="8001000" y="822960"/>
            <a:ext cx="3639312" cy="2103120"/>
          </a:xfrm>
          <a:prstGeom prst="rect">
            <a:avLst/>
          </a:prstGeom>
        </p:spPr>
      </p:pic>
      <p:sp>
        <p:nvSpPr>
          <p:cNvPr id="9" name="TextBox 8"/>
          <p:cNvSpPr txBox="1"/>
          <p:nvPr/>
        </p:nvSpPr>
        <p:spPr>
          <a:xfrm>
            <a:off x="8001000" y="2990088"/>
            <a:ext cx="3639312" cy="193243"/>
          </a:xfrm>
          <a:prstGeom prst="rect">
            <a:avLst/>
          </a:prstGeom>
          <a:noFill/>
        </p:spPr>
        <p:txBody>
          <a:bodyPr wrap="square" lIns="0" tIns="0" rIns="0" bIns="0" anchor="t">
            <a:noAutofit/>
          </a:bodyPr>
          <a:lstStyle/>
          <a:p>
            <a:pPr algn="l">
              <a:lnSpc>
                <a:spcPct val="120000"/>
              </a:lnSpc>
              <a:buNone/>
            </a:pPr>
            <a:r>
              <a:rPr sz="800" b="0" i="0">
                <a:solidFill>
                  <a:srgbClr val="7F8A83"/>
                </a:solidFill>
                <a:latin typeface="Inter"/>
                <a:ea typeface="Inter"/>
                <a:cs typeface="Inter"/>
              </a:rPr>
              <a:t>Optimising the ORIVYAA · JalNest page — on-page, off-page &amp; technical.</a:t>
            </a:r>
          </a:p>
        </p:txBody>
      </p:sp>
      <p:sp>
        <p:nvSpPr>
          <p:cNvPr id="10" name="TextBox 9"/>
          <p:cNvSpPr txBox="1"/>
          <p:nvPr/>
        </p:nvSpPr>
        <p:spPr>
          <a:xfrm>
            <a:off x="548640" y="1572768"/>
            <a:ext cx="3657600" cy="199851"/>
          </a:xfrm>
          <a:prstGeom prst="rect">
            <a:avLst/>
          </a:prstGeom>
          <a:noFill/>
        </p:spPr>
        <p:txBody>
          <a:bodyPr wrap="square" lIns="0" tIns="0" rIns="0" bIns="0" anchor="t">
            <a:noAutofit/>
          </a:bodyPr>
          <a:lstStyle/>
          <a:p>
            <a:pPr algn="l">
              <a:lnSpc>
                <a:spcPct val="118000"/>
              </a:lnSpc>
              <a:buNone/>
            </a:pPr>
            <a:r>
              <a:rPr sz="850" b="0" i="0" spc="140">
                <a:solidFill>
                  <a:srgbClr val="5C7A63"/>
                </a:solidFill>
                <a:latin typeface="Inter SemiBold"/>
                <a:ea typeface="Inter SemiBold"/>
                <a:cs typeface="Inter SemiBold"/>
              </a:rPr>
              <a:t>OBJECTIVE</a:t>
            </a:r>
          </a:p>
        </p:txBody>
      </p:sp>
      <p:sp>
        <p:nvSpPr>
          <p:cNvPr id="11" name="TextBox 10"/>
          <p:cNvSpPr txBox="1"/>
          <p:nvPr/>
        </p:nvSpPr>
        <p:spPr>
          <a:xfrm>
            <a:off x="548640" y="1801368"/>
            <a:ext cx="6949440" cy="872771"/>
          </a:xfrm>
          <a:prstGeom prst="rect">
            <a:avLst/>
          </a:prstGeom>
          <a:noFill/>
        </p:spPr>
        <p:txBody>
          <a:bodyPr wrap="square" lIns="0" tIns="0" rIns="0" bIns="0" anchor="t">
            <a:noAutofit/>
          </a:bodyPr>
          <a:lstStyle/>
          <a:p>
            <a:pPr algn="l">
              <a:lnSpc>
                <a:spcPct val="138000"/>
              </a:lnSpc>
              <a:buNone/>
            </a:pPr>
            <a:r>
              <a:rPr sz="1300" b="0" i="0">
                <a:solidFill>
                  <a:srgbClr val="4A5751"/>
                </a:solidFill>
                <a:latin typeface="Inter"/>
                <a:ea typeface="Inter"/>
                <a:cs typeface="Inter"/>
              </a:rPr>
              <a:t>To improve the search-engine visibility, organic traffic and overall website performance of the </a:t>
            </a:r>
            <a:r>
              <a:rPr sz="1300" b="0" i="0">
                <a:solidFill>
                  <a:srgbClr val="4A5751"/>
                </a:solidFill>
                <a:latin typeface="Inter SemiBold"/>
                <a:ea typeface="Inter SemiBold"/>
                <a:cs typeface="Inter SemiBold"/>
              </a:rPr>
              <a:t>ORIVYAA · JalNest landing page</a:t>
            </a:r>
            <a:r>
              <a:rPr sz="1300" b="0" i="0">
                <a:solidFill>
                  <a:srgbClr val="4A5751"/>
                </a:solidFill>
                <a:latin typeface="Inter"/>
                <a:ea typeface="Inter"/>
                <a:cs typeface="Inter"/>
              </a:rPr>
              <a:t> built on Wix Studio, by implementing effective On-Page, Off-Page and Technical SEO strategies.</a:t>
            </a:r>
          </a:p>
        </p:txBody>
      </p:sp>
      <p:sp>
        <p:nvSpPr>
          <p:cNvPr id="12" name="Rectangle 11"/>
          <p:cNvSpPr/>
          <p:nvPr/>
        </p:nvSpPr>
        <p:spPr>
          <a:xfrm>
            <a:off x="548640" y="3424237"/>
            <a:ext cx="2581579"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548640" y="3416300"/>
            <a:ext cx="502920" cy="25400"/>
          </a:xfrm>
          <a:prstGeom prst="rect">
            <a:avLst/>
          </a:prstGeom>
          <a:solidFill>
            <a:srgbClr val="B86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48640" y="3611880"/>
            <a:ext cx="914400" cy="452856"/>
          </a:xfrm>
          <a:prstGeom prst="rect">
            <a:avLst/>
          </a:prstGeom>
          <a:noFill/>
        </p:spPr>
        <p:txBody>
          <a:bodyPr wrap="square" lIns="0" tIns="0" rIns="0" bIns="0" anchor="t">
            <a:noAutofit/>
          </a:bodyPr>
          <a:lstStyle/>
          <a:p>
            <a:pPr algn="l">
              <a:lnSpc>
                <a:spcPct val="100000"/>
              </a:lnSpc>
              <a:buNone/>
            </a:pPr>
            <a:r>
              <a:rPr sz="2600" b="0" i="0">
                <a:solidFill>
                  <a:srgbClr val="B8663C"/>
                </a:solidFill>
                <a:latin typeface="Fraunces"/>
                <a:ea typeface="Fraunces"/>
                <a:cs typeface="Fraunces"/>
              </a:rPr>
              <a:t>01</a:t>
            </a:r>
          </a:p>
        </p:txBody>
      </p:sp>
      <p:sp>
        <p:nvSpPr>
          <p:cNvPr id="15" name="TextBox 14"/>
          <p:cNvSpPr txBox="1"/>
          <p:nvPr/>
        </p:nvSpPr>
        <p:spPr>
          <a:xfrm>
            <a:off x="548640" y="4178808"/>
            <a:ext cx="2490139" cy="316309"/>
          </a:xfrm>
          <a:prstGeom prst="rect">
            <a:avLst/>
          </a:prstGeom>
          <a:noFill/>
        </p:spPr>
        <p:txBody>
          <a:bodyPr wrap="square" lIns="0" tIns="0" rIns="0" bIns="0" anchor="t">
            <a:noAutofit/>
          </a:bodyPr>
          <a:lstStyle/>
          <a:p>
            <a:pPr algn="l">
              <a:lnSpc>
                <a:spcPct val="108000"/>
              </a:lnSpc>
              <a:buNone/>
            </a:pPr>
            <a:r>
              <a:rPr sz="1600" b="0" i="0">
                <a:solidFill>
                  <a:srgbClr val="16201B"/>
                </a:solidFill>
                <a:latin typeface="Fraunces"/>
                <a:ea typeface="Fraunces"/>
                <a:cs typeface="Fraunces"/>
              </a:rPr>
              <a:t>Website &amp; Keyword Planning</a:t>
            </a:r>
          </a:p>
        </p:txBody>
      </p:sp>
      <p:sp>
        <p:nvSpPr>
          <p:cNvPr id="16" name="TextBox 15"/>
          <p:cNvSpPr txBox="1"/>
          <p:nvPr/>
        </p:nvSpPr>
        <p:spPr>
          <a:xfrm>
            <a:off x="548640" y="4800600"/>
            <a:ext cx="2490139" cy="1371600"/>
          </a:xfrm>
          <a:prstGeom prst="rect">
            <a:avLst/>
          </a:prstGeom>
          <a:noFill/>
        </p:spPr>
        <p:txBody>
          <a:bodyPr wrap="square" lIns="0" tIns="0" rIns="0" bIns="0" anchor="t">
            <a:noAutofit/>
          </a:bodyPr>
          <a:lstStyle/>
          <a:p>
            <a:pPr algn="l">
              <a:lnSpc>
                <a:spcPct val="132000"/>
              </a:lnSpc>
              <a:buNone/>
            </a:pPr>
            <a:r>
              <a:rPr sz="1050" b="0" i="0">
                <a:solidFill>
                  <a:srgbClr val="4A5751"/>
                </a:solidFill>
                <a:latin typeface="Inter"/>
                <a:ea typeface="Inter"/>
                <a:cs typeface="Inter"/>
              </a:rPr>
              <a:t>Analysed the single-URL landing page (divyanshkumar47473.wixstudio.com/orivyaa) and performed keyword research to identify primary and long-tail keywords based on search intent.</a:t>
            </a:r>
          </a:p>
        </p:txBody>
      </p:sp>
      <p:sp>
        <p:nvSpPr>
          <p:cNvPr id="17" name="Rectangle 16"/>
          <p:cNvSpPr/>
          <p:nvPr/>
        </p:nvSpPr>
        <p:spPr>
          <a:xfrm>
            <a:off x="3386251" y="3424237"/>
            <a:ext cx="2581579"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3386251" y="3416300"/>
            <a:ext cx="502920" cy="25400"/>
          </a:xfrm>
          <a:prstGeom prst="rect">
            <a:avLst/>
          </a:prstGeom>
          <a:solidFill>
            <a:srgbClr val="B86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3386251" y="3611880"/>
            <a:ext cx="914400" cy="452856"/>
          </a:xfrm>
          <a:prstGeom prst="rect">
            <a:avLst/>
          </a:prstGeom>
          <a:noFill/>
        </p:spPr>
        <p:txBody>
          <a:bodyPr wrap="square" lIns="0" tIns="0" rIns="0" bIns="0" anchor="t">
            <a:noAutofit/>
          </a:bodyPr>
          <a:lstStyle/>
          <a:p>
            <a:pPr algn="l">
              <a:lnSpc>
                <a:spcPct val="100000"/>
              </a:lnSpc>
              <a:buNone/>
            </a:pPr>
            <a:r>
              <a:rPr sz="2600" b="0" i="0">
                <a:solidFill>
                  <a:srgbClr val="B8663C"/>
                </a:solidFill>
                <a:latin typeface="Fraunces"/>
                <a:ea typeface="Fraunces"/>
                <a:cs typeface="Fraunces"/>
              </a:rPr>
              <a:t>02</a:t>
            </a:r>
          </a:p>
        </p:txBody>
      </p:sp>
      <p:sp>
        <p:nvSpPr>
          <p:cNvPr id="20" name="TextBox 19"/>
          <p:cNvSpPr txBox="1"/>
          <p:nvPr/>
        </p:nvSpPr>
        <p:spPr>
          <a:xfrm>
            <a:off x="3386251" y="4178808"/>
            <a:ext cx="2490139" cy="316309"/>
          </a:xfrm>
          <a:prstGeom prst="rect">
            <a:avLst/>
          </a:prstGeom>
          <a:noFill/>
        </p:spPr>
        <p:txBody>
          <a:bodyPr wrap="square" lIns="0" tIns="0" rIns="0" bIns="0" anchor="t">
            <a:noAutofit/>
          </a:bodyPr>
          <a:lstStyle/>
          <a:p>
            <a:pPr algn="l">
              <a:lnSpc>
                <a:spcPct val="108000"/>
              </a:lnSpc>
              <a:buNone/>
            </a:pPr>
            <a:r>
              <a:rPr sz="1600" b="0" i="0">
                <a:solidFill>
                  <a:srgbClr val="16201B"/>
                </a:solidFill>
                <a:latin typeface="Fraunces"/>
                <a:ea typeface="Fraunces"/>
                <a:cs typeface="Fraunces"/>
              </a:rPr>
              <a:t>On-Page SEO Implementation</a:t>
            </a:r>
          </a:p>
        </p:txBody>
      </p:sp>
      <p:sp>
        <p:nvSpPr>
          <p:cNvPr id="21" name="TextBox 20"/>
          <p:cNvSpPr txBox="1"/>
          <p:nvPr/>
        </p:nvSpPr>
        <p:spPr>
          <a:xfrm>
            <a:off x="3386251" y="4800600"/>
            <a:ext cx="2490139" cy="1371600"/>
          </a:xfrm>
          <a:prstGeom prst="rect">
            <a:avLst/>
          </a:prstGeom>
          <a:noFill/>
        </p:spPr>
        <p:txBody>
          <a:bodyPr wrap="square" lIns="0" tIns="0" rIns="0" bIns="0" anchor="t">
            <a:noAutofit/>
          </a:bodyPr>
          <a:lstStyle/>
          <a:p>
            <a:pPr algn="l">
              <a:lnSpc>
                <a:spcPct val="132000"/>
              </a:lnSpc>
              <a:buNone/>
            </a:pPr>
            <a:r>
              <a:rPr sz="1050" b="0" i="0">
                <a:solidFill>
                  <a:srgbClr val="4A5751"/>
                </a:solidFill>
                <a:latin typeface="Inter"/>
                <a:ea typeface="Inter"/>
                <a:cs typeface="Inter"/>
              </a:rPr>
              <a:t>Reviewed every element search engines read — title tag, meta description, canonical URL, heading hierarchy (H1–H3) and semantic HTML — and planned the optimisations.</a:t>
            </a:r>
          </a:p>
        </p:txBody>
      </p:sp>
      <p:sp>
        <p:nvSpPr>
          <p:cNvPr id="22" name="Rectangle 21"/>
          <p:cNvSpPr/>
          <p:nvPr/>
        </p:nvSpPr>
        <p:spPr>
          <a:xfrm>
            <a:off x="6223863" y="3424237"/>
            <a:ext cx="2581579"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6223863" y="3416300"/>
            <a:ext cx="502920" cy="25400"/>
          </a:xfrm>
          <a:prstGeom prst="rect">
            <a:avLst/>
          </a:prstGeom>
          <a:solidFill>
            <a:srgbClr val="B86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223863" y="3611880"/>
            <a:ext cx="914400" cy="452856"/>
          </a:xfrm>
          <a:prstGeom prst="rect">
            <a:avLst/>
          </a:prstGeom>
          <a:noFill/>
        </p:spPr>
        <p:txBody>
          <a:bodyPr wrap="square" lIns="0" tIns="0" rIns="0" bIns="0" anchor="t">
            <a:noAutofit/>
          </a:bodyPr>
          <a:lstStyle/>
          <a:p>
            <a:pPr algn="l">
              <a:lnSpc>
                <a:spcPct val="100000"/>
              </a:lnSpc>
              <a:buNone/>
            </a:pPr>
            <a:r>
              <a:rPr sz="2600" b="0" i="0">
                <a:solidFill>
                  <a:srgbClr val="B8663C"/>
                </a:solidFill>
                <a:latin typeface="Fraunces"/>
                <a:ea typeface="Fraunces"/>
                <a:cs typeface="Fraunces"/>
              </a:rPr>
              <a:t>03</a:t>
            </a:r>
          </a:p>
        </p:txBody>
      </p:sp>
      <p:sp>
        <p:nvSpPr>
          <p:cNvPr id="25" name="TextBox 24"/>
          <p:cNvSpPr txBox="1"/>
          <p:nvPr/>
        </p:nvSpPr>
        <p:spPr>
          <a:xfrm>
            <a:off x="6223863" y="4178808"/>
            <a:ext cx="2490139" cy="316309"/>
          </a:xfrm>
          <a:prstGeom prst="rect">
            <a:avLst/>
          </a:prstGeom>
          <a:noFill/>
        </p:spPr>
        <p:txBody>
          <a:bodyPr wrap="square" lIns="0" tIns="0" rIns="0" bIns="0" anchor="t">
            <a:noAutofit/>
          </a:bodyPr>
          <a:lstStyle/>
          <a:p>
            <a:pPr algn="l">
              <a:lnSpc>
                <a:spcPct val="108000"/>
              </a:lnSpc>
              <a:buNone/>
            </a:pPr>
            <a:r>
              <a:rPr sz="1600" b="0" i="0">
                <a:solidFill>
                  <a:srgbClr val="16201B"/>
                </a:solidFill>
                <a:latin typeface="Fraunces"/>
                <a:ea typeface="Fraunces"/>
                <a:cs typeface="Fraunces"/>
              </a:rPr>
              <a:t>Off-Page SEO Activities</a:t>
            </a:r>
          </a:p>
        </p:txBody>
      </p:sp>
      <p:sp>
        <p:nvSpPr>
          <p:cNvPr id="26" name="TextBox 25"/>
          <p:cNvSpPr txBox="1"/>
          <p:nvPr/>
        </p:nvSpPr>
        <p:spPr>
          <a:xfrm>
            <a:off x="6223863" y="4800600"/>
            <a:ext cx="2490139" cy="1371600"/>
          </a:xfrm>
          <a:prstGeom prst="rect">
            <a:avLst/>
          </a:prstGeom>
          <a:noFill/>
        </p:spPr>
        <p:txBody>
          <a:bodyPr wrap="square" lIns="0" tIns="0" rIns="0" bIns="0" anchor="t">
            <a:noAutofit/>
          </a:bodyPr>
          <a:lstStyle/>
          <a:p>
            <a:pPr algn="l">
              <a:lnSpc>
                <a:spcPct val="132000"/>
              </a:lnSpc>
              <a:buNone/>
            </a:pPr>
            <a:r>
              <a:rPr sz="1050" b="0" i="0">
                <a:solidFill>
                  <a:srgbClr val="4A5751"/>
                </a:solidFill>
                <a:latin typeface="Inter"/>
                <a:ea typeface="Inter"/>
                <a:cs typeface="Inter"/>
              </a:rPr>
              <a:t>Building high-quality backlinks through guest posting, partner sites, social media and video platforms to increase domain authority and referral traffic.</a:t>
            </a:r>
          </a:p>
        </p:txBody>
      </p:sp>
      <p:sp>
        <p:nvSpPr>
          <p:cNvPr id="27" name="Rectangle 26"/>
          <p:cNvSpPr/>
          <p:nvPr/>
        </p:nvSpPr>
        <p:spPr>
          <a:xfrm>
            <a:off x="9061475" y="3424237"/>
            <a:ext cx="2581579"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ectangle 27"/>
          <p:cNvSpPr/>
          <p:nvPr/>
        </p:nvSpPr>
        <p:spPr>
          <a:xfrm>
            <a:off x="9061475" y="3416300"/>
            <a:ext cx="502920" cy="25400"/>
          </a:xfrm>
          <a:prstGeom prst="rect">
            <a:avLst/>
          </a:prstGeom>
          <a:solidFill>
            <a:srgbClr val="B86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9061475" y="3611880"/>
            <a:ext cx="914400" cy="452856"/>
          </a:xfrm>
          <a:prstGeom prst="rect">
            <a:avLst/>
          </a:prstGeom>
          <a:noFill/>
        </p:spPr>
        <p:txBody>
          <a:bodyPr wrap="square" lIns="0" tIns="0" rIns="0" bIns="0" anchor="t">
            <a:noAutofit/>
          </a:bodyPr>
          <a:lstStyle/>
          <a:p>
            <a:pPr algn="l">
              <a:lnSpc>
                <a:spcPct val="100000"/>
              </a:lnSpc>
              <a:buNone/>
            </a:pPr>
            <a:r>
              <a:rPr sz="2600" b="0" i="0">
                <a:solidFill>
                  <a:srgbClr val="B8663C"/>
                </a:solidFill>
                <a:latin typeface="Fraunces"/>
                <a:ea typeface="Fraunces"/>
                <a:cs typeface="Fraunces"/>
              </a:rPr>
              <a:t>04</a:t>
            </a:r>
          </a:p>
        </p:txBody>
      </p:sp>
      <p:sp>
        <p:nvSpPr>
          <p:cNvPr id="30" name="TextBox 29"/>
          <p:cNvSpPr txBox="1"/>
          <p:nvPr/>
        </p:nvSpPr>
        <p:spPr>
          <a:xfrm>
            <a:off x="9061475" y="4178808"/>
            <a:ext cx="2490139" cy="316309"/>
          </a:xfrm>
          <a:prstGeom prst="rect">
            <a:avLst/>
          </a:prstGeom>
          <a:noFill/>
        </p:spPr>
        <p:txBody>
          <a:bodyPr wrap="square" lIns="0" tIns="0" rIns="0" bIns="0" anchor="t">
            <a:noAutofit/>
          </a:bodyPr>
          <a:lstStyle/>
          <a:p>
            <a:pPr algn="l">
              <a:lnSpc>
                <a:spcPct val="108000"/>
              </a:lnSpc>
              <a:buNone/>
            </a:pPr>
            <a:r>
              <a:rPr sz="1600" b="0" i="0">
                <a:solidFill>
                  <a:srgbClr val="16201B"/>
                </a:solidFill>
                <a:latin typeface="Fraunces"/>
                <a:ea typeface="Fraunces"/>
                <a:cs typeface="Fraunces"/>
              </a:rPr>
              <a:t>Technical SEO Optimization</a:t>
            </a:r>
          </a:p>
        </p:txBody>
      </p:sp>
      <p:sp>
        <p:nvSpPr>
          <p:cNvPr id="31" name="TextBox 30"/>
          <p:cNvSpPr txBox="1"/>
          <p:nvPr/>
        </p:nvSpPr>
        <p:spPr>
          <a:xfrm>
            <a:off x="9061475" y="4800600"/>
            <a:ext cx="2490139" cy="1371600"/>
          </a:xfrm>
          <a:prstGeom prst="rect">
            <a:avLst/>
          </a:prstGeom>
          <a:noFill/>
        </p:spPr>
        <p:txBody>
          <a:bodyPr wrap="square" lIns="0" tIns="0" rIns="0" bIns="0" anchor="t">
            <a:noAutofit/>
          </a:bodyPr>
          <a:lstStyle/>
          <a:p>
            <a:pPr algn="l">
              <a:lnSpc>
                <a:spcPct val="132000"/>
              </a:lnSpc>
              <a:buNone/>
            </a:pPr>
            <a:r>
              <a:rPr sz="1050" b="0" i="0">
                <a:solidFill>
                  <a:srgbClr val="4A5751"/>
                </a:solidFill>
                <a:latin typeface="Inter"/>
                <a:ea typeface="Inter"/>
                <a:cs typeface="Inter"/>
              </a:rPr>
              <a:t>Checked HTTPS, mobile responsiveness, crawlability and indexing — including robots.txt, the missing XML sitemap and the default Wix favicon.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9F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5486400" cy="199851"/>
          </a:xfrm>
          <a:prstGeom prst="rect">
            <a:avLst/>
          </a:prstGeom>
          <a:noFill/>
        </p:spPr>
        <p:txBody>
          <a:bodyPr wrap="square" lIns="0" tIns="0" rIns="0" bIns="0" anchor="t">
            <a:noAutofit/>
          </a:bodyPr>
          <a:lstStyle/>
          <a:p>
            <a:pPr algn="l">
              <a:lnSpc>
                <a:spcPct val="118000"/>
              </a:lnSpc>
              <a:buNone/>
            </a:pPr>
            <a:r>
              <a:rPr sz="850" b="0" i="0" spc="140">
                <a:solidFill>
                  <a:srgbClr val="5C7A63"/>
                </a:solidFill>
                <a:latin typeface="Inter SemiBold"/>
                <a:ea typeface="Inter SemiBold"/>
                <a:cs typeface="Inter SemiBold"/>
              </a:rPr>
              <a:t>DIGITAL MARKETING  ·  ASSIGNMENT FOLIO</a:t>
            </a:r>
          </a:p>
        </p:txBody>
      </p:sp>
      <p:sp>
        <p:nvSpPr>
          <p:cNvPr id="3" name="TextBox 2"/>
          <p:cNvSpPr txBox="1"/>
          <p:nvPr/>
        </p:nvSpPr>
        <p:spPr>
          <a:xfrm>
            <a:off x="7071055" y="384048"/>
            <a:ext cx="4572000" cy="199851"/>
          </a:xfrm>
          <a:prstGeom prst="rect">
            <a:avLst/>
          </a:prstGeom>
          <a:noFill/>
        </p:spPr>
        <p:txBody>
          <a:bodyPr wrap="square" lIns="0" tIns="0" rIns="0" bIns="0" anchor="t">
            <a:noAutofit/>
          </a:bodyPr>
          <a:lstStyle/>
          <a:p>
            <a:pPr algn="r">
              <a:lnSpc>
                <a:spcPct val="118000"/>
              </a:lnSpc>
              <a:buNone/>
            </a:pPr>
            <a:r>
              <a:rPr sz="850" b="0" i="0" spc="140">
                <a:solidFill>
                  <a:srgbClr val="7F8A83"/>
                </a:solidFill>
                <a:latin typeface="Inter SemiBold"/>
                <a:ea typeface="Inter SemiBold"/>
                <a:cs typeface="Inter SemiBold"/>
              </a:rPr>
              <a:t>CASE STUDY · WHY SEO</a:t>
            </a:r>
          </a:p>
        </p:txBody>
      </p:sp>
      <p:sp>
        <p:nvSpPr>
          <p:cNvPr id="4" name="Rectangle 3"/>
          <p:cNvSpPr/>
          <p:nvPr/>
        </p:nvSpPr>
        <p:spPr>
          <a:xfrm>
            <a:off x="548640" y="6377749"/>
            <a:ext cx="11094415"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640" y="6455664"/>
            <a:ext cx="7315200" cy="190784"/>
          </a:xfrm>
          <a:prstGeom prst="rect">
            <a:avLst/>
          </a:prstGeom>
          <a:noFill/>
        </p:spPr>
        <p:txBody>
          <a:bodyPr wrap="square" lIns="0" tIns="0" rIns="0" bIns="0" anchor="t">
            <a:noAutofit/>
          </a:bodyPr>
          <a:lstStyle/>
          <a:p>
            <a:pPr algn="l">
              <a:lnSpc>
                <a:spcPct val="118000"/>
              </a:lnSpc>
              <a:buNone/>
            </a:pPr>
            <a:r>
              <a:rPr sz="800" b="0" i="0">
                <a:solidFill>
                  <a:srgbClr val="7F8A83"/>
                </a:solidFill>
                <a:latin typeface="Inter"/>
                <a:ea typeface="Inter"/>
                <a:cs typeface="Inter"/>
              </a:rPr>
              <a:t>SEO for JalNest  —  Digital Marketing Assignment</a:t>
            </a:r>
          </a:p>
        </p:txBody>
      </p:sp>
      <p:sp>
        <p:nvSpPr>
          <p:cNvPr id="6" name="TextBox 5"/>
          <p:cNvSpPr txBox="1"/>
          <p:nvPr/>
        </p:nvSpPr>
        <p:spPr>
          <a:xfrm>
            <a:off x="8899855" y="6455664"/>
            <a:ext cx="2743200" cy="190784"/>
          </a:xfrm>
          <a:prstGeom prst="rect">
            <a:avLst/>
          </a:prstGeom>
          <a:noFill/>
        </p:spPr>
        <p:txBody>
          <a:bodyPr wrap="square" lIns="0" tIns="0" rIns="0" bIns="0" anchor="t">
            <a:noAutofit/>
          </a:bodyPr>
          <a:lstStyle/>
          <a:p>
            <a:pPr algn="r">
              <a:lnSpc>
                <a:spcPct val="118000"/>
              </a:lnSpc>
              <a:buNone/>
            </a:pPr>
            <a:r>
              <a:rPr sz="800" b="0" i="0">
                <a:solidFill>
                  <a:srgbClr val="7F8A83"/>
                </a:solidFill>
                <a:latin typeface="Inter"/>
                <a:ea typeface="Inter"/>
                <a:cs typeface="Inter"/>
              </a:rPr>
              <a:t>Session 2026–27   ·   05 / 18</a:t>
            </a:r>
          </a:p>
        </p:txBody>
      </p:sp>
      <p:sp>
        <p:nvSpPr>
          <p:cNvPr id="7" name="TextBox 6"/>
          <p:cNvSpPr txBox="1"/>
          <p:nvPr/>
        </p:nvSpPr>
        <p:spPr>
          <a:xfrm>
            <a:off x="548640" y="841248"/>
            <a:ext cx="8229600" cy="556833"/>
          </a:xfrm>
          <a:prstGeom prst="rect">
            <a:avLst/>
          </a:prstGeom>
          <a:noFill/>
        </p:spPr>
        <p:txBody>
          <a:bodyPr wrap="square" lIns="0" tIns="0" rIns="0" bIns="0" anchor="t">
            <a:noAutofit/>
          </a:bodyPr>
          <a:lstStyle/>
          <a:p>
            <a:pPr algn="l">
              <a:lnSpc>
                <a:spcPct val="102000"/>
              </a:lnSpc>
              <a:buNone/>
            </a:pPr>
            <a:r>
              <a:rPr sz="3200" b="0" i="0">
                <a:solidFill>
                  <a:srgbClr val="16201B"/>
                </a:solidFill>
                <a:latin typeface="Fraunces"/>
                <a:ea typeface="Fraunces"/>
                <a:cs typeface="Fraunces"/>
              </a:rPr>
              <a:t>Importance of SEO for </a:t>
            </a:r>
            <a:r>
              <a:rPr sz="3200" b="0" i="1">
                <a:solidFill>
                  <a:srgbClr val="B8663C"/>
                </a:solidFill>
                <a:latin typeface="Fraunces"/>
                <a:ea typeface="Fraunces"/>
                <a:cs typeface="Fraunces"/>
              </a:rPr>
              <a:t>JalNest</a:t>
            </a:r>
          </a:p>
        </p:txBody>
      </p:sp>
      <p:sp>
        <p:nvSpPr>
          <p:cNvPr id="8" name="TextBox 7"/>
          <p:cNvSpPr txBox="1"/>
          <p:nvPr/>
        </p:nvSpPr>
        <p:spPr>
          <a:xfrm>
            <a:off x="548640" y="1463040"/>
            <a:ext cx="5669280" cy="730319"/>
          </a:xfrm>
          <a:prstGeom prst="rect">
            <a:avLst/>
          </a:prstGeom>
          <a:noFill/>
        </p:spPr>
        <p:txBody>
          <a:bodyPr wrap="square" lIns="0" tIns="0" rIns="0" bIns="0" anchor="t">
            <a:noAutofit/>
          </a:bodyPr>
          <a:lstStyle/>
          <a:p>
            <a:pPr algn="l">
              <a:lnSpc>
                <a:spcPct val="135000"/>
              </a:lnSpc>
              <a:buNone/>
            </a:pPr>
            <a:r>
              <a:rPr sz="1100" b="0" i="0">
                <a:solidFill>
                  <a:srgbClr val="4A5751"/>
                </a:solidFill>
                <a:latin typeface="Inter"/>
                <a:ea typeface="Inter"/>
                <a:cs typeface="Inter"/>
              </a:rPr>
              <a:t>ORIVYAA's JalNest page is a newly launched, single-URL Wix Studio site with no search history and no backlinks. SEO is the only channel that brings free, high-intent buyers to it month after month — the six pillars below make up this assignment.</a:t>
            </a:r>
          </a:p>
        </p:txBody>
      </p:sp>
      <p:sp>
        <p:nvSpPr>
          <p:cNvPr id="9" name="Oval 8"/>
          <p:cNvSpPr/>
          <p:nvPr/>
        </p:nvSpPr>
        <p:spPr>
          <a:xfrm>
            <a:off x="4453128" y="2423160"/>
            <a:ext cx="3291840" cy="3291840"/>
          </a:xfrm>
          <a:prstGeom prst="ellipse">
            <a:avLst/>
          </a:prstGeom>
          <a:noFill/>
          <a:ln w="15875">
            <a:solidFill>
              <a:srgbClr val="E4E0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5093208" y="3063240"/>
            <a:ext cx="2011680" cy="2011680"/>
          </a:xfrm>
          <a:prstGeom prst="ellipse">
            <a:avLst/>
          </a:prstGeom>
          <a:solidFill>
            <a:srgbClr val="3B5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093208" y="3538728"/>
            <a:ext cx="2011680" cy="672084"/>
          </a:xfrm>
          <a:prstGeom prst="rect">
            <a:avLst/>
          </a:prstGeom>
          <a:noFill/>
        </p:spPr>
        <p:txBody>
          <a:bodyPr wrap="square" lIns="0" tIns="0" rIns="0" bIns="0" anchor="t">
            <a:noAutofit/>
          </a:bodyPr>
          <a:lstStyle/>
          <a:p>
            <a:pPr algn="ctr">
              <a:lnSpc>
                <a:spcPct val="100000"/>
              </a:lnSpc>
              <a:buNone/>
            </a:pPr>
            <a:r>
              <a:rPr sz="4000" b="0" i="0">
                <a:solidFill>
                  <a:srgbClr val="FFFFFF"/>
                </a:solidFill>
                <a:latin typeface="Fraunces"/>
                <a:ea typeface="Fraunces"/>
                <a:cs typeface="Fraunces"/>
              </a:rPr>
              <a:t>SEO</a:t>
            </a:r>
          </a:p>
        </p:txBody>
      </p:sp>
      <p:sp>
        <p:nvSpPr>
          <p:cNvPr id="12" name="TextBox 11"/>
          <p:cNvSpPr txBox="1"/>
          <p:nvPr/>
        </p:nvSpPr>
        <p:spPr>
          <a:xfrm>
            <a:off x="5093208" y="4197096"/>
            <a:ext cx="2011680" cy="363816"/>
          </a:xfrm>
          <a:prstGeom prst="rect">
            <a:avLst/>
          </a:prstGeom>
          <a:noFill/>
        </p:spPr>
        <p:txBody>
          <a:bodyPr wrap="square" lIns="0" tIns="0" rIns="0" bIns="0" anchor="t">
            <a:noAutofit/>
          </a:bodyPr>
          <a:lstStyle/>
          <a:p>
            <a:pPr algn="ctr">
              <a:lnSpc>
                <a:spcPct val="115000"/>
              </a:lnSpc>
              <a:spcAft>
                <a:spcPts val="0"/>
              </a:spcAft>
              <a:buNone/>
            </a:pPr>
            <a:r>
              <a:rPr sz="900" b="0" i="0">
                <a:solidFill>
                  <a:srgbClr val="E3EBE4"/>
                </a:solidFill>
                <a:latin typeface="Inter"/>
                <a:ea typeface="Inter"/>
                <a:cs typeface="Inter"/>
              </a:rPr>
              <a:t>Search Engine</a:t>
            </a:r>
          </a:p>
          <a:p>
            <a:pPr algn="ctr">
              <a:lnSpc>
                <a:spcPct val="115000"/>
              </a:lnSpc>
              <a:buNone/>
            </a:pPr>
            <a:r>
              <a:rPr sz="900" b="0" i="0">
                <a:solidFill>
                  <a:srgbClr val="E3EBE4"/>
                </a:solidFill>
                <a:latin typeface="Inter"/>
                <a:ea typeface="Inter"/>
                <a:cs typeface="Inter"/>
              </a:rPr>
              <a:t>Optimization</a:t>
            </a:r>
          </a:p>
        </p:txBody>
      </p:sp>
      <p:sp>
        <p:nvSpPr>
          <p:cNvPr id="13" name="Oval 12"/>
          <p:cNvSpPr/>
          <p:nvPr/>
        </p:nvSpPr>
        <p:spPr>
          <a:xfrm>
            <a:off x="4178808" y="3794760"/>
            <a:ext cx="548640" cy="548640"/>
          </a:xfrm>
          <a:prstGeom prst="ellipse">
            <a:avLst/>
          </a:prstGeom>
          <a:solidFill>
            <a:srgbClr val="5C7A63"/>
          </a:solidFill>
          <a:ln w="38100">
            <a:solidFill>
              <a:srgbClr val="FBF9F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4178808" y="3794760"/>
            <a:ext cx="548640" cy="548640"/>
          </a:xfrm>
          <a:prstGeom prst="rect">
            <a:avLst/>
          </a:prstGeom>
          <a:noFill/>
        </p:spPr>
        <p:txBody>
          <a:bodyPr wrap="square" lIns="0" tIns="0" rIns="0" bIns="0" anchor="ctr">
            <a:noAutofit/>
          </a:bodyPr>
          <a:lstStyle/>
          <a:p>
            <a:pPr algn="ctr">
              <a:lnSpc>
                <a:spcPct val="118000"/>
              </a:lnSpc>
              <a:buNone/>
            </a:pPr>
            <a:r>
              <a:rPr sz="1000" b="0" i="0">
                <a:solidFill>
                  <a:srgbClr val="FFFFFF"/>
                </a:solidFill>
                <a:latin typeface="Inter SemiBold"/>
                <a:ea typeface="Inter SemiBold"/>
                <a:cs typeface="Inter SemiBold"/>
              </a:rPr>
              <a:t>01</a:t>
            </a:r>
          </a:p>
        </p:txBody>
      </p:sp>
      <p:sp>
        <p:nvSpPr>
          <p:cNvPr id="15" name="TextBox 14"/>
          <p:cNvSpPr txBox="1"/>
          <p:nvPr/>
        </p:nvSpPr>
        <p:spPr>
          <a:xfrm>
            <a:off x="594360" y="3704924"/>
            <a:ext cx="3383280" cy="308792"/>
          </a:xfrm>
          <a:prstGeom prst="rect">
            <a:avLst/>
          </a:prstGeom>
          <a:noFill/>
        </p:spPr>
        <p:txBody>
          <a:bodyPr wrap="square" lIns="0" tIns="0" rIns="0" bIns="0" anchor="t">
            <a:noAutofit/>
          </a:bodyPr>
          <a:lstStyle/>
          <a:p>
            <a:pPr algn="r">
              <a:lnSpc>
                <a:spcPct val="105000"/>
              </a:lnSpc>
              <a:buNone/>
            </a:pPr>
            <a:r>
              <a:rPr sz="1600" b="0" i="0">
                <a:solidFill>
                  <a:srgbClr val="16201B"/>
                </a:solidFill>
                <a:latin typeface="Fraunces"/>
                <a:ea typeface="Fraunces"/>
                <a:cs typeface="Fraunces"/>
              </a:rPr>
              <a:t>Keyword Research</a:t>
            </a:r>
          </a:p>
        </p:txBody>
      </p:sp>
      <p:sp>
        <p:nvSpPr>
          <p:cNvPr id="16" name="TextBox 15"/>
          <p:cNvSpPr txBox="1"/>
          <p:nvPr/>
        </p:nvSpPr>
        <p:spPr>
          <a:xfrm>
            <a:off x="594360" y="4013716"/>
            <a:ext cx="3383280" cy="465239"/>
          </a:xfrm>
          <a:prstGeom prst="rect">
            <a:avLst/>
          </a:prstGeom>
          <a:noFill/>
        </p:spPr>
        <p:txBody>
          <a:bodyPr wrap="square" lIns="0" tIns="0" rIns="0" bIns="0" anchor="t">
            <a:noAutofit/>
          </a:bodyPr>
          <a:lstStyle/>
          <a:p>
            <a:pPr algn="r">
              <a:lnSpc>
                <a:spcPct val="130000"/>
              </a:lnSpc>
              <a:buNone/>
            </a:pPr>
            <a:r>
              <a:rPr sz="1050" b="0" i="0">
                <a:solidFill>
                  <a:srgbClr val="4A5751"/>
                </a:solidFill>
                <a:latin typeface="Inter"/>
                <a:ea typeface="Inter"/>
                <a:cs typeface="Inter"/>
              </a:rPr>
              <a:t>Find the exact phrases plant parents type — “self watering planter”, “planter with water level indicator”.</a:t>
            </a:r>
          </a:p>
        </p:txBody>
      </p:sp>
      <p:cxnSp>
        <p:nvCxnSpPr>
          <p:cNvPr id="17" name="Connector 16"/>
          <p:cNvCxnSpPr/>
          <p:nvPr/>
        </p:nvCxnSpPr>
        <p:spPr>
          <a:xfrm flipH="1">
            <a:off x="4032504" y="4069080"/>
            <a:ext cx="146304" cy="0"/>
          </a:xfrm>
          <a:prstGeom prst="line">
            <a:avLst/>
          </a:prstGeom>
          <a:ln w="12700">
            <a:solidFill>
              <a:srgbClr val="E4E0D7"/>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5001768" y="2369351"/>
            <a:ext cx="548640" cy="548640"/>
          </a:xfrm>
          <a:prstGeom prst="ellipse">
            <a:avLst/>
          </a:prstGeom>
          <a:solidFill>
            <a:srgbClr val="B8663C"/>
          </a:solidFill>
          <a:ln w="38100">
            <a:solidFill>
              <a:srgbClr val="FBF9F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001768" y="2369351"/>
            <a:ext cx="548640" cy="548640"/>
          </a:xfrm>
          <a:prstGeom prst="rect">
            <a:avLst/>
          </a:prstGeom>
          <a:noFill/>
        </p:spPr>
        <p:txBody>
          <a:bodyPr wrap="square" lIns="0" tIns="0" rIns="0" bIns="0" anchor="ctr">
            <a:noAutofit/>
          </a:bodyPr>
          <a:lstStyle/>
          <a:p>
            <a:pPr algn="ctr">
              <a:lnSpc>
                <a:spcPct val="118000"/>
              </a:lnSpc>
              <a:buNone/>
            </a:pPr>
            <a:r>
              <a:rPr sz="1000" b="0" i="0">
                <a:solidFill>
                  <a:srgbClr val="FFFFFF"/>
                </a:solidFill>
                <a:latin typeface="Inter SemiBold"/>
                <a:ea typeface="Inter SemiBold"/>
                <a:cs typeface="Inter SemiBold"/>
              </a:rPr>
              <a:t>02</a:t>
            </a:r>
          </a:p>
        </p:txBody>
      </p:sp>
      <p:sp>
        <p:nvSpPr>
          <p:cNvPr id="20" name="TextBox 19"/>
          <p:cNvSpPr txBox="1"/>
          <p:nvPr/>
        </p:nvSpPr>
        <p:spPr>
          <a:xfrm>
            <a:off x="868680" y="2279515"/>
            <a:ext cx="3931920" cy="308792"/>
          </a:xfrm>
          <a:prstGeom prst="rect">
            <a:avLst/>
          </a:prstGeom>
          <a:noFill/>
        </p:spPr>
        <p:txBody>
          <a:bodyPr wrap="square" lIns="0" tIns="0" rIns="0" bIns="0" anchor="t">
            <a:noAutofit/>
          </a:bodyPr>
          <a:lstStyle/>
          <a:p>
            <a:pPr algn="r">
              <a:lnSpc>
                <a:spcPct val="105000"/>
              </a:lnSpc>
              <a:buNone/>
            </a:pPr>
            <a:r>
              <a:rPr sz="1600" b="0" i="0">
                <a:solidFill>
                  <a:srgbClr val="16201B"/>
                </a:solidFill>
                <a:latin typeface="Fraunces"/>
                <a:ea typeface="Fraunces"/>
                <a:cs typeface="Fraunces"/>
              </a:rPr>
              <a:t>Content Creation</a:t>
            </a:r>
          </a:p>
        </p:txBody>
      </p:sp>
      <p:sp>
        <p:nvSpPr>
          <p:cNvPr id="21" name="TextBox 20"/>
          <p:cNvSpPr txBox="1"/>
          <p:nvPr/>
        </p:nvSpPr>
        <p:spPr>
          <a:xfrm>
            <a:off x="868680" y="2588308"/>
            <a:ext cx="3931920" cy="465239"/>
          </a:xfrm>
          <a:prstGeom prst="rect">
            <a:avLst/>
          </a:prstGeom>
          <a:noFill/>
        </p:spPr>
        <p:txBody>
          <a:bodyPr wrap="square" lIns="0" tIns="0" rIns="0" bIns="0" anchor="t">
            <a:noAutofit/>
          </a:bodyPr>
          <a:lstStyle/>
          <a:p>
            <a:pPr algn="r">
              <a:lnSpc>
                <a:spcPct val="130000"/>
              </a:lnSpc>
              <a:buNone/>
            </a:pPr>
            <a:r>
              <a:rPr sz="1050" b="0" i="0">
                <a:solidFill>
                  <a:srgbClr val="4A5751"/>
                </a:solidFill>
                <a:latin typeface="Inter"/>
                <a:ea typeface="Inter"/>
                <a:cs typeface="Inter"/>
              </a:rPr>
              <a:t>Plant-care guides, FAQ answers and product pages built around those keywords.</a:t>
            </a:r>
          </a:p>
        </p:txBody>
      </p:sp>
      <p:cxnSp>
        <p:nvCxnSpPr>
          <p:cNvPr id="22" name="Connector 21"/>
          <p:cNvCxnSpPr/>
          <p:nvPr/>
        </p:nvCxnSpPr>
        <p:spPr>
          <a:xfrm flipH="1">
            <a:off x="4855464" y="2643671"/>
            <a:ext cx="146304" cy="0"/>
          </a:xfrm>
          <a:prstGeom prst="line">
            <a:avLst/>
          </a:prstGeom>
          <a:ln w="12700">
            <a:solidFill>
              <a:srgbClr val="E4E0D7"/>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5001768" y="5220168"/>
            <a:ext cx="548640" cy="548640"/>
          </a:xfrm>
          <a:prstGeom prst="ellipse">
            <a:avLst/>
          </a:prstGeom>
          <a:solidFill>
            <a:srgbClr val="A8823F"/>
          </a:solidFill>
          <a:ln w="38100">
            <a:solidFill>
              <a:srgbClr val="FBF9F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5001768" y="5220168"/>
            <a:ext cx="548640" cy="548640"/>
          </a:xfrm>
          <a:prstGeom prst="rect">
            <a:avLst/>
          </a:prstGeom>
          <a:noFill/>
        </p:spPr>
        <p:txBody>
          <a:bodyPr wrap="square" lIns="0" tIns="0" rIns="0" bIns="0" anchor="ctr">
            <a:noAutofit/>
          </a:bodyPr>
          <a:lstStyle/>
          <a:p>
            <a:pPr algn="ctr">
              <a:lnSpc>
                <a:spcPct val="118000"/>
              </a:lnSpc>
              <a:buNone/>
            </a:pPr>
            <a:r>
              <a:rPr sz="1000" b="0" i="0">
                <a:solidFill>
                  <a:srgbClr val="FFFFFF"/>
                </a:solidFill>
                <a:latin typeface="Inter SemiBold"/>
                <a:ea typeface="Inter SemiBold"/>
                <a:cs typeface="Inter SemiBold"/>
              </a:rPr>
              <a:t>03</a:t>
            </a:r>
          </a:p>
        </p:txBody>
      </p:sp>
      <p:sp>
        <p:nvSpPr>
          <p:cNvPr id="25" name="TextBox 24"/>
          <p:cNvSpPr txBox="1"/>
          <p:nvPr/>
        </p:nvSpPr>
        <p:spPr>
          <a:xfrm>
            <a:off x="868680" y="5130332"/>
            <a:ext cx="3931920" cy="308792"/>
          </a:xfrm>
          <a:prstGeom prst="rect">
            <a:avLst/>
          </a:prstGeom>
          <a:noFill/>
        </p:spPr>
        <p:txBody>
          <a:bodyPr wrap="square" lIns="0" tIns="0" rIns="0" bIns="0" anchor="t">
            <a:noAutofit/>
          </a:bodyPr>
          <a:lstStyle/>
          <a:p>
            <a:pPr algn="r">
              <a:lnSpc>
                <a:spcPct val="105000"/>
              </a:lnSpc>
              <a:buNone/>
            </a:pPr>
            <a:r>
              <a:rPr sz="1600" b="0" i="0">
                <a:solidFill>
                  <a:srgbClr val="16201B"/>
                </a:solidFill>
                <a:latin typeface="Fraunces"/>
                <a:ea typeface="Fraunces"/>
                <a:cs typeface="Fraunces"/>
              </a:rPr>
              <a:t>Technical SEO</a:t>
            </a:r>
          </a:p>
        </p:txBody>
      </p:sp>
      <p:sp>
        <p:nvSpPr>
          <p:cNvPr id="26" name="TextBox 25"/>
          <p:cNvSpPr txBox="1"/>
          <p:nvPr/>
        </p:nvSpPr>
        <p:spPr>
          <a:xfrm>
            <a:off x="868680" y="5439125"/>
            <a:ext cx="3931920" cy="465239"/>
          </a:xfrm>
          <a:prstGeom prst="rect">
            <a:avLst/>
          </a:prstGeom>
          <a:noFill/>
        </p:spPr>
        <p:txBody>
          <a:bodyPr wrap="square" lIns="0" tIns="0" rIns="0" bIns="0" anchor="t">
            <a:noAutofit/>
          </a:bodyPr>
          <a:lstStyle/>
          <a:p>
            <a:pPr algn="r">
              <a:lnSpc>
                <a:spcPct val="130000"/>
              </a:lnSpc>
              <a:buNone/>
            </a:pPr>
            <a:r>
              <a:rPr sz="1050" b="0" i="0">
                <a:solidFill>
                  <a:srgbClr val="4A5751"/>
                </a:solidFill>
                <a:latin typeface="Inter"/>
                <a:ea typeface="Inter"/>
                <a:cs typeface="Inter"/>
              </a:rPr>
              <a:t>Fast loading, mobile-first layout, HTTPS, robots.txt and the missing XML sitemap.</a:t>
            </a:r>
          </a:p>
        </p:txBody>
      </p:sp>
      <p:cxnSp>
        <p:nvCxnSpPr>
          <p:cNvPr id="27" name="Connector 26"/>
          <p:cNvCxnSpPr/>
          <p:nvPr/>
        </p:nvCxnSpPr>
        <p:spPr>
          <a:xfrm flipH="1">
            <a:off x="4855464" y="5494488"/>
            <a:ext cx="146304" cy="0"/>
          </a:xfrm>
          <a:prstGeom prst="line">
            <a:avLst/>
          </a:prstGeom>
          <a:ln w="12700">
            <a:solidFill>
              <a:srgbClr val="E4E0D7"/>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6647688" y="2369351"/>
            <a:ext cx="548640" cy="548640"/>
          </a:xfrm>
          <a:prstGeom prst="ellipse">
            <a:avLst/>
          </a:prstGeom>
          <a:solidFill>
            <a:srgbClr val="5C7A63"/>
          </a:solidFill>
          <a:ln w="38100">
            <a:solidFill>
              <a:srgbClr val="FBF9F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6647688" y="2369351"/>
            <a:ext cx="548640" cy="548640"/>
          </a:xfrm>
          <a:prstGeom prst="rect">
            <a:avLst/>
          </a:prstGeom>
          <a:noFill/>
        </p:spPr>
        <p:txBody>
          <a:bodyPr wrap="square" lIns="0" tIns="0" rIns="0" bIns="0" anchor="ctr">
            <a:noAutofit/>
          </a:bodyPr>
          <a:lstStyle/>
          <a:p>
            <a:pPr algn="ctr">
              <a:lnSpc>
                <a:spcPct val="118000"/>
              </a:lnSpc>
              <a:buNone/>
            </a:pPr>
            <a:r>
              <a:rPr sz="1000" b="0" i="0">
                <a:solidFill>
                  <a:srgbClr val="FFFFFF"/>
                </a:solidFill>
                <a:latin typeface="Inter SemiBold"/>
                <a:ea typeface="Inter SemiBold"/>
                <a:cs typeface="Inter SemiBold"/>
              </a:rPr>
              <a:t>04</a:t>
            </a:r>
          </a:p>
        </p:txBody>
      </p:sp>
      <p:sp>
        <p:nvSpPr>
          <p:cNvPr id="30" name="TextBox 29"/>
          <p:cNvSpPr txBox="1"/>
          <p:nvPr/>
        </p:nvSpPr>
        <p:spPr>
          <a:xfrm>
            <a:off x="7397496" y="2279515"/>
            <a:ext cx="3931920" cy="308792"/>
          </a:xfrm>
          <a:prstGeom prst="rect">
            <a:avLst/>
          </a:prstGeom>
          <a:noFill/>
        </p:spPr>
        <p:txBody>
          <a:bodyPr wrap="square" lIns="0" tIns="0" rIns="0" bIns="0" anchor="t">
            <a:noAutofit/>
          </a:bodyPr>
          <a:lstStyle/>
          <a:p>
            <a:pPr algn="l">
              <a:lnSpc>
                <a:spcPct val="105000"/>
              </a:lnSpc>
              <a:buNone/>
            </a:pPr>
            <a:r>
              <a:rPr sz="1600" b="0" i="0">
                <a:solidFill>
                  <a:srgbClr val="16201B"/>
                </a:solidFill>
                <a:latin typeface="Fraunces"/>
                <a:ea typeface="Fraunces"/>
                <a:cs typeface="Fraunces"/>
              </a:rPr>
              <a:t>On-Page Optimization</a:t>
            </a:r>
          </a:p>
        </p:txBody>
      </p:sp>
      <p:sp>
        <p:nvSpPr>
          <p:cNvPr id="31" name="TextBox 30"/>
          <p:cNvSpPr txBox="1"/>
          <p:nvPr/>
        </p:nvSpPr>
        <p:spPr>
          <a:xfrm>
            <a:off x="7397496" y="2588308"/>
            <a:ext cx="3931920" cy="465239"/>
          </a:xfrm>
          <a:prstGeom prst="rect">
            <a:avLst/>
          </a:prstGeom>
          <a:noFill/>
        </p:spPr>
        <p:txBody>
          <a:bodyPr wrap="square" lIns="0" tIns="0" rIns="0" bIns="0" anchor="t">
            <a:noAutofit/>
          </a:bodyPr>
          <a:lstStyle/>
          <a:p>
            <a:pPr algn="l">
              <a:lnSpc>
                <a:spcPct val="130000"/>
              </a:lnSpc>
              <a:buNone/>
            </a:pPr>
            <a:r>
              <a:rPr sz="1050" b="0" i="0">
                <a:solidFill>
                  <a:srgbClr val="4A5751"/>
                </a:solidFill>
                <a:latin typeface="Inter"/>
                <a:ea typeface="Inter"/>
                <a:cs typeface="Inter"/>
              </a:rPr>
              <a:t>Title tag, meta description, canonical URL, one H1 and a clean H2–H3 hierarchy.</a:t>
            </a:r>
          </a:p>
        </p:txBody>
      </p:sp>
      <p:cxnSp>
        <p:nvCxnSpPr>
          <p:cNvPr id="32" name="Connector 31"/>
          <p:cNvCxnSpPr/>
          <p:nvPr/>
        </p:nvCxnSpPr>
        <p:spPr>
          <a:xfrm>
            <a:off x="7196328" y="2643671"/>
            <a:ext cx="146303" cy="0"/>
          </a:xfrm>
          <a:prstGeom prst="line">
            <a:avLst/>
          </a:prstGeom>
          <a:ln w="12700">
            <a:solidFill>
              <a:srgbClr val="E4E0D7"/>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7470648" y="3794760"/>
            <a:ext cx="548640" cy="548640"/>
          </a:xfrm>
          <a:prstGeom prst="ellipse">
            <a:avLst/>
          </a:prstGeom>
          <a:solidFill>
            <a:srgbClr val="B8663C"/>
          </a:solidFill>
          <a:ln w="38100">
            <a:solidFill>
              <a:srgbClr val="FBF9F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7470648" y="3794760"/>
            <a:ext cx="548640" cy="548640"/>
          </a:xfrm>
          <a:prstGeom prst="rect">
            <a:avLst/>
          </a:prstGeom>
          <a:noFill/>
        </p:spPr>
        <p:txBody>
          <a:bodyPr wrap="square" lIns="0" tIns="0" rIns="0" bIns="0" anchor="ctr">
            <a:noAutofit/>
          </a:bodyPr>
          <a:lstStyle/>
          <a:p>
            <a:pPr algn="ctr">
              <a:lnSpc>
                <a:spcPct val="118000"/>
              </a:lnSpc>
              <a:buNone/>
            </a:pPr>
            <a:r>
              <a:rPr sz="1000" b="0" i="0">
                <a:solidFill>
                  <a:srgbClr val="FFFFFF"/>
                </a:solidFill>
                <a:latin typeface="Inter SemiBold"/>
                <a:ea typeface="Inter SemiBold"/>
                <a:cs typeface="Inter SemiBold"/>
              </a:rPr>
              <a:t>05</a:t>
            </a:r>
          </a:p>
        </p:txBody>
      </p:sp>
      <p:sp>
        <p:nvSpPr>
          <p:cNvPr id="35" name="TextBox 34"/>
          <p:cNvSpPr txBox="1"/>
          <p:nvPr/>
        </p:nvSpPr>
        <p:spPr>
          <a:xfrm>
            <a:off x="8220456" y="3704924"/>
            <a:ext cx="3383280" cy="308792"/>
          </a:xfrm>
          <a:prstGeom prst="rect">
            <a:avLst/>
          </a:prstGeom>
          <a:noFill/>
        </p:spPr>
        <p:txBody>
          <a:bodyPr wrap="square" lIns="0" tIns="0" rIns="0" bIns="0" anchor="t">
            <a:noAutofit/>
          </a:bodyPr>
          <a:lstStyle/>
          <a:p>
            <a:pPr algn="l">
              <a:lnSpc>
                <a:spcPct val="105000"/>
              </a:lnSpc>
              <a:buNone/>
            </a:pPr>
            <a:r>
              <a:rPr sz="1600" b="0" i="0">
                <a:solidFill>
                  <a:srgbClr val="16201B"/>
                </a:solidFill>
                <a:latin typeface="Fraunces"/>
                <a:ea typeface="Fraunces"/>
                <a:cs typeface="Fraunces"/>
              </a:rPr>
              <a:t>Link Building</a:t>
            </a:r>
          </a:p>
        </p:txBody>
      </p:sp>
      <p:sp>
        <p:nvSpPr>
          <p:cNvPr id="36" name="TextBox 35"/>
          <p:cNvSpPr txBox="1"/>
          <p:nvPr/>
        </p:nvSpPr>
        <p:spPr>
          <a:xfrm>
            <a:off x="8220456" y="4013716"/>
            <a:ext cx="3383280" cy="465239"/>
          </a:xfrm>
          <a:prstGeom prst="rect">
            <a:avLst/>
          </a:prstGeom>
          <a:noFill/>
        </p:spPr>
        <p:txBody>
          <a:bodyPr wrap="square" lIns="0" tIns="0" rIns="0" bIns="0" anchor="t">
            <a:noAutofit/>
          </a:bodyPr>
          <a:lstStyle/>
          <a:p>
            <a:pPr algn="l">
              <a:lnSpc>
                <a:spcPct val="130000"/>
              </a:lnSpc>
              <a:buNone/>
            </a:pPr>
            <a:r>
              <a:rPr sz="1050" b="0" i="0">
                <a:solidFill>
                  <a:srgbClr val="4A5751"/>
                </a:solidFill>
                <a:latin typeface="Inter"/>
                <a:ea typeface="Inter"/>
                <a:cs typeface="Inter"/>
              </a:rPr>
              <a:t>Backlinks from gardening, décor and sustainability sites to grow authority.</a:t>
            </a:r>
          </a:p>
        </p:txBody>
      </p:sp>
      <p:cxnSp>
        <p:nvCxnSpPr>
          <p:cNvPr id="37" name="Connector 36"/>
          <p:cNvCxnSpPr/>
          <p:nvPr/>
        </p:nvCxnSpPr>
        <p:spPr>
          <a:xfrm>
            <a:off x="8019288" y="4069080"/>
            <a:ext cx="146304" cy="0"/>
          </a:xfrm>
          <a:prstGeom prst="line">
            <a:avLst/>
          </a:prstGeom>
          <a:ln w="12700">
            <a:solidFill>
              <a:srgbClr val="E4E0D7"/>
            </a:solidFill>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6647688" y="5220168"/>
            <a:ext cx="548640" cy="548640"/>
          </a:xfrm>
          <a:prstGeom prst="ellipse">
            <a:avLst/>
          </a:prstGeom>
          <a:solidFill>
            <a:srgbClr val="A8823F"/>
          </a:solidFill>
          <a:ln w="38100">
            <a:solidFill>
              <a:srgbClr val="FBF9F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6647688" y="5220168"/>
            <a:ext cx="548640" cy="548640"/>
          </a:xfrm>
          <a:prstGeom prst="rect">
            <a:avLst/>
          </a:prstGeom>
          <a:noFill/>
        </p:spPr>
        <p:txBody>
          <a:bodyPr wrap="square" lIns="0" tIns="0" rIns="0" bIns="0" anchor="ctr">
            <a:noAutofit/>
          </a:bodyPr>
          <a:lstStyle/>
          <a:p>
            <a:pPr algn="ctr">
              <a:lnSpc>
                <a:spcPct val="118000"/>
              </a:lnSpc>
              <a:buNone/>
            </a:pPr>
            <a:r>
              <a:rPr sz="1000" b="0" i="0">
                <a:solidFill>
                  <a:srgbClr val="FFFFFF"/>
                </a:solidFill>
                <a:latin typeface="Inter SemiBold"/>
                <a:ea typeface="Inter SemiBold"/>
                <a:cs typeface="Inter SemiBold"/>
              </a:rPr>
              <a:t>06</a:t>
            </a:r>
          </a:p>
        </p:txBody>
      </p:sp>
      <p:sp>
        <p:nvSpPr>
          <p:cNvPr id="40" name="TextBox 39"/>
          <p:cNvSpPr txBox="1"/>
          <p:nvPr/>
        </p:nvSpPr>
        <p:spPr>
          <a:xfrm>
            <a:off x="7397496" y="5130332"/>
            <a:ext cx="3931920" cy="308792"/>
          </a:xfrm>
          <a:prstGeom prst="rect">
            <a:avLst/>
          </a:prstGeom>
          <a:noFill/>
        </p:spPr>
        <p:txBody>
          <a:bodyPr wrap="square" lIns="0" tIns="0" rIns="0" bIns="0" anchor="t">
            <a:noAutofit/>
          </a:bodyPr>
          <a:lstStyle/>
          <a:p>
            <a:pPr algn="l">
              <a:lnSpc>
                <a:spcPct val="105000"/>
              </a:lnSpc>
              <a:buNone/>
            </a:pPr>
            <a:r>
              <a:rPr sz="1600" b="0" i="0">
                <a:solidFill>
                  <a:srgbClr val="16201B"/>
                </a:solidFill>
                <a:latin typeface="Fraunces"/>
                <a:ea typeface="Fraunces"/>
                <a:cs typeface="Fraunces"/>
              </a:rPr>
              <a:t>Traffic Analysis</a:t>
            </a:r>
          </a:p>
        </p:txBody>
      </p:sp>
      <p:sp>
        <p:nvSpPr>
          <p:cNvPr id="41" name="TextBox 40"/>
          <p:cNvSpPr txBox="1"/>
          <p:nvPr/>
        </p:nvSpPr>
        <p:spPr>
          <a:xfrm>
            <a:off x="7397496" y="5439125"/>
            <a:ext cx="3931920" cy="465239"/>
          </a:xfrm>
          <a:prstGeom prst="rect">
            <a:avLst/>
          </a:prstGeom>
          <a:noFill/>
        </p:spPr>
        <p:txBody>
          <a:bodyPr wrap="square" lIns="0" tIns="0" rIns="0" bIns="0" anchor="t">
            <a:noAutofit/>
          </a:bodyPr>
          <a:lstStyle/>
          <a:p>
            <a:pPr algn="l">
              <a:lnSpc>
                <a:spcPct val="130000"/>
              </a:lnSpc>
              <a:buNone/>
            </a:pPr>
            <a:r>
              <a:rPr sz="1050" b="0" i="0">
                <a:solidFill>
                  <a:srgbClr val="4A5751"/>
                </a:solidFill>
                <a:latin typeface="Inter"/>
                <a:ea typeface="Inter"/>
                <a:cs typeface="Inter"/>
              </a:rPr>
              <a:t>Track rankings, visitors and conversions in Search Console &amp; Analytics.</a:t>
            </a:r>
          </a:p>
        </p:txBody>
      </p:sp>
      <p:cxnSp>
        <p:nvCxnSpPr>
          <p:cNvPr id="42" name="Connector 41"/>
          <p:cNvCxnSpPr/>
          <p:nvPr/>
        </p:nvCxnSpPr>
        <p:spPr>
          <a:xfrm>
            <a:off x="7196328" y="5494488"/>
            <a:ext cx="146303" cy="0"/>
          </a:xfrm>
          <a:prstGeom prst="line">
            <a:avLst/>
          </a:prstGeom>
          <a:ln w="12700">
            <a:solidFill>
              <a:srgbClr val="E4E0D7"/>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9F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5486400" cy="199851"/>
          </a:xfrm>
          <a:prstGeom prst="rect">
            <a:avLst/>
          </a:prstGeom>
          <a:noFill/>
        </p:spPr>
        <p:txBody>
          <a:bodyPr wrap="square" lIns="0" tIns="0" rIns="0" bIns="0" anchor="t">
            <a:noAutofit/>
          </a:bodyPr>
          <a:lstStyle/>
          <a:p>
            <a:pPr algn="l">
              <a:lnSpc>
                <a:spcPct val="118000"/>
              </a:lnSpc>
              <a:buNone/>
            </a:pPr>
            <a:r>
              <a:rPr sz="850" b="0" i="0" spc="140">
                <a:solidFill>
                  <a:srgbClr val="5C7A63"/>
                </a:solidFill>
                <a:latin typeface="Inter SemiBold"/>
                <a:ea typeface="Inter SemiBold"/>
                <a:cs typeface="Inter SemiBold"/>
              </a:rPr>
              <a:t>DIGITAL MARKETING  ·  ASSIGNMENT FOLIO</a:t>
            </a:r>
          </a:p>
        </p:txBody>
      </p:sp>
      <p:sp>
        <p:nvSpPr>
          <p:cNvPr id="3" name="TextBox 2"/>
          <p:cNvSpPr txBox="1"/>
          <p:nvPr/>
        </p:nvSpPr>
        <p:spPr>
          <a:xfrm>
            <a:off x="7071055" y="384048"/>
            <a:ext cx="4572000" cy="199851"/>
          </a:xfrm>
          <a:prstGeom prst="rect">
            <a:avLst/>
          </a:prstGeom>
          <a:noFill/>
        </p:spPr>
        <p:txBody>
          <a:bodyPr wrap="square" lIns="0" tIns="0" rIns="0" bIns="0" anchor="t">
            <a:noAutofit/>
          </a:bodyPr>
          <a:lstStyle/>
          <a:p>
            <a:pPr algn="r">
              <a:lnSpc>
                <a:spcPct val="118000"/>
              </a:lnSpc>
              <a:buNone/>
            </a:pPr>
            <a:r>
              <a:rPr sz="850" b="0" i="0" spc="140">
                <a:solidFill>
                  <a:srgbClr val="7F8A83"/>
                </a:solidFill>
                <a:latin typeface="Inter SemiBold"/>
                <a:ea typeface="Inter SemiBold"/>
                <a:cs typeface="Inter SemiBold"/>
              </a:rPr>
              <a:t>KEYWORD RESEARCH</a:t>
            </a:r>
          </a:p>
        </p:txBody>
      </p:sp>
      <p:sp>
        <p:nvSpPr>
          <p:cNvPr id="4" name="Rectangle 3"/>
          <p:cNvSpPr/>
          <p:nvPr/>
        </p:nvSpPr>
        <p:spPr>
          <a:xfrm>
            <a:off x="548640" y="6377749"/>
            <a:ext cx="11094415"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640" y="6455664"/>
            <a:ext cx="7315200" cy="190784"/>
          </a:xfrm>
          <a:prstGeom prst="rect">
            <a:avLst/>
          </a:prstGeom>
          <a:noFill/>
        </p:spPr>
        <p:txBody>
          <a:bodyPr wrap="square" lIns="0" tIns="0" rIns="0" bIns="0" anchor="t">
            <a:noAutofit/>
          </a:bodyPr>
          <a:lstStyle/>
          <a:p>
            <a:pPr algn="l">
              <a:lnSpc>
                <a:spcPct val="118000"/>
              </a:lnSpc>
              <a:buNone/>
            </a:pPr>
            <a:r>
              <a:rPr sz="800" b="0" i="0">
                <a:solidFill>
                  <a:srgbClr val="7F8A83"/>
                </a:solidFill>
                <a:latin typeface="Inter"/>
                <a:ea typeface="Inter"/>
                <a:cs typeface="Inter"/>
              </a:rPr>
              <a:t>SEO for JalNest  —  Digital Marketing Assignment</a:t>
            </a:r>
          </a:p>
        </p:txBody>
      </p:sp>
      <p:sp>
        <p:nvSpPr>
          <p:cNvPr id="6" name="TextBox 5"/>
          <p:cNvSpPr txBox="1"/>
          <p:nvPr/>
        </p:nvSpPr>
        <p:spPr>
          <a:xfrm>
            <a:off x="8899855" y="6455664"/>
            <a:ext cx="2743200" cy="190784"/>
          </a:xfrm>
          <a:prstGeom prst="rect">
            <a:avLst/>
          </a:prstGeom>
          <a:noFill/>
        </p:spPr>
        <p:txBody>
          <a:bodyPr wrap="square" lIns="0" tIns="0" rIns="0" bIns="0" anchor="t">
            <a:noAutofit/>
          </a:bodyPr>
          <a:lstStyle/>
          <a:p>
            <a:pPr algn="r">
              <a:lnSpc>
                <a:spcPct val="118000"/>
              </a:lnSpc>
              <a:buNone/>
            </a:pPr>
            <a:r>
              <a:rPr sz="800" b="0" i="0">
                <a:solidFill>
                  <a:srgbClr val="7F8A83"/>
                </a:solidFill>
                <a:latin typeface="Inter"/>
                <a:ea typeface="Inter"/>
                <a:cs typeface="Inter"/>
              </a:rPr>
              <a:t>Session 2026–27   ·   06 / 18</a:t>
            </a:r>
          </a:p>
        </p:txBody>
      </p:sp>
      <p:sp>
        <p:nvSpPr>
          <p:cNvPr id="7" name="TextBox 6"/>
          <p:cNvSpPr txBox="1"/>
          <p:nvPr/>
        </p:nvSpPr>
        <p:spPr>
          <a:xfrm>
            <a:off x="548640" y="841248"/>
            <a:ext cx="5760720" cy="556833"/>
          </a:xfrm>
          <a:prstGeom prst="rect">
            <a:avLst/>
          </a:prstGeom>
          <a:noFill/>
        </p:spPr>
        <p:txBody>
          <a:bodyPr wrap="square" lIns="0" tIns="0" rIns="0" bIns="0" anchor="t">
            <a:noAutofit/>
          </a:bodyPr>
          <a:lstStyle/>
          <a:p>
            <a:pPr algn="l">
              <a:lnSpc>
                <a:spcPct val="102000"/>
              </a:lnSpc>
              <a:buNone/>
            </a:pPr>
            <a:r>
              <a:rPr sz="3200" b="0" i="0">
                <a:solidFill>
                  <a:srgbClr val="16201B"/>
                </a:solidFill>
                <a:latin typeface="Fraunces"/>
                <a:ea typeface="Fraunces"/>
                <a:cs typeface="Fraunces"/>
              </a:rPr>
              <a:t>Keyword Research </a:t>
            </a:r>
            <a:r>
              <a:rPr sz="3200" b="0" i="1">
                <a:solidFill>
                  <a:srgbClr val="B8663C"/>
                </a:solidFill>
                <a:latin typeface="Fraunces"/>
                <a:ea typeface="Fraunces"/>
                <a:cs typeface="Fraunces"/>
              </a:rPr>
              <a:t>Framework</a:t>
            </a:r>
          </a:p>
        </p:txBody>
      </p:sp>
      <p:sp>
        <p:nvSpPr>
          <p:cNvPr id="8" name="TextBox 7"/>
          <p:cNvSpPr txBox="1"/>
          <p:nvPr/>
        </p:nvSpPr>
        <p:spPr>
          <a:xfrm>
            <a:off x="548640" y="1481328"/>
            <a:ext cx="5760720" cy="766739"/>
          </a:xfrm>
          <a:prstGeom prst="rect">
            <a:avLst/>
          </a:prstGeom>
          <a:noFill/>
        </p:spPr>
        <p:txBody>
          <a:bodyPr wrap="square" lIns="0" tIns="0" rIns="0" bIns="0" anchor="t">
            <a:noAutofit/>
          </a:bodyPr>
          <a:lstStyle/>
          <a:p>
            <a:pPr algn="l">
              <a:lnSpc>
                <a:spcPct val="136000"/>
              </a:lnSpc>
              <a:buNone/>
            </a:pPr>
            <a:r>
              <a:rPr sz="1150" b="0" i="0">
                <a:solidFill>
                  <a:srgbClr val="4A5751"/>
                </a:solidFill>
                <a:latin typeface="Inter"/>
                <a:ea typeface="Inter"/>
                <a:cs typeface="Inter"/>
              </a:rPr>
              <a:t>Keyword research identifies the words and phrases people type into Google when they look for a self-watering planter. Each keyword is mapped to a </a:t>
            </a:r>
            <a:r>
              <a:rPr sz="1150" b="0" i="0">
                <a:solidFill>
                  <a:srgbClr val="4A5751"/>
                </a:solidFill>
                <a:latin typeface="Inter SemiBold"/>
                <a:ea typeface="Inter SemiBold"/>
                <a:cs typeface="Inter SemiBold"/>
              </a:rPr>
              <a:t>search intent</a:t>
            </a:r>
            <a:r>
              <a:rPr sz="1150" b="0" i="0">
                <a:solidFill>
                  <a:srgbClr val="4A5751"/>
                </a:solidFill>
                <a:latin typeface="Inter"/>
                <a:ea typeface="Inter"/>
                <a:cs typeface="Inter"/>
              </a:rPr>
              <a:t>, so the page can rank for the searches that actually lead to a purchase.</a:t>
            </a:r>
          </a:p>
        </p:txBody>
      </p:sp>
      <p:sp>
        <p:nvSpPr>
          <p:cNvPr id="9" name="TextBox 8"/>
          <p:cNvSpPr txBox="1"/>
          <p:nvPr/>
        </p:nvSpPr>
        <p:spPr>
          <a:xfrm>
            <a:off x="548640" y="2606040"/>
            <a:ext cx="5760720" cy="181717"/>
          </a:xfrm>
          <a:prstGeom prst="rect">
            <a:avLst/>
          </a:prstGeom>
          <a:noFill/>
        </p:spPr>
        <p:txBody>
          <a:bodyPr wrap="square" lIns="0" tIns="0" rIns="0" bIns="0" anchor="t">
            <a:noAutofit/>
          </a:bodyPr>
          <a:lstStyle/>
          <a:p>
            <a:pPr algn="l">
              <a:lnSpc>
                <a:spcPct val="118000"/>
              </a:lnSpc>
              <a:buNone/>
            </a:pPr>
            <a:r>
              <a:rPr sz="750" b="0" i="0" spc="140">
                <a:solidFill>
                  <a:srgbClr val="7F8A83"/>
                </a:solidFill>
                <a:latin typeface="Inter SemiBold"/>
                <a:ea typeface="Inter SemiBold"/>
                <a:cs typeface="Inter SemiBold"/>
              </a:rPr>
              <a:t>TARGET RESULT — HOW THE PAGE SHOULD APPEAR IN SEARCH</a:t>
            </a:r>
          </a:p>
        </p:txBody>
      </p:sp>
      <p:sp>
        <p:nvSpPr>
          <p:cNvPr id="10" name="Rounded Rectangle 9"/>
          <p:cNvSpPr/>
          <p:nvPr/>
        </p:nvSpPr>
        <p:spPr>
          <a:xfrm>
            <a:off x="548640" y="2852928"/>
            <a:ext cx="5760720" cy="1433106"/>
          </a:xfrm>
          <a:prstGeom prst="roundRect">
            <a:avLst>
              <a:gd name="adj" fmla="val 6380"/>
            </a:avLst>
          </a:prstGeom>
          <a:solidFill>
            <a:srgbClr val="FFFFFF"/>
          </a:solidFill>
          <a:ln w="9525">
            <a:solidFill>
              <a:srgbClr val="E4E0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749808" y="3054096"/>
            <a:ext cx="274320" cy="274320"/>
          </a:xfrm>
          <a:prstGeom prst="ellipse">
            <a:avLst/>
          </a:prstGeom>
          <a:solidFill>
            <a:srgbClr val="E3E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49808" y="3054096"/>
            <a:ext cx="274320" cy="274320"/>
          </a:xfrm>
          <a:prstGeom prst="rect">
            <a:avLst/>
          </a:prstGeom>
          <a:noFill/>
        </p:spPr>
        <p:txBody>
          <a:bodyPr wrap="square" lIns="0" tIns="0" rIns="0" bIns="0" anchor="ctr">
            <a:noAutofit/>
          </a:bodyPr>
          <a:lstStyle/>
          <a:p>
            <a:pPr algn="ctr">
              <a:lnSpc>
                <a:spcPct val="118000"/>
              </a:lnSpc>
              <a:buNone/>
            </a:pPr>
            <a:r>
              <a:rPr sz="1100" b="1" i="0">
                <a:solidFill>
                  <a:srgbClr val="3B5744"/>
                </a:solidFill>
                <a:latin typeface="Fraunces"/>
                <a:ea typeface="Fraunces"/>
                <a:cs typeface="Fraunces"/>
              </a:rPr>
              <a:t>J</a:t>
            </a:r>
          </a:p>
        </p:txBody>
      </p:sp>
      <p:sp>
        <p:nvSpPr>
          <p:cNvPr id="13" name="TextBox 12"/>
          <p:cNvSpPr txBox="1"/>
          <p:nvPr/>
        </p:nvSpPr>
        <p:spPr>
          <a:xfrm>
            <a:off x="1115568" y="3044952"/>
            <a:ext cx="4992623" cy="206305"/>
          </a:xfrm>
          <a:prstGeom prst="rect">
            <a:avLst/>
          </a:prstGeom>
          <a:noFill/>
        </p:spPr>
        <p:txBody>
          <a:bodyPr wrap="square" lIns="0" tIns="0" rIns="0" bIns="0" anchor="t">
            <a:noAutofit/>
          </a:bodyPr>
          <a:lstStyle/>
          <a:p>
            <a:pPr algn="l">
              <a:lnSpc>
                <a:spcPct val="110000"/>
              </a:lnSpc>
              <a:buNone/>
            </a:pPr>
            <a:r>
              <a:rPr sz="950" b="0" i="0">
                <a:solidFill>
                  <a:srgbClr val="202124"/>
                </a:solidFill>
                <a:latin typeface="Inter Medium"/>
                <a:ea typeface="Inter Medium"/>
                <a:cs typeface="Inter Medium"/>
              </a:rPr>
              <a:t>ORIVYAA</a:t>
            </a:r>
          </a:p>
        </p:txBody>
      </p:sp>
      <p:sp>
        <p:nvSpPr>
          <p:cNvPr id="14" name="TextBox 13"/>
          <p:cNvSpPr txBox="1"/>
          <p:nvPr/>
        </p:nvSpPr>
        <p:spPr>
          <a:xfrm>
            <a:off x="1115568" y="3191256"/>
            <a:ext cx="4992623" cy="189401"/>
          </a:xfrm>
          <a:prstGeom prst="rect">
            <a:avLst/>
          </a:prstGeom>
          <a:noFill/>
        </p:spPr>
        <p:txBody>
          <a:bodyPr wrap="square" lIns="0" tIns="0" rIns="0" bIns="0" anchor="t">
            <a:noAutofit/>
          </a:bodyPr>
          <a:lstStyle/>
          <a:p>
            <a:pPr algn="l">
              <a:lnSpc>
                <a:spcPct val="110000"/>
              </a:lnSpc>
              <a:buNone/>
            </a:pPr>
            <a:r>
              <a:rPr sz="850" b="0" i="0">
                <a:solidFill>
                  <a:srgbClr val="4D5156"/>
                </a:solidFill>
                <a:latin typeface="Inter"/>
                <a:ea typeface="Inter"/>
                <a:cs typeface="Inter"/>
              </a:rPr>
              <a:t>divyanshkumar47473.wixstudio.com › orivyaa</a:t>
            </a:r>
          </a:p>
        </p:txBody>
      </p:sp>
      <p:sp>
        <p:nvSpPr>
          <p:cNvPr id="15" name="TextBox 14"/>
          <p:cNvSpPr txBox="1"/>
          <p:nvPr/>
        </p:nvSpPr>
        <p:spPr>
          <a:xfrm>
            <a:off x="749808" y="3419856"/>
            <a:ext cx="5358383" cy="285445"/>
          </a:xfrm>
          <a:prstGeom prst="rect">
            <a:avLst/>
          </a:prstGeom>
          <a:noFill/>
        </p:spPr>
        <p:txBody>
          <a:bodyPr wrap="square" lIns="0" tIns="0" rIns="0" bIns="0" anchor="t">
            <a:noAutofit/>
          </a:bodyPr>
          <a:lstStyle/>
          <a:p>
            <a:pPr algn="l">
              <a:lnSpc>
                <a:spcPct val="120000"/>
              </a:lnSpc>
              <a:buNone/>
            </a:pPr>
            <a:r>
              <a:rPr sz="1300" b="0" i="0">
                <a:solidFill>
                  <a:srgbClr val="1A0DAB"/>
                </a:solidFill>
                <a:latin typeface="Inter"/>
                <a:ea typeface="Inter"/>
                <a:cs typeface="Inter"/>
              </a:rPr>
              <a:t>JalNest by Orivyaa — Self-Watering Planter, 21 Days Per Refill</a:t>
            </a:r>
          </a:p>
        </p:txBody>
      </p:sp>
      <p:sp>
        <p:nvSpPr>
          <p:cNvPr id="16" name="TextBox 15"/>
          <p:cNvSpPr txBox="1"/>
          <p:nvPr/>
        </p:nvSpPr>
        <p:spPr>
          <a:xfrm>
            <a:off x="749808" y="3705301"/>
            <a:ext cx="5358383" cy="425284"/>
          </a:xfrm>
          <a:prstGeom prst="rect">
            <a:avLst/>
          </a:prstGeom>
          <a:noFill/>
        </p:spPr>
        <p:txBody>
          <a:bodyPr wrap="square" lIns="0" tIns="0" rIns="0" bIns="0" anchor="t">
            <a:noAutofit/>
          </a:bodyPr>
          <a:lstStyle/>
          <a:p>
            <a:pPr algn="l">
              <a:lnSpc>
                <a:spcPct val="130000"/>
              </a:lnSpc>
              <a:buNone/>
            </a:pPr>
            <a:r>
              <a:rPr sz="950" b="0" i="0">
                <a:solidFill>
                  <a:srgbClr val="4D5156"/>
                </a:solidFill>
                <a:latin typeface="Inter"/>
                <a:ea typeface="Inter"/>
                <a:cs typeface="Inter"/>
              </a:rPr>
              <a:t>A self-watering planter with a clear water reservoir and a cotton wick that keeps plants watered for up to 21 days. Three finishes — Ivory, Sage and Terracotta. From ₹799.</a:t>
            </a:r>
          </a:p>
        </p:txBody>
      </p:sp>
      <p:sp>
        <p:nvSpPr>
          <p:cNvPr id="17" name="Rounded Rectangle 16"/>
          <p:cNvSpPr/>
          <p:nvPr/>
        </p:nvSpPr>
        <p:spPr>
          <a:xfrm>
            <a:off x="5429434" y="3072384"/>
            <a:ext cx="678757" cy="219456"/>
          </a:xfrm>
          <a:prstGeom prst="roundRect">
            <a:avLst>
              <a:gd name="adj" fmla="val 50000"/>
            </a:avLst>
          </a:prstGeom>
          <a:solidFill>
            <a:srgbClr val="E3E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429434" y="3072384"/>
            <a:ext cx="678757" cy="219456"/>
          </a:xfrm>
          <a:prstGeom prst="rect">
            <a:avLst/>
          </a:prstGeom>
          <a:noFill/>
        </p:spPr>
        <p:txBody>
          <a:bodyPr wrap="square" lIns="0" tIns="0" rIns="0" bIns="0" anchor="ctr">
            <a:noAutofit/>
          </a:bodyPr>
          <a:lstStyle/>
          <a:p>
            <a:pPr algn="ctr">
              <a:lnSpc>
                <a:spcPct val="118000"/>
              </a:lnSpc>
              <a:buNone/>
            </a:pPr>
            <a:r>
              <a:rPr sz="850" b="0" i="0">
                <a:solidFill>
                  <a:srgbClr val="3B5744"/>
                </a:solidFill>
                <a:latin typeface="Inter SemiBold"/>
                <a:ea typeface="Inter SemiBold"/>
                <a:cs typeface="Inter SemiBold"/>
              </a:rPr>
              <a:t>#1 Target</a:t>
            </a:r>
          </a:p>
        </p:txBody>
      </p:sp>
      <p:sp>
        <p:nvSpPr>
          <p:cNvPr id="19" name="TextBox 18"/>
          <p:cNvSpPr txBox="1"/>
          <p:nvPr/>
        </p:nvSpPr>
        <p:spPr>
          <a:xfrm>
            <a:off x="548640" y="4414050"/>
            <a:ext cx="5760720" cy="359206"/>
          </a:xfrm>
          <a:prstGeom prst="rect">
            <a:avLst/>
          </a:prstGeom>
          <a:noFill/>
        </p:spPr>
        <p:txBody>
          <a:bodyPr wrap="square" lIns="0" tIns="0" rIns="0" bIns="0" anchor="t">
            <a:noAutofit/>
          </a:bodyPr>
          <a:lstStyle/>
          <a:p>
            <a:pPr algn="l">
              <a:lnSpc>
                <a:spcPct val="120000"/>
              </a:lnSpc>
              <a:buNone/>
            </a:pPr>
            <a:r>
              <a:rPr sz="850" b="0" i="0">
                <a:solidFill>
                  <a:srgbClr val="7F8A83"/>
                </a:solidFill>
                <a:latin typeface="Inter"/>
                <a:ea typeface="Inter"/>
                <a:cs typeface="Inter"/>
              </a:rPr>
              <a:t>Recommended result for the primary keyword “self watering planter” — the live page currently shows only “How it works | Orivyaa” with no meta description.</a:t>
            </a:r>
          </a:p>
        </p:txBody>
      </p:sp>
      <p:sp>
        <p:nvSpPr>
          <p:cNvPr id="20" name="Rounded Rectangle 19"/>
          <p:cNvSpPr/>
          <p:nvPr/>
        </p:nvSpPr>
        <p:spPr>
          <a:xfrm>
            <a:off x="548640" y="4852962"/>
            <a:ext cx="908796" cy="219456"/>
          </a:xfrm>
          <a:prstGeom prst="roundRect">
            <a:avLst>
              <a:gd name="adj" fmla="val 50000"/>
            </a:avLst>
          </a:prstGeom>
          <a:solidFill>
            <a:srgbClr val="F4E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548640" y="4852962"/>
            <a:ext cx="908796" cy="219456"/>
          </a:xfrm>
          <a:prstGeom prst="rect">
            <a:avLst/>
          </a:prstGeom>
          <a:noFill/>
        </p:spPr>
        <p:txBody>
          <a:bodyPr wrap="square" lIns="0" tIns="0" rIns="0" bIns="0" anchor="ctr">
            <a:noAutofit/>
          </a:bodyPr>
          <a:lstStyle/>
          <a:p>
            <a:pPr algn="ctr">
              <a:lnSpc>
                <a:spcPct val="118000"/>
              </a:lnSpc>
              <a:buNone/>
            </a:pPr>
            <a:r>
              <a:rPr sz="850" b="0" i="0">
                <a:solidFill>
                  <a:srgbClr val="B8663C"/>
                </a:solidFill>
                <a:latin typeface="Inter SemiBold"/>
                <a:ea typeface="Inter SemiBold"/>
                <a:cs typeface="Inter SemiBold"/>
              </a:rPr>
              <a:t>Transactional</a:t>
            </a:r>
          </a:p>
        </p:txBody>
      </p:sp>
      <p:sp>
        <p:nvSpPr>
          <p:cNvPr id="22" name="Rounded Rectangle 21"/>
          <p:cNvSpPr/>
          <p:nvPr/>
        </p:nvSpPr>
        <p:spPr>
          <a:xfrm>
            <a:off x="1548876" y="4852962"/>
            <a:ext cx="893739" cy="219456"/>
          </a:xfrm>
          <a:prstGeom prst="roundRect">
            <a:avLst>
              <a:gd name="adj" fmla="val 50000"/>
            </a:avLst>
          </a:prstGeom>
          <a:solidFill>
            <a:srgbClr val="E3E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1548876" y="4852962"/>
            <a:ext cx="893739" cy="219456"/>
          </a:xfrm>
          <a:prstGeom prst="rect">
            <a:avLst/>
          </a:prstGeom>
          <a:noFill/>
        </p:spPr>
        <p:txBody>
          <a:bodyPr wrap="square" lIns="0" tIns="0" rIns="0" bIns="0" anchor="ctr">
            <a:noAutofit/>
          </a:bodyPr>
          <a:lstStyle/>
          <a:p>
            <a:pPr algn="ctr">
              <a:lnSpc>
                <a:spcPct val="118000"/>
              </a:lnSpc>
              <a:buNone/>
            </a:pPr>
            <a:r>
              <a:rPr sz="850" b="0" i="0">
                <a:solidFill>
                  <a:srgbClr val="3B5744"/>
                </a:solidFill>
                <a:latin typeface="Inter SemiBold"/>
                <a:ea typeface="Inter SemiBold"/>
                <a:cs typeface="Inter SemiBold"/>
              </a:rPr>
              <a:t>Informational</a:t>
            </a:r>
          </a:p>
        </p:txBody>
      </p:sp>
      <p:sp>
        <p:nvSpPr>
          <p:cNvPr id="24" name="Rounded Rectangle 23"/>
          <p:cNvSpPr/>
          <p:nvPr/>
        </p:nvSpPr>
        <p:spPr>
          <a:xfrm>
            <a:off x="2534055" y="4852962"/>
            <a:ext cx="852811" cy="219456"/>
          </a:xfrm>
          <a:prstGeom prst="roundRect">
            <a:avLst>
              <a:gd name="adj" fmla="val 50000"/>
            </a:avLst>
          </a:prstGeom>
          <a:solidFill>
            <a:srgbClr val="F3E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2534055" y="4852962"/>
            <a:ext cx="852811" cy="219456"/>
          </a:xfrm>
          <a:prstGeom prst="rect">
            <a:avLst/>
          </a:prstGeom>
          <a:noFill/>
        </p:spPr>
        <p:txBody>
          <a:bodyPr wrap="square" lIns="0" tIns="0" rIns="0" bIns="0" anchor="ctr">
            <a:noAutofit/>
          </a:bodyPr>
          <a:lstStyle/>
          <a:p>
            <a:pPr algn="ctr">
              <a:lnSpc>
                <a:spcPct val="118000"/>
              </a:lnSpc>
              <a:buNone/>
            </a:pPr>
            <a:r>
              <a:rPr sz="850" b="0" i="0">
                <a:solidFill>
                  <a:srgbClr val="A8823F"/>
                </a:solidFill>
                <a:latin typeface="Inter SemiBold"/>
                <a:ea typeface="Inter SemiBold"/>
                <a:cs typeface="Inter SemiBold"/>
              </a:rPr>
              <a:t>Navigational</a:t>
            </a:r>
          </a:p>
        </p:txBody>
      </p:sp>
      <p:sp>
        <p:nvSpPr>
          <p:cNvPr id="26" name="Rounded Rectangle 25"/>
          <p:cNvSpPr/>
          <p:nvPr/>
        </p:nvSpPr>
        <p:spPr>
          <a:xfrm>
            <a:off x="3478307" y="4852962"/>
            <a:ext cx="826543" cy="219456"/>
          </a:xfrm>
          <a:prstGeom prst="roundRect">
            <a:avLst>
              <a:gd name="adj" fmla="val 50000"/>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3478307" y="4852962"/>
            <a:ext cx="826543" cy="219456"/>
          </a:xfrm>
          <a:prstGeom prst="rect">
            <a:avLst/>
          </a:prstGeom>
          <a:noFill/>
        </p:spPr>
        <p:txBody>
          <a:bodyPr wrap="square" lIns="0" tIns="0" rIns="0" bIns="0" anchor="ctr">
            <a:noAutofit/>
          </a:bodyPr>
          <a:lstStyle/>
          <a:p>
            <a:pPr algn="ctr">
              <a:lnSpc>
                <a:spcPct val="118000"/>
              </a:lnSpc>
              <a:buNone/>
            </a:pPr>
            <a:r>
              <a:rPr sz="850" b="0" i="0">
                <a:solidFill>
                  <a:srgbClr val="4A5751"/>
                </a:solidFill>
                <a:latin typeface="Inter SemiBold"/>
                <a:ea typeface="Inter SemiBold"/>
                <a:cs typeface="Inter SemiBold"/>
              </a:rPr>
              <a:t>Commercial</a:t>
            </a:r>
          </a:p>
        </p:txBody>
      </p:sp>
      <p:sp>
        <p:nvSpPr>
          <p:cNvPr id="28" name="TextBox 27"/>
          <p:cNvSpPr txBox="1"/>
          <p:nvPr/>
        </p:nvSpPr>
        <p:spPr>
          <a:xfrm>
            <a:off x="6903720" y="896112"/>
            <a:ext cx="4739335" cy="199851"/>
          </a:xfrm>
          <a:prstGeom prst="rect">
            <a:avLst/>
          </a:prstGeom>
          <a:noFill/>
        </p:spPr>
        <p:txBody>
          <a:bodyPr wrap="square" lIns="0" tIns="0" rIns="0" bIns="0" anchor="t">
            <a:noAutofit/>
          </a:bodyPr>
          <a:lstStyle/>
          <a:p>
            <a:pPr algn="l">
              <a:lnSpc>
                <a:spcPct val="118000"/>
              </a:lnSpc>
              <a:buNone/>
            </a:pPr>
            <a:r>
              <a:rPr sz="850" b="0" i="0" spc="140">
                <a:solidFill>
                  <a:srgbClr val="5C7A63"/>
                </a:solidFill>
                <a:latin typeface="Inter SemiBold"/>
                <a:ea typeface="Inter SemiBold"/>
                <a:cs typeface="Inter SemiBold"/>
              </a:rPr>
              <a:t>PRIMARY KEYWORD ANALYSIS</a:t>
            </a:r>
          </a:p>
        </p:txBody>
      </p:sp>
      <p:sp>
        <p:nvSpPr>
          <p:cNvPr id="29" name="TextBox 28"/>
          <p:cNvSpPr txBox="1"/>
          <p:nvPr/>
        </p:nvSpPr>
        <p:spPr>
          <a:xfrm>
            <a:off x="6903720" y="1115568"/>
            <a:ext cx="4739335" cy="390220"/>
          </a:xfrm>
          <a:prstGeom prst="rect">
            <a:avLst/>
          </a:prstGeom>
          <a:noFill/>
        </p:spPr>
        <p:txBody>
          <a:bodyPr wrap="square" lIns="0" tIns="0" rIns="0" bIns="0" anchor="t">
            <a:noAutofit/>
          </a:bodyPr>
          <a:lstStyle/>
          <a:p>
            <a:pPr algn="l">
              <a:lnSpc>
                <a:spcPct val="100000"/>
              </a:lnSpc>
              <a:buNone/>
            </a:pPr>
            <a:r>
              <a:rPr sz="2200" b="0" i="0">
                <a:solidFill>
                  <a:srgbClr val="16201B"/>
                </a:solidFill>
                <a:latin typeface="Fraunces"/>
                <a:ea typeface="Fraunces"/>
                <a:cs typeface="Fraunces"/>
              </a:rPr>
              <a:t>Primary </a:t>
            </a:r>
            <a:r>
              <a:rPr sz="2200" b="0" i="1">
                <a:solidFill>
                  <a:srgbClr val="B8663C"/>
                </a:solidFill>
                <a:latin typeface="Fraunces"/>
                <a:ea typeface="Fraunces"/>
                <a:cs typeface="Fraunces"/>
              </a:rPr>
              <a:t>Keywords</a:t>
            </a:r>
          </a:p>
        </p:txBody>
      </p:sp>
      <p:sp>
        <p:nvSpPr>
          <p:cNvPr id="30" name="Rectangle 29"/>
          <p:cNvSpPr/>
          <p:nvPr/>
        </p:nvSpPr>
        <p:spPr>
          <a:xfrm>
            <a:off x="6903720" y="1645920"/>
            <a:ext cx="4739335" cy="292608"/>
          </a:xfrm>
          <a:prstGeom prst="rect">
            <a:avLst/>
          </a:prstGeom>
          <a:solidFill>
            <a:srgbClr val="3B5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7013448" y="1645920"/>
            <a:ext cx="2718931" cy="292608"/>
          </a:xfrm>
          <a:prstGeom prst="rect">
            <a:avLst/>
          </a:prstGeom>
          <a:noFill/>
        </p:spPr>
        <p:txBody>
          <a:bodyPr wrap="square" lIns="0" tIns="0" rIns="0" bIns="0" anchor="ctr">
            <a:noAutofit/>
          </a:bodyPr>
          <a:lstStyle/>
          <a:p>
            <a:pPr algn="l">
              <a:lnSpc>
                <a:spcPct val="118000"/>
              </a:lnSpc>
              <a:buNone/>
            </a:pPr>
            <a:r>
              <a:rPr sz="850" b="0" i="0" spc="100">
                <a:solidFill>
                  <a:srgbClr val="FFFFFF"/>
                </a:solidFill>
                <a:latin typeface="Inter SemiBold"/>
                <a:ea typeface="Inter SemiBold"/>
                <a:cs typeface="Inter SemiBold"/>
              </a:rPr>
              <a:t>KEYWORD</a:t>
            </a:r>
          </a:p>
        </p:txBody>
      </p:sp>
      <p:sp>
        <p:nvSpPr>
          <p:cNvPr id="32" name="TextBox 31"/>
          <p:cNvSpPr txBox="1"/>
          <p:nvPr/>
        </p:nvSpPr>
        <p:spPr>
          <a:xfrm>
            <a:off x="9951835" y="1645920"/>
            <a:ext cx="1581491" cy="292608"/>
          </a:xfrm>
          <a:prstGeom prst="rect">
            <a:avLst/>
          </a:prstGeom>
          <a:noFill/>
        </p:spPr>
        <p:txBody>
          <a:bodyPr wrap="square" lIns="0" tIns="0" rIns="0" bIns="0" anchor="ctr">
            <a:noAutofit/>
          </a:bodyPr>
          <a:lstStyle/>
          <a:p>
            <a:pPr algn="r">
              <a:lnSpc>
                <a:spcPct val="118000"/>
              </a:lnSpc>
              <a:buNone/>
            </a:pPr>
            <a:r>
              <a:rPr sz="850" b="0" i="0" spc="100">
                <a:solidFill>
                  <a:srgbClr val="FFFFFF"/>
                </a:solidFill>
                <a:latin typeface="Inter SemiBold"/>
                <a:ea typeface="Inter SemiBold"/>
                <a:cs typeface="Inter SemiBold"/>
              </a:rPr>
              <a:t>SEARCH INTENT</a:t>
            </a:r>
          </a:p>
        </p:txBody>
      </p:sp>
      <p:sp>
        <p:nvSpPr>
          <p:cNvPr id="33" name="TextBox 32"/>
          <p:cNvSpPr txBox="1"/>
          <p:nvPr/>
        </p:nvSpPr>
        <p:spPr>
          <a:xfrm>
            <a:off x="7013448" y="2016252"/>
            <a:ext cx="2718931" cy="254250"/>
          </a:xfrm>
          <a:prstGeom prst="rect">
            <a:avLst/>
          </a:prstGeom>
          <a:noFill/>
        </p:spPr>
        <p:txBody>
          <a:bodyPr wrap="square" lIns="0" tIns="0" rIns="0" bIns="0" anchor="t">
            <a:noAutofit/>
          </a:bodyPr>
          <a:lstStyle/>
          <a:p>
            <a:pPr algn="l">
              <a:lnSpc>
                <a:spcPct val="118000"/>
              </a:lnSpc>
              <a:buNone/>
            </a:pPr>
            <a:r>
              <a:rPr sz="1150" b="0" i="0">
                <a:solidFill>
                  <a:srgbClr val="4A5751"/>
                </a:solidFill>
                <a:latin typeface="Inter"/>
                <a:ea typeface="Inter"/>
                <a:cs typeface="Inter"/>
              </a:rPr>
              <a:t>self watering planter</a:t>
            </a:r>
          </a:p>
        </p:txBody>
      </p:sp>
      <p:sp>
        <p:nvSpPr>
          <p:cNvPr id="34" name="Rounded Rectangle 33"/>
          <p:cNvSpPr/>
          <p:nvPr/>
        </p:nvSpPr>
        <p:spPr>
          <a:xfrm>
            <a:off x="10624531" y="2057400"/>
            <a:ext cx="908796" cy="219456"/>
          </a:xfrm>
          <a:prstGeom prst="roundRect">
            <a:avLst>
              <a:gd name="adj" fmla="val 50000"/>
            </a:avLst>
          </a:prstGeom>
          <a:solidFill>
            <a:srgbClr val="F4E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10624531" y="2057400"/>
            <a:ext cx="908796" cy="219456"/>
          </a:xfrm>
          <a:prstGeom prst="rect">
            <a:avLst/>
          </a:prstGeom>
          <a:noFill/>
        </p:spPr>
        <p:txBody>
          <a:bodyPr wrap="square" lIns="0" tIns="0" rIns="0" bIns="0" anchor="ctr">
            <a:noAutofit/>
          </a:bodyPr>
          <a:lstStyle/>
          <a:p>
            <a:pPr algn="ctr">
              <a:lnSpc>
                <a:spcPct val="118000"/>
              </a:lnSpc>
              <a:buNone/>
            </a:pPr>
            <a:r>
              <a:rPr sz="850" b="0" i="0">
                <a:solidFill>
                  <a:srgbClr val="B8663C"/>
                </a:solidFill>
                <a:latin typeface="Inter SemiBold"/>
                <a:ea typeface="Inter SemiBold"/>
                <a:cs typeface="Inter SemiBold"/>
              </a:rPr>
              <a:t>Transactional</a:t>
            </a:r>
          </a:p>
        </p:txBody>
      </p:sp>
      <p:sp>
        <p:nvSpPr>
          <p:cNvPr id="36" name="Rectangle 35"/>
          <p:cNvSpPr/>
          <p:nvPr/>
        </p:nvSpPr>
        <p:spPr>
          <a:xfrm>
            <a:off x="6903720" y="2390965"/>
            <a:ext cx="4739335"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7013448" y="2473452"/>
            <a:ext cx="2718931" cy="254250"/>
          </a:xfrm>
          <a:prstGeom prst="rect">
            <a:avLst/>
          </a:prstGeom>
          <a:noFill/>
        </p:spPr>
        <p:txBody>
          <a:bodyPr wrap="square" lIns="0" tIns="0" rIns="0" bIns="0" anchor="t">
            <a:noAutofit/>
          </a:bodyPr>
          <a:lstStyle/>
          <a:p>
            <a:pPr algn="l">
              <a:lnSpc>
                <a:spcPct val="118000"/>
              </a:lnSpc>
              <a:buNone/>
            </a:pPr>
            <a:r>
              <a:rPr sz="1150" b="0" i="0">
                <a:solidFill>
                  <a:srgbClr val="4A5751"/>
                </a:solidFill>
                <a:latin typeface="Inter"/>
                <a:ea typeface="Inter"/>
                <a:cs typeface="Inter"/>
              </a:rPr>
              <a:t>self watering planter India</a:t>
            </a:r>
          </a:p>
        </p:txBody>
      </p:sp>
      <p:sp>
        <p:nvSpPr>
          <p:cNvPr id="38" name="Rounded Rectangle 37"/>
          <p:cNvSpPr/>
          <p:nvPr/>
        </p:nvSpPr>
        <p:spPr>
          <a:xfrm>
            <a:off x="10624531" y="2514600"/>
            <a:ext cx="908796" cy="219456"/>
          </a:xfrm>
          <a:prstGeom prst="roundRect">
            <a:avLst>
              <a:gd name="adj" fmla="val 50000"/>
            </a:avLst>
          </a:prstGeom>
          <a:solidFill>
            <a:srgbClr val="F4E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10624531" y="2514600"/>
            <a:ext cx="908796" cy="219456"/>
          </a:xfrm>
          <a:prstGeom prst="rect">
            <a:avLst/>
          </a:prstGeom>
          <a:noFill/>
        </p:spPr>
        <p:txBody>
          <a:bodyPr wrap="square" lIns="0" tIns="0" rIns="0" bIns="0" anchor="ctr">
            <a:noAutofit/>
          </a:bodyPr>
          <a:lstStyle/>
          <a:p>
            <a:pPr algn="ctr">
              <a:lnSpc>
                <a:spcPct val="118000"/>
              </a:lnSpc>
              <a:buNone/>
            </a:pPr>
            <a:r>
              <a:rPr sz="850" b="0" i="0">
                <a:solidFill>
                  <a:srgbClr val="B8663C"/>
                </a:solidFill>
                <a:latin typeface="Inter SemiBold"/>
                <a:ea typeface="Inter SemiBold"/>
                <a:cs typeface="Inter SemiBold"/>
              </a:rPr>
              <a:t>Transactional</a:t>
            </a:r>
          </a:p>
        </p:txBody>
      </p:sp>
      <p:sp>
        <p:nvSpPr>
          <p:cNvPr id="40" name="Rectangle 39"/>
          <p:cNvSpPr/>
          <p:nvPr/>
        </p:nvSpPr>
        <p:spPr>
          <a:xfrm>
            <a:off x="6903720" y="2848165"/>
            <a:ext cx="4739335"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7013448" y="2930652"/>
            <a:ext cx="2718931" cy="254250"/>
          </a:xfrm>
          <a:prstGeom prst="rect">
            <a:avLst/>
          </a:prstGeom>
          <a:noFill/>
        </p:spPr>
        <p:txBody>
          <a:bodyPr wrap="square" lIns="0" tIns="0" rIns="0" bIns="0" anchor="t">
            <a:noAutofit/>
          </a:bodyPr>
          <a:lstStyle/>
          <a:p>
            <a:pPr algn="l">
              <a:lnSpc>
                <a:spcPct val="118000"/>
              </a:lnSpc>
              <a:buNone/>
            </a:pPr>
            <a:r>
              <a:rPr sz="1150" b="0" i="0">
                <a:solidFill>
                  <a:srgbClr val="4A5751"/>
                </a:solidFill>
                <a:latin typeface="Inter"/>
                <a:ea typeface="Inter"/>
                <a:cs typeface="Inter"/>
              </a:rPr>
              <a:t>plant self watering system</a:t>
            </a:r>
          </a:p>
        </p:txBody>
      </p:sp>
      <p:sp>
        <p:nvSpPr>
          <p:cNvPr id="42" name="Rounded Rectangle 41"/>
          <p:cNvSpPr/>
          <p:nvPr/>
        </p:nvSpPr>
        <p:spPr>
          <a:xfrm>
            <a:off x="10624531" y="2971800"/>
            <a:ext cx="908796" cy="219456"/>
          </a:xfrm>
          <a:prstGeom prst="roundRect">
            <a:avLst>
              <a:gd name="adj" fmla="val 50000"/>
            </a:avLst>
          </a:prstGeom>
          <a:solidFill>
            <a:srgbClr val="F4E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10624531" y="2971800"/>
            <a:ext cx="908796" cy="219456"/>
          </a:xfrm>
          <a:prstGeom prst="rect">
            <a:avLst/>
          </a:prstGeom>
          <a:noFill/>
        </p:spPr>
        <p:txBody>
          <a:bodyPr wrap="square" lIns="0" tIns="0" rIns="0" bIns="0" anchor="ctr">
            <a:noAutofit/>
          </a:bodyPr>
          <a:lstStyle/>
          <a:p>
            <a:pPr algn="ctr">
              <a:lnSpc>
                <a:spcPct val="118000"/>
              </a:lnSpc>
              <a:buNone/>
            </a:pPr>
            <a:r>
              <a:rPr sz="850" b="0" i="0">
                <a:solidFill>
                  <a:srgbClr val="B8663C"/>
                </a:solidFill>
                <a:latin typeface="Inter SemiBold"/>
                <a:ea typeface="Inter SemiBold"/>
                <a:cs typeface="Inter SemiBold"/>
              </a:rPr>
              <a:t>Transactional</a:t>
            </a:r>
          </a:p>
        </p:txBody>
      </p:sp>
      <p:sp>
        <p:nvSpPr>
          <p:cNvPr id="44" name="Rectangle 43"/>
          <p:cNvSpPr/>
          <p:nvPr/>
        </p:nvSpPr>
        <p:spPr>
          <a:xfrm>
            <a:off x="6903720" y="3305365"/>
            <a:ext cx="4739335"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7013448" y="3387852"/>
            <a:ext cx="2718931" cy="254250"/>
          </a:xfrm>
          <a:prstGeom prst="rect">
            <a:avLst/>
          </a:prstGeom>
          <a:noFill/>
        </p:spPr>
        <p:txBody>
          <a:bodyPr wrap="square" lIns="0" tIns="0" rIns="0" bIns="0" anchor="t">
            <a:noAutofit/>
          </a:bodyPr>
          <a:lstStyle/>
          <a:p>
            <a:pPr algn="l">
              <a:lnSpc>
                <a:spcPct val="118000"/>
              </a:lnSpc>
              <a:buNone/>
            </a:pPr>
            <a:r>
              <a:rPr sz="1150" b="0" i="0">
                <a:solidFill>
                  <a:srgbClr val="4A5751"/>
                </a:solidFill>
                <a:latin typeface="Inter"/>
                <a:ea typeface="Inter"/>
                <a:cs typeface="Inter"/>
              </a:rPr>
              <a:t>JalNest Orivyaa planter</a:t>
            </a:r>
          </a:p>
        </p:txBody>
      </p:sp>
      <p:sp>
        <p:nvSpPr>
          <p:cNvPr id="46" name="Rounded Rectangle 45"/>
          <p:cNvSpPr/>
          <p:nvPr/>
        </p:nvSpPr>
        <p:spPr>
          <a:xfrm>
            <a:off x="10680515" y="3429000"/>
            <a:ext cx="852811" cy="219456"/>
          </a:xfrm>
          <a:prstGeom prst="roundRect">
            <a:avLst>
              <a:gd name="adj" fmla="val 50000"/>
            </a:avLst>
          </a:prstGeom>
          <a:solidFill>
            <a:srgbClr val="F3E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10680515" y="3429000"/>
            <a:ext cx="852811" cy="219456"/>
          </a:xfrm>
          <a:prstGeom prst="rect">
            <a:avLst/>
          </a:prstGeom>
          <a:noFill/>
        </p:spPr>
        <p:txBody>
          <a:bodyPr wrap="square" lIns="0" tIns="0" rIns="0" bIns="0" anchor="ctr">
            <a:noAutofit/>
          </a:bodyPr>
          <a:lstStyle/>
          <a:p>
            <a:pPr algn="ctr">
              <a:lnSpc>
                <a:spcPct val="118000"/>
              </a:lnSpc>
              <a:buNone/>
            </a:pPr>
            <a:r>
              <a:rPr sz="850" b="0" i="0">
                <a:solidFill>
                  <a:srgbClr val="A8823F"/>
                </a:solidFill>
                <a:latin typeface="Inter SemiBold"/>
                <a:ea typeface="Inter SemiBold"/>
                <a:cs typeface="Inter SemiBold"/>
              </a:rPr>
              <a:t>Navigational</a:t>
            </a:r>
          </a:p>
        </p:txBody>
      </p:sp>
      <p:sp>
        <p:nvSpPr>
          <p:cNvPr id="48" name="Rectangle 47"/>
          <p:cNvSpPr/>
          <p:nvPr/>
        </p:nvSpPr>
        <p:spPr>
          <a:xfrm>
            <a:off x="6903720" y="3762565"/>
            <a:ext cx="4739335"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7013448" y="3845052"/>
            <a:ext cx="2718931" cy="254250"/>
          </a:xfrm>
          <a:prstGeom prst="rect">
            <a:avLst/>
          </a:prstGeom>
          <a:noFill/>
        </p:spPr>
        <p:txBody>
          <a:bodyPr wrap="square" lIns="0" tIns="0" rIns="0" bIns="0" anchor="t">
            <a:noAutofit/>
          </a:bodyPr>
          <a:lstStyle/>
          <a:p>
            <a:pPr algn="l">
              <a:lnSpc>
                <a:spcPct val="118000"/>
              </a:lnSpc>
              <a:buNone/>
            </a:pPr>
            <a:r>
              <a:rPr sz="1150" b="0" i="0">
                <a:solidFill>
                  <a:srgbClr val="4A5751"/>
                </a:solidFill>
                <a:latin typeface="Inter"/>
                <a:ea typeface="Inter"/>
                <a:cs typeface="Inter"/>
              </a:rPr>
              <a:t>planter with water level indicator</a:t>
            </a:r>
          </a:p>
        </p:txBody>
      </p:sp>
      <p:sp>
        <p:nvSpPr>
          <p:cNvPr id="50" name="Rounded Rectangle 49"/>
          <p:cNvSpPr/>
          <p:nvPr/>
        </p:nvSpPr>
        <p:spPr>
          <a:xfrm>
            <a:off x="10706783" y="3886200"/>
            <a:ext cx="826543" cy="219456"/>
          </a:xfrm>
          <a:prstGeom prst="roundRect">
            <a:avLst>
              <a:gd name="adj" fmla="val 50000"/>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10706783" y="3886200"/>
            <a:ext cx="826543" cy="219456"/>
          </a:xfrm>
          <a:prstGeom prst="rect">
            <a:avLst/>
          </a:prstGeom>
          <a:noFill/>
        </p:spPr>
        <p:txBody>
          <a:bodyPr wrap="square" lIns="0" tIns="0" rIns="0" bIns="0" anchor="ctr">
            <a:noAutofit/>
          </a:bodyPr>
          <a:lstStyle/>
          <a:p>
            <a:pPr algn="ctr">
              <a:lnSpc>
                <a:spcPct val="118000"/>
              </a:lnSpc>
              <a:buNone/>
            </a:pPr>
            <a:r>
              <a:rPr sz="850" b="0" i="0">
                <a:solidFill>
                  <a:srgbClr val="4A5751"/>
                </a:solidFill>
                <a:latin typeface="Inter SemiBold"/>
                <a:ea typeface="Inter SemiBold"/>
                <a:cs typeface="Inter SemiBold"/>
              </a:rPr>
              <a:t>Commercial</a:t>
            </a:r>
          </a:p>
        </p:txBody>
      </p:sp>
      <p:sp>
        <p:nvSpPr>
          <p:cNvPr id="52" name="Rectangle 51"/>
          <p:cNvSpPr/>
          <p:nvPr/>
        </p:nvSpPr>
        <p:spPr>
          <a:xfrm>
            <a:off x="6903720" y="4219765"/>
            <a:ext cx="4739335"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Box 52"/>
          <p:cNvSpPr txBox="1"/>
          <p:nvPr/>
        </p:nvSpPr>
        <p:spPr>
          <a:xfrm>
            <a:off x="7013448" y="4302252"/>
            <a:ext cx="2718931" cy="254250"/>
          </a:xfrm>
          <a:prstGeom prst="rect">
            <a:avLst/>
          </a:prstGeom>
          <a:noFill/>
        </p:spPr>
        <p:txBody>
          <a:bodyPr wrap="square" lIns="0" tIns="0" rIns="0" bIns="0" anchor="t">
            <a:noAutofit/>
          </a:bodyPr>
          <a:lstStyle/>
          <a:p>
            <a:pPr algn="l">
              <a:lnSpc>
                <a:spcPct val="118000"/>
              </a:lnSpc>
              <a:buNone/>
            </a:pPr>
            <a:r>
              <a:rPr sz="1150" b="0" i="0">
                <a:solidFill>
                  <a:srgbClr val="4A5751"/>
                </a:solidFill>
                <a:latin typeface="Inter"/>
                <a:ea typeface="Inter"/>
                <a:cs typeface="Inter"/>
              </a:rPr>
              <a:t>how to water plants while travelling</a:t>
            </a:r>
          </a:p>
        </p:txBody>
      </p:sp>
      <p:sp>
        <p:nvSpPr>
          <p:cNvPr id="54" name="Rounded Rectangle 53"/>
          <p:cNvSpPr/>
          <p:nvPr/>
        </p:nvSpPr>
        <p:spPr>
          <a:xfrm>
            <a:off x="10639587" y="4343400"/>
            <a:ext cx="893739" cy="219456"/>
          </a:xfrm>
          <a:prstGeom prst="roundRect">
            <a:avLst>
              <a:gd name="adj" fmla="val 50000"/>
            </a:avLst>
          </a:prstGeom>
          <a:solidFill>
            <a:srgbClr val="E3E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TextBox 54"/>
          <p:cNvSpPr txBox="1"/>
          <p:nvPr/>
        </p:nvSpPr>
        <p:spPr>
          <a:xfrm>
            <a:off x="10639587" y="4343400"/>
            <a:ext cx="893739" cy="219456"/>
          </a:xfrm>
          <a:prstGeom prst="rect">
            <a:avLst/>
          </a:prstGeom>
          <a:noFill/>
        </p:spPr>
        <p:txBody>
          <a:bodyPr wrap="square" lIns="0" tIns="0" rIns="0" bIns="0" anchor="ctr">
            <a:noAutofit/>
          </a:bodyPr>
          <a:lstStyle/>
          <a:p>
            <a:pPr algn="ctr">
              <a:lnSpc>
                <a:spcPct val="118000"/>
              </a:lnSpc>
              <a:buNone/>
            </a:pPr>
            <a:r>
              <a:rPr sz="850" b="0" i="0">
                <a:solidFill>
                  <a:srgbClr val="3B5744"/>
                </a:solidFill>
                <a:latin typeface="Inter SemiBold"/>
                <a:ea typeface="Inter SemiBold"/>
                <a:cs typeface="Inter SemiBold"/>
              </a:rPr>
              <a:t>Informational</a:t>
            </a:r>
          </a:p>
        </p:txBody>
      </p:sp>
      <p:sp>
        <p:nvSpPr>
          <p:cNvPr id="56" name="Rectangle 55"/>
          <p:cNvSpPr/>
          <p:nvPr/>
        </p:nvSpPr>
        <p:spPr>
          <a:xfrm>
            <a:off x="6903720" y="4676965"/>
            <a:ext cx="4739335"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TextBox 56"/>
          <p:cNvSpPr txBox="1"/>
          <p:nvPr/>
        </p:nvSpPr>
        <p:spPr>
          <a:xfrm>
            <a:off x="6903720" y="4882896"/>
            <a:ext cx="4739335" cy="668083"/>
          </a:xfrm>
          <a:prstGeom prst="rect">
            <a:avLst/>
          </a:prstGeom>
          <a:noFill/>
        </p:spPr>
        <p:txBody>
          <a:bodyPr wrap="square" lIns="0" tIns="0" rIns="0" bIns="0" anchor="t">
            <a:noAutofit/>
          </a:bodyPr>
          <a:lstStyle/>
          <a:p>
            <a:pPr algn="l">
              <a:lnSpc>
                <a:spcPct val="135000"/>
              </a:lnSpc>
              <a:buNone/>
            </a:pPr>
            <a:r>
              <a:rPr sz="1000" b="0" i="0">
                <a:solidFill>
                  <a:srgbClr val="7F8A83"/>
                </a:solidFill>
                <a:latin typeface="Inter"/>
                <a:ea typeface="Inter"/>
                <a:cs typeface="Inter"/>
              </a:rPr>
              <a:t>These terms describe JalNest's core product and brand. People searching them are ready to buy — or are looking specifically for JalNest — so they become the focus of the title tag, H1 and canonical URL.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9F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5486400" cy="199851"/>
          </a:xfrm>
          <a:prstGeom prst="rect">
            <a:avLst/>
          </a:prstGeom>
          <a:noFill/>
        </p:spPr>
        <p:txBody>
          <a:bodyPr wrap="square" lIns="0" tIns="0" rIns="0" bIns="0" anchor="t">
            <a:noAutofit/>
          </a:bodyPr>
          <a:lstStyle/>
          <a:p>
            <a:pPr algn="l">
              <a:lnSpc>
                <a:spcPct val="118000"/>
              </a:lnSpc>
              <a:buNone/>
            </a:pPr>
            <a:r>
              <a:rPr sz="850" b="0" i="0" spc="140">
                <a:solidFill>
                  <a:srgbClr val="5C7A63"/>
                </a:solidFill>
                <a:latin typeface="Inter SemiBold"/>
                <a:ea typeface="Inter SemiBold"/>
                <a:cs typeface="Inter SemiBold"/>
              </a:rPr>
              <a:t>DIGITAL MARKETING  ·  ASSIGNMENT FOLIO</a:t>
            </a:r>
          </a:p>
        </p:txBody>
      </p:sp>
      <p:sp>
        <p:nvSpPr>
          <p:cNvPr id="3" name="TextBox 2"/>
          <p:cNvSpPr txBox="1"/>
          <p:nvPr/>
        </p:nvSpPr>
        <p:spPr>
          <a:xfrm>
            <a:off x="2560320" y="384048"/>
            <a:ext cx="4572000" cy="199851"/>
          </a:xfrm>
          <a:prstGeom prst="rect">
            <a:avLst/>
          </a:prstGeom>
          <a:noFill/>
        </p:spPr>
        <p:txBody>
          <a:bodyPr wrap="square" lIns="0" tIns="0" rIns="0" bIns="0" anchor="t">
            <a:noAutofit/>
          </a:bodyPr>
          <a:lstStyle/>
          <a:p>
            <a:pPr algn="r">
              <a:lnSpc>
                <a:spcPct val="118000"/>
              </a:lnSpc>
              <a:buNone/>
            </a:pPr>
            <a:r>
              <a:rPr sz="850" b="0" i="0" spc="140">
                <a:solidFill>
                  <a:srgbClr val="7F8A83"/>
                </a:solidFill>
                <a:latin typeface="Inter SemiBold"/>
                <a:ea typeface="Inter SemiBold"/>
                <a:cs typeface="Inter SemiBold"/>
              </a:rPr>
              <a:t>KEYWORD RESEARCH · LONG-TAIL</a:t>
            </a:r>
          </a:p>
        </p:txBody>
      </p:sp>
      <p:sp>
        <p:nvSpPr>
          <p:cNvPr id="4" name="Rectangle 3"/>
          <p:cNvSpPr/>
          <p:nvPr/>
        </p:nvSpPr>
        <p:spPr>
          <a:xfrm>
            <a:off x="548640" y="6377749"/>
            <a:ext cx="6583680"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640" y="6455664"/>
            <a:ext cx="7315200" cy="190784"/>
          </a:xfrm>
          <a:prstGeom prst="rect">
            <a:avLst/>
          </a:prstGeom>
          <a:noFill/>
        </p:spPr>
        <p:txBody>
          <a:bodyPr wrap="square" lIns="0" tIns="0" rIns="0" bIns="0" anchor="t">
            <a:noAutofit/>
          </a:bodyPr>
          <a:lstStyle/>
          <a:p>
            <a:pPr algn="l">
              <a:lnSpc>
                <a:spcPct val="118000"/>
              </a:lnSpc>
              <a:buNone/>
            </a:pPr>
            <a:r>
              <a:rPr sz="800" b="0" i="0">
                <a:solidFill>
                  <a:srgbClr val="7F8A83"/>
                </a:solidFill>
                <a:latin typeface="Inter"/>
                <a:ea typeface="Inter"/>
                <a:cs typeface="Inter"/>
              </a:rPr>
              <a:t>SEO for JalNest  —  Digital Marketing Assignment</a:t>
            </a:r>
          </a:p>
        </p:txBody>
      </p:sp>
      <p:sp>
        <p:nvSpPr>
          <p:cNvPr id="6" name="TextBox 5"/>
          <p:cNvSpPr txBox="1"/>
          <p:nvPr/>
        </p:nvSpPr>
        <p:spPr>
          <a:xfrm>
            <a:off x="4389120" y="6455664"/>
            <a:ext cx="2743200" cy="190784"/>
          </a:xfrm>
          <a:prstGeom prst="rect">
            <a:avLst/>
          </a:prstGeom>
          <a:noFill/>
        </p:spPr>
        <p:txBody>
          <a:bodyPr wrap="square" lIns="0" tIns="0" rIns="0" bIns="0" anchor="t">
            <a:noAutofit/>
          </a:bodyPr>
          <a:lstStyle/>
          <a:p>
            <a:pPr algn="r">
              <a:lnSpc>
                <a:spcPct val="118000"/>
              </a:lnSpc>
              <a:buNone/>
            </a:pPr>
            <a:r>
              <a:rPr sz="800" b="0" i="0">
                <a:solidFill>
                  <a:srgbClr val="7F8A83"/>
                </a:solidFill>
                <a:latin typeface="Inter"/>
                <a:ea typeface="Inter"/>
                <a:cs typeface="Inter"/>
              </a:rPr>
              <a:t>Session 2026–27   ·   07 / 18</a:t>
            </a:r>
          </a:p>
        </p:txBody>
      </p:sp>
      <p:pic>
        <p:nvPicPr>
          <p:cNvPr id="7" name="Picture 6" descr="f4259443d301.jpg"/>
          <p:cNvPicPr>
            <a:picLocks noChangeAspect="1"/>
          </p:cNvPicPr>
          <p:nvPr/>
        </p:nvPicPr>
        <p:blipFill>
          <a:blip r:embed="rId2"/>
          <a:stretch>
            <a:fillRect/>
          </a:stretch>
        </p:blipFill>
        <p:spPr>
          <a:xfrm>
            <a:off x="7452360" y="0"/>
            <a:ext cx="4739335" cy="6858000"/>
          </a:xfrm>
          <a:prstGeom prst="rect">
            <a:avLst/>
          </a:prstGeom>
        </p:spPr>
      </p:pic>
      <p:sp>
        <p:nvSpPr>
          <p:cNvPr id="8" name="Rectangle 7"/>
          <p:cNvSpPr/>
          <p:nvPr/>
        </p:nvSpPr>
        <p:spPr>
          <a:xfrm>
            <a:off x="7452360" y="6473952"/>
            <a:ext cx="4739335" cy="384048"/>
          </a:xfrm>
          <a:prstGeom prst="rect">
            <a:avLst/>
          </a:prstGeom>
          <a:solidFill>
            <a:srgbClr val="16201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635240" y="6473952"/>
            <a:ext cx="4373575" cy="384048"/>
          </a:xfrm>
          <a:prstGeom prst="rect">
            <a:avLst/>
          </a:prstGeom>
          <a:noFill/>
        </p:spPr>
        <p:txBody>
          <a:bodyPr wrap="square" lIns="0" tIns="0" rIns="0" bIns="0" anchor="ctr">
            <a:noAutofit/>
          </a:bodyPr>
          <a:lstStyle/>
          <a:p>
            <a:pPr algn="l">
              <a:lnSpc>
                <a:spcPct val="120000"/>
              </a:lnSpc>
              <a:buNone/>
            </a:pPr>
            <a:r>
              <a:rPr sz="850" b="0" i="0">
                <a:solidFill>
                  <a:srgbClr val="FFFFFF"/>
                </a:solidFill>
                <a:latin typeface="Inter"/>
                <a:ea typeface="Inter"/>
                <a:cs typeface="Inter"/>
              </a:rPr>
              <a:t>Long-tail searches are specific questions — the page already answers six of them in its FAQ section.</a:t>
            </a:r>
          </a:p>
        </p:txBody>
      </p:sp>
      <p:sp>
        <p:nvSpPr>
          <p:cNvPr id="10" name="Rounded Rectangle 9"/>
          <p:cNvSpPr/>
          <p:nvPr/>
        </p:nvSpPr>
        <p:spPr>
          <a:xfrm>
            <a:off x="7900415" y="1014984"/>
            <a:ext cx="3916375" cy="2048256"/>
          </a:xfrm>
          <a:prstGeom prst="roundRect">
            <a:avLst>
              <a:gd name="adj" fmla="val 6250"/>
            </a:avLst>
          </a:prstGeom>
          <a:solidFill>
            <a:srgbClr val="16201B">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ounded Rectangle 10"/>
          <p:cNvSpPr/>
          <p:nvPr/>
        </p:nvSpPr>
        <p:spPr>
          <a:xfrm>
            <a:off x="7863840" y="960120"/>
            <a:ext cx="3916375" cy="2048256"/>
          </a:xfrm>
          <a:prstGeom prst="roundRect">
            <a:avLst>
              <a:gd name="adj" fmla="val 625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8028431" y="1106424"/>
            <a:ext cx="3587191" cy="329184"/>
          </a:xfrm>
          <a:prstGeom prst="roundRect">
            <a:avLst>
              <a:gd name="adj" fmla="val 50000"/>
            </a:avLst>
          </a:prstGeom>
          <a:solidFill>
            <a:srgbClr val="FFFFFF"/>
          </a:solidFill>
          <a:ln w="9525">
            <a:solidFill>
              <a:srgbClr val="E4E0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8156448" y="1197864"/>
            <a:ext cx="128016" cy="128016"/>
          </a:xfrm>
          <a:prstGeom prst="ellipse">
            <a:avLst/>
          </a:prstGeom>
          <a:noFill/>
          <a:ln w="19050">
            <a:solidFill>
              <a:srgbClr val="7F8A8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14" name="Connector 13"/>
          <p:cNvCxnSpPr/>
          <p:nvPr/>
        </p:nvCxnSpPr>
        <p:spPr>
          <a:xfrm>
            <a:off x="8266175" y="1307592"/>
            <a:ext cx="54865" cy="54864"/>
          </a:xfrm>
          <a:prstGeom prst="line">
            <a:avLst/>
          </a:prstGeom>
          <a:ln w="19050">
            <a:solidFill>
              <a:srgbClr val="7F8A83"/>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412480" y="1106424"/>
            <a:ext cx="3093415" cy="329184"/>
          </a:xfrm>
          <a:prstGeom prst="rect">
            <a:avLst/>
          </a:prstGeom>
          <a:noFill/>
        </p:spPr>
        <p:txBody>
          <a:bodyPr wrap="square" lIns="0" tIns="0" rIns="0" bIns="0" anchor="ctr">
            <a:noAutofit/>
          </a:bodyPr>
          <a:lstStyle/>
          <a:p>
            <a:pPr algn="l">
              <a:lnSpc>
                <a:spcPct val="118000"/>
              </a:lnSpc>
              <a:buNone/>
            </a:pPr>
            <a:r>
              <a:rPr sz="1000" b="0" i="0">
                <a:solidFill>
                  <a:srgbClr val="16201B"/>
                </a:solidFill>
                <a:latin typeface="Inter"/>
                <a:ea typeface="Inter"/>
                <a:cs typeface="Inter"/>
              </a:rPr>
              <a:t>self watering planter for</a:t>
            </a:r>
          </a:p>
        </p:txBody>
      </p:sp>
      <p:sp>
        <p:nvSpPr>
          <p:cNvPr id="16" name="Oval 15"/>
          <p:cNvSpPr/>
          <p:nvPr/>
        </p:nvSpPr>
        <p:spPr>
          <a:xfrm>
            <a:off x="8156448" y="1627632"/>
            <a:ext cx="100584" cy="100584"/>
          </a:xfrm>
          <a:prstGeom prst="ellipse">
            <a:avLst/>
          </a:prstGeom>
          <a:noFill/>
          <a:ln w="15875">
            <a:solidFill>
              <a:srgbClr val="E4E0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412480" y="1527048"/>
            <a:ext cx="3184855" cy="329184"/>
          </a:xfrm>
          <a:prstGeom prst="rect">
            <a:avLst/>
          </a:prstGeom>
          <a:noFill/>
        </p:spPr>
        <p:txBody>
          <a:bodyPr wrap="square" lIns="0" tIns="0" rIns="0" bIns="0" anchor="ctr">
            <a:noAutofit/>
          </a:bodyPr>
          <a:lstStyle/>
          <a:p>
            <a:pPr algn="l">
              <a:lnSpc>
                <a:spcPct val="118000"/>
              </a:lnSpc>
              <a:buNone/>
            </a:pPr>
            <a:r>
              <a:rPr sz="950" b="0" i="0">
                <a:solidFill>
                  <a:srgbClr val="4A5751"/>
                </a:solidFill>
                <a:latin typeface="Inter"/>
                <a:ea typeface="Inter"/>
                <a:cs typeface="Inter"/>
              </a:rPr>
              <a:t>self watering planter for </a:t>
            </a:r>
            <a:r>
              <a:rPr sz="950" b="0" i="0">
                <a:solidFill>
                  <a:srgbClr val="4A5751"/>
                </a:solidFill>
                <a:latin typeface="Inter SemiBold"/>
                <a:ea typeface="Inter SemiBold"/>
                <a:cs typeface="Inter SemiBold"/>
              </a:rPr>
              <a:t>balcony in india</a:t>
            </a:r>
          </a:p>
        </p:txBody>
      </p:sp>
      <p:sp>
        <p:nvSpPr>
          <p:cNvPr id="18" name="Oval 17"/>
          <p:cNvSpPr/>
          <p:nvPr/>
        </p:nvSpPr>
        <p:spPr>
          <a:xfrm>
            <a:off x="8156448" y="1956815"/>
            <a:ext cx="100584" cy="100584"/>
          </a:xfrm>
          <a:prstGeom prst="ellipse">
            <a:avLst/>
          </a:prstGeom>
          <a:noFill/>
          <a:ln w="15875">
            <a:solidFill>
              <a:srgbClr val="E4E0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412480" y="1856231"/>
            <a:ext cx="3184855" cy="329184"/>
          </a:xfrm>
          <a:prstGeom prst="rect">
            <a:avLst/>
          </a:prstGeom>
          <a:noFill/>
        </p:spPr>
        <p:txBody>
          <a:bodyPr wrap="square" lIns="0" tIns="0" rIns="0" bIns="0" anchor="ctr">
            <a:noAutofit/>
          </a:bodyPr>
          <a:lstStyle/>
          <a:p>
            <a:pPr algn="l">
              <a:lnSpc>
                <a:spcPct val="118000"/>
              </a:lnSpc>
              <a:buNone/>
            </a:pPr>
            <a:r>
              <a:rPr sz="950" b="0" i="0">
                <a:solidFill>
                  <a:srgbClr val="4A5751"/>
                </a:solidFill>
                <a:latin typeface="Inter"/>
                <a:ea typeface="Inter"/>
                <a:cs typeface="Inter"/>
              </a:rPr>
              <a:t>self watering planter for </a:t>
            </a:r>
            <a:r>
              <a:rPr sz="950" b="0" i="0">
                <a:solidFill>
                  <a:srgbClr val="4A5751"/>
                </a:solidFill>
                <a:latin typeface="Inter SemiBold"/>
                <a:ea typeface="Inter SemiBold"/>
                <a:cs typeface="Inter SemiBold"/>
              </a:rPr>
              <a:t>money plant indoor</a:t>
            </a:r>
          </a:p>
        </p:txBody>
      </p:sp>
      <p:sp>
        <p:nvSpPr>
          <p:cNvPr id="20" name="Oval 19"/>
          <p:cNvSpPr/>
          <p:nvPr/>
        </p:nvSpPr>
        <p:spPr>
          <a:xfrm>
            <a:off x="8156448" y="2285999"/>
            <a:ext cx="100584" cy="100584"/>
          </a:xfrm>
          <a:prstGeom prst="ellipse">
            <a:avLst/>
          </a:prstGeom>
          <a:noFill/>
          <a:ln w="15875">
            <a:solidFill>
              <a:srgbClr val="E4E0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8412480" y="2185415"/>
            <a:ext cx="3184855" cy="329184"/>
          </a:xfrm>
          <a:prstGeom prst="rect">
            <a:avLst/>
          </a:prstGeom>
          <a:noFill/>
        </p:spPr>
        <p:txBody>
          <a:bodyPr wrap="square" lIns="0" tIns="0" rIns="0" bIns="0" anchor="ctr">
            <a:noAutofit/>
          </a:bodyPr>
          <a:lstStyle/>
          <a:p>
            <a:pPr algn="l">
              <a:lnSpc>
                <a:spcPct val="118000"/>
              </a:lnSpc>
              <a:buNone/>
            </a:pPr>
            <a:r>
              <a:rPr sz="950" b="0" i="0">
                <a:solidFill>
                  <a:srgbClr val="4A5751"/>
                </a:solidFill>
                <a:latin typeface="Inter"/>
                <a:ea typeface="Inter"/>
                <a:cs typeface="Inter"/>
              </a:rPr>
              <a:t>self watering planter for </a:t>
            </a:r>
            <a:r>
              <a:rPr sz="950" b="0" i="0">
                <a:solidFill>
                  <a:srgbClr val="4A5751"/>
                </a:solidFill>
                <a:latin typeface="Inter SemiBold"/>
                <a:ea typeface="Inter SemiBold"/>
                <a:cs typeface="Inter SemiBold"/>
              </a:rPr>
              <a:t>3 weeks travelling</a:t>
            </a:r>
          </a:p>
        </p:txBody>
      </p:sp>
      <p:sp>
        <p:nvSpPr>
          <p:cNvPr id="22" name="Oval 21"/>
          <p:cNvSpPr/>
          <p:nvPr/>
        </p:nvSpPr>
        <p:spPr>
          <a:xfrm>
            <a:off x="8156448" y="2615183"/>
            <a:ext cx="100584" cy="100584"/>
          </a:xfrm>
          <a:prstGeom prst="ellipse">
            <a:avLst/>
          </a:prstGeom>
          <a:noFill/>
          <a:ln w="15875">
            <a:solidFill>
              <a:srgbClr val="E4E0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8412480" y="2514599"/>
            <a:ext cx="3184855" cy="329184"/>
          </a:xfrm>
          <a:prstGeom prst="rect">
            <a:avLst/>
          </a:prstGeom>
          <a:noFill/>
        </p:spPr>
        <p:txBody>
          <a:bodyPr wrap="square" lIns="0" tIns="0" rIns="0" bIns="0" anchor="ctr">
            <a:noAutofit/>
          </a:bodyPr>
          <a:lstStyle/>
          <a:p>
            <a:pPr algn="l">
              <a:lnSpc>
                <a:spcPct val="118000"/>
              </a:lnSpc>
              <a:buNone/>
            </a:pPr>
            <a:r>
              <a:rPr sz="950" b="0" i="0">
                <a:solidFill>
                  <a:srgbClr val="4A5751"/>
                </a:solidFill>
                <a:latin typeface="Inter"/>
                <a:ea typeface="Inter"/>
                <a:cs typeface="Inter"/>
              </a:rPr>
              <a:t>self watering planter </a:t>
            </a:r>
            <a:r>
              <a:rPr sz="950" b="0" i="0">
                <a:solidFill>
                  <a:srgbClr val="4A5751"/>
                </a:solidFill>
                <a:latin typeface="Inter SemiBold"/>
                <a:ea typeface="Inter SemiBold"/>
                <a:cs typeface="Inter SemiBold"/>
              </a:rPr>
              <a:t>that prevents root rot</a:t>
            </a:r>
          </a:p>
        </p:txBody>
      </p:sp>
      <p:sp>
        <p:nvSpPr>
          <p:cNvPr id="24" name="TextBox 23"/>
          <p:cNvSpPr txBox="1"/>
          <p:nvPr/>
        </p:nvSpPr>
        <p:spPr>
          <a:xfrm>
            <a:off x="548640" y="841248"/>
            <a:ext cx="6446520" cy="556833"/>
          </a:xfrm>
          <a:prstGeom prst="rect">
            <a:avLst/>
          </a:prstGeom>
          <a:noFill/>
        </p:spPr>
        <p:txBody>
          <a:bodyPr wrap="square" lIns="0" tIns="0" rIns="0" bIns="0" anchor="t">
            <a:noAutofit/>
          </a:bodyPr>
          <a:lstStyle/>
          <a:p>
            <a:pPr algn="l">
              <a:lnSpc>
                <a:spcPct val="102000"/>
              </a:lnSpc>
              <a:buNone/>
            </a:pPr>
            <a:r>
              <a:rPr sz="3200" b="0" i="0">
                <a:solidFill>
                  <a:srgbClr val="16201B"/>
                </a:solidFill>
                <a:latin typeface="Fraunces"/>
                <a:ea typeface="Fraunces"/>
                <a:cs typeface="Fraunces"/>
              </a:rPr>
              <a:t>Long-Tail Keyword </a:t>
            </a:r>
            <a:r>
              <a:rPr sz="3200" b="0" i="1">
                <a:solidFill>
                  <a:srgbClr val="B8663C"/>
                </a:solidFill>
                <a:latin typeface="Fraunces"/>
                <a:ea typeface="Fraunces"/>
                <a:cs typeface="Fraunces"/>
              </a:rPr>
              <a:t>Targeting</a:t>
            </a:r>
          </a:p>
        </p:txBody>
      </p:sp>
      <p:sp>
        <p:nvSpPr>
          <p:cNvPr id="25" name="TextBox 24"/>
          <p:cNvSpPr txBox="1"/>
          <p:nvPr/>
        </p:nvSpPr>
        <p:spPr>
          <a:xfrm>
            <a:off x="548640" y="1481328"/>
            <a:ext cx="6446520" cy="766739"/>
          </a:xfrm>
          <a:prstGeom prst="rect">
            <a:avLst/>
          </a:prstGeom>
          <a:noFill/>
        </p:spPr>
        <p:txBody>
          <a:bodyPr wrap="square" lIns="0" tIns="0" rIns="0" bIns="0" anchor="t">
            <a:noAutofit/>
          </a:bodyPr>
          <a:lstStyle/>
          <a:p>
            <a:pPr algn="l">
              <a:lnSpc>
                <a:spcPct val="136000"/>
              </a:lnSpc>
              <a:buNone/>
            </a:pPr>
            <a:r>
              <a:rPr sz="1150" b="0" i="0">
                <a:solidFill>
                  <a:srgbClr val="4A5751"/>
                </a:solidFill>
                <a:latin typeface="Inter"/>
                <a:ea typeface="Inter"/>
                <a:cs typeface="Inter"/>
              </a:rPr>
              <a:t>Long-tail keywords are longer, more specific phrases with lower search volume but much higher purchase intent and far less competition — ideal for a new page that cannot yet outrank Amazon or Ugaoo for broad terms.</a:t>
            </a:r>
          </a:p>
        </p:txBody>
      </p:sp>
      <p:sp>
        <p:nvSpPr>
          <p:cNvPr id="26" name="Rectangle 25"/>
          <p:cNvSpPr/>
          <p:nvPr/>
        </p:nvSpPr>
        <p:spPr>
          <a:xfrm>
            <a:off x="548640" y="2514600"/>
            <a:ext cx="6446520" cy="292608"/>
          </a:xfrm>
          <a:prstGeom prst="rect">
            <a:avLst/>
          </a:prstGeom>
          <a:solidFill>
            <a:srgbClr val="3B5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658368" y="2514600"/>
            <a:ext cx="4164177" cy="292608"/>
          </a:xfrm>
          <a:prstGeom prst="rect">
            <a:avLst/>
          </a:prstGeom>
          <a:noFill/>
        </p:spPr>
        <p:txBody>
          <a:bodyPr wrap="square" lIns="0" tIns="0" rIns="0" bIns="0" anchor="ctr">
            <a:noAutofit/>
          </a:bodyPr>
          <a:lstStyle/>
          <a:p>
            <a:pPr algn="l">
              <a:lnSpc>
                <a:spcPct val="118000"/>
              </a:lnSpc>
              <a:buNone/>
            </a:pPr>
            <a:r>
              <a:rPr sz="850" b="0" i="0" spc="100">
                <a:solidFill>
                  <a:srgbClr val="FFFFFF"/>
                </a:solidFill>
                <a:latin typeface="Inter SemiBold"/>
                <a:ea typeface="Inter SemiBold"/>
                <a:cs typeface="Inter SemiBold"/>
              </a:rPr>
              <a:t>LONG-TAIL KEYWORD</a:t>
            </a:r>
          </a:p>
        </p:txBody>
      </p:sp>
      <p:sp>
        <p:nvSpPr>
          <p:cNvPr id="28" name="TextBox 27"/>
          <p:cNvSpPr txBox="1"/>
          <p:nvPr/>
        </p:nvSpPr>
        <p:spPr>
          <a:xfrm>
            <a:off x="5042001" y="2514600"/>
            <a:ext cx="1843430" cy="292608"/>
          </a:xfrm>
          <a:prstGeom prst="rect">
            <a:avLst/>
          </a:prstGeom>
          <a:noFill/>
        </p:spPr>
        <p:txBody>
          <a:bodyPr wrap="square" lIns="0" tIns="0" rIns="0" bIns="0" anchor="ctr">
            <a:noAutofit/>
          </a:bodyPr>
          <a:lstStyle/>
          <a:p>
            <a:pPr algn="r">
              <a:lnSpc>
                <a:spcPct val="118000"/>
              </a:lnSpc>
              <a:buNone/>
            </a:pPr>
            <a:r>
              <a:rPr sz="850" b="0" i="0" spc="100">
                <a:solidFill>
                  <a:srgbClr val="FFFFFF"/>
                </a:solidFill>
                <a:latin typeface="Inter SemiBold"/>
                <a:ea typeface="Inter SemiBold"/>
                <a:cs typeface="Inter SemiBold"/>
              </a:rPr>
              <a:t>SEARCH INTENT</a:t>
            </a:r>
          </a:p>
        </p:txBody>
      </p:sp>
      <p:sp>
        <p:nvSpPr>
          <p:cNvPr id="29" name="TextBox 28"/>
          <p:cNvSpPr txBox="1"/>
          <p:nvPr/>
        </p:nvSpPr>
        <p:spPr>
          <a:xfrm>
            <a:off x="658368" y="2884932"/>
            <a:ext cx="4164177" cy="245183"/>
          </a:xfrm>
          <a:prstGeom prst="rect">
            <a:avLst/>
          </a:prstGeom>
          <a:noFill/>
        </p:spPr>
        <p:txBody>
          <a:bodyPr wrap="square" lIns="0" tIns="0" rIns="0" bIns="0" anchor="t">
            <a:noAutofit/>
          </a:bodyPr>
          <a:lstStyle/>
          <a:p>
            <a:pPr algn="l">
              <a:lnSpc>
                <a:spcPct val="118000"/>
              </a:lnSpc>
              <a:buNone/>
            </a:pPr>
            <a:r>
              <a:rPr sz="1100" b="0" i="0">
                <a:solidFill>
                  <a:srgbClr val="4A5751"/>
                </a:solidFill>
                <a:latin typeface="Inter"/>
                <a:ea typeface="Inter"/>
                <a:cs typeface="Inter"/>
              </a:rPr>
              <a:t>“best self-watering planter for balcony in India”</a:t>
            </a:r>
          </a:p>
        </p:txBody>
      </p:sp>
      <p:sp>
        <p:nvSpPr>
          <p:cNvPr id="30" name="Rounded Rectangle 29"/>
          <p:cNvSpPr/>
          <p:nvPr/>
        </p:nvSpPr>
        <p:spPr>
          <a:xfrm>
            <a:off x="6058888" y="2916936"/>
            <a:ext cx="826543" cy="219456"/>
          </a:xfrm>
          <a:prstGeom prst="roundRect">
            <a:avLst>
              <a:gd name="adj" fmla="val 50000"/>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058888" y="2916936"/>
            <a:ext cx="826543" cy="219456"/>
          </a:xfrm>
          <a:prstGeom prst="rect">
            <a:avLst/>
          </a:prstGeom>
          <a:noFill/>
        </p:spPr>
        <p:txBody>
          <a:bodyPr wrap="square" lIns="0" tIns="0" rIns="0" bIns="0" anchor="ctr">
            <a:noAutofit/>
          </a:bodyPr>
          <a:lstStyle/>
          <a:p>
            <a:pPr algn="ctr">
              <a:lnSpc>
                <a:spcPct val="118000"/>
              </a:lnSpc>
              <a:buNone/>
            </a:pPr>
            <a:r>
              <a:rPr sz="850" b="0" i="0">
                <a:solidFill>
                  <a:srgbClr val="4A5751"/>
                </a:solidFill>
                <a:latin typeface="Inter SemiBold"/>
                <a:ea typeface="Inter SemiBold"/>
                <a:cs typeface="Inter SemiBold"/>
              </a:rPr>
              <a:t>Commercial</a:t>
            </a:r>
          </a:p>
        </p:txBody>
      </p:sp>
      <p:sp>
        <p:nvSpPr>
          <p:cNvPr id="32" name="Rectangle 31"/>
          <p:cNvSpPr/>
          <p:nvPr/>
        </p:nvSpPr>
        <p:spPr>
          <a:xfrm>
            <a:off x="548640" y="3241357"/>
            <a:ext cx="6446520"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658368" y="3323844"/>
            <a:ext cx="4164177" cy="245183"/>
          </a:xfrm>
          <a:prstGeom prst="rect">
            <a:avLst/>
          </a:prstGeom>
          <a:noFill/>
        </p:spPr>
        <p:txBody>
          <a:bodyPr wrap="square" lIns="0" tIns="0" rIns="0" bIns="0" anchor="t">
            <a:noAutofit/>
          </a:bodyPr>
          <a:lstStyle/>
          <a:p>
            <a:pPr algn="l">
              <a:lnSpc>
                <a:spcPct val="118000"/>
              </a:lnSpc>
              <a:buNone/>
            </a:pPr>
            <a:r>
              <a:rPr sz="1100" b="0" i="0">
                <a:solidFill>
                  <a:srgbClr val="4A5751"/>
                </a:solidFill>
                <a:latin typeface="Inter"/>
                <a:ea typeface="Inter"/>
                <a:cs typeface="Inter"/>
              </a:rPr>
              <a:t>“how often to refill a self watering planter”</a:t>
            </a:r>
          </a:p>
        </p:txBody>
      </p:sp>
      <p:sp>
        <p:nvSpPr>
          <p:cNvPr id="34" name="Rounded Rectangle 33"/>
          <p:cNvSpPr/>
          <p:nvPr/>
        </p:nvSpPr>
        <p:spPr>
          <a:xfrm>
            <a:off x="5991692" y="3355848"/>
            <a:ext cx="893739" cy="219456"/>
          </a:xfrm>
          <a:prstGeom prst="roundRect">
            <a:avLst>
              <a:gd name="adj" fmla="val 50000"/>
            </a:avLst>
          </a:prstGeom>
          <a:solidFill>
            <a:srgbClr val="E3E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5991692" y="3355848"/>
            <a:ext cx="893739" cy="219456"/>
          </a:xfrm>
          <a:prstGeom prst="rect">
            <a:avLst/>
          </a:prstGeom>
          <a:noFill/>
        </p:spPr>
        <p:txBody>
          <a:bodyPr wrap="square" lIns="0" tIns="0" rIns="0" bIns="0" anchor="ctr">
            <a:noAutofit/>
          </a:bodyPr>
          <a:lstStyle/>
          <a:p>
            <a:pPr algn="ctr">
              <a:lnSpc>
                <a:spcPct val="118000"/>
              </a:lnSpc>
              <a:buNone/>
            </a:pPr>
            <a:r>
              <a:rPr sz="850" b="0" i="0">
                <a:solidFill>
                  <a:srgbClr val="3B5744"/>
                </a:solidFill>
                <a:latin typeface="Inter SemiBold"/>
                <a:ea typeface="Inter SemiBold"/>
                <a:cs typeface="Inter SemiBold"/>
              </a:rPr>
              <a:t>Informational</a:t>
            </a:r>
          </a:p>
        </p:txBody>
      </p:sp>
      <p:sp>
        <p:nvSpPr>
          <p:cNvPr id="36" name="Rectangle 35"/>
          <p:cNvSpPr/>
          <p:nvPr/>
        </p:nvSpPr>
        <p:spPr>
          <a:xfrm>
            <a:off x="548640" y="3680269"/>
            <a:ext cx="6446520"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658368" y="3762755"/>
            <a:ext cx="4164177" cy="245183"/>
          </a:xfrm>
          <a:prstGeom prst="rect">
            <a:avLst/>
          </a:prstGeom>
          <a:noFill/>
        </p:spPr>
        <p:txBody>
          <a:bodyPr wrap="square" lIns="0" tIns="0" rIns="0" bIns="0" anchor="t">
            <a:noAutofit/>
          </a:bodyPr>
          <a:lstStyle/>
          <a:p>
            <a:pPr algn="l">
              <a:lnSpc>
                <a:spcPct val="118000"/>
              </a:lnSpc>
              <a:buNone/>
            </a:pPr>
            <a:r>
              <a:rPr sz="1100" b="0" i="0">
                <a:solidFill>
                  <a:srgbClr val="4A5751"/>
                </a:solidFill>
                <a:latin typeface="Inter"/>
                <a:ea typeface="Inter"/>
                <a:cs typeface="Inter"/>
              </a:rPr>
              <a:t>“can you overwater a self watering planter”</a:t>
            </a:r>
          </a:p>
        </p:txBody>
      </p:sp>
      <p:sp>
        <p:nvSpPr>
          <p:cNvPr id="38" name="Rounded Rectangle 37"/>
          <p:cNvSpPr/>
          <p:nvPr/>
        </p:nvSpPr>
        <p:spPr>
          <a:xfrm>
            <a:off x="5991692" y="3794759"/>
            <a:ext cx="893739" cy="219456"/>
          </a:xfrm>
          <a:prstGeom prst="roundRect">
            <a:avLst>
              <a:gd name="adj" fmla="val 50000"/>
            </a:avLst>
          </a:prstGeom>
          <a:solidFill>
            <a:srgbClr val="E3E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5991692" y="3794759"/>
            <a:ext cx="893739" cy="219456"/>
          </a:xfrm>
          <a:prstGeom prst="rect">
            <a:avLst/>
          </a:prstGeom>
          <a:noFill/>
        </p:spPr>
        <p:txBody>
          <a:bodyPr wrap="square" lIns="0" tIns="0" rIns="0" bIns="0" anchor="ctr">
            <a:noAutofit/>
          </a:bodyPr>
          <a:lstStyle/>
          <a:p>
            <a:pPr algn="ctr">
              <a:lnSpc>
                <a:spcPct val="118000"/>
              </a:lnSpc>
              <a:buNone/>
            </a:pPr>
            <a:r>
              <a:rPr sz="850" b="0" i="0">
                <a:solidFill>
                  <a:srgbClr val="3B5744"/>
                </a:solidFill>
                <a:latin typeface="Inter SemiBold"/>
                <a:ea typeface="Inter SemiBold"/>
                <a:cs typeface="Inter SemiBold"/>
              </a:rPr>
              <a:t>Informational</a:t>
            </a:r>
          </a:p>
        </p:txBody>
      </p:sp>
      <p:sp>
        <p:nvSpPr>
          <p:cNvPr id="40" name="Rectangle 39"/>
          <p:cNvSpPr/>
          <p:nvPr/>
        </p:nvSpPr>
        <p:spPr>
          <a:xfrm>
            <a:off x="548640" y="4119181"/>
            <a:ext cx="6446520"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658368" y="4201668"/>
            <a:ext cx="4164177" cy="245183"/>
          </a:xfrm>
          <a:prstGeom prst="rect">
            <a:avLst/>
          </a:prstGeom>
          <a:noFill/>
        </p:spPr>
        <p:txBody>
          <a:bodyPr wrap="square" lIns="0" tIns="0" rIns="0" bIns="0" anchor="t">
            <a:noAutofit/>
          </a:bodyPr>
          <a:lstStyle/>
          <a:p>
            <a:pPr algn="l">
              <a:lnSpc>
                <a:spcPct val="118000"/>
              </a:lnSpc>
              <a:buNone/>
            </a:pPr>
            <a:r>
              <a:rPr sz="1100" b="0" i="0">
                <a:solidFill>
                  <a:srgbClr val="4A5751"/>
                </a:solidFill>
                <a:latin typeface="Inter"/>
                <a:ea typeface="Inter"/>
                <a:cs typeface="Inter"/>
              </a:rPr>
              <a:t>“which plants work in a self watering planter”</a:t>
            </a:r>
          </a:p>
        </p:txBody>
      </p:sp>
      <p:sp>
        <p:nvSpPr>
          <p:cNvPr id="42" name="Rounded Rectangle 41"/>
          <p:cNvSpPr/>
          <p:nvPr/>
        </p:nvSpPr>
        <p:spPr>
          <a:xfrm>
            <a:off x="5991692" y="4233672"/>
            <a:ext cx="893739" cy="219456"/>
          </a:xfrm>
          <a:prstGeom prst="roundRect">
            <a:avLst>
              <a:gd name="adj" fmla="val 50000"/>
            </a:avLst>
          </a:prstGeom>
          <a:solidFill>
            <a:srgbClr val="E3E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5991692" y="4233672"/>
            <a:ext cx="893739" cy="219456"/>
          </a:xfrm>
          <a:prstGeom prst="rect">
            <a:avLst/>
          </a:prstGeom>
          <a:noFill/>
        </p:spPr>
        <p:txBody>
          <a:bodyPr wrap="square" lIns="0" tIns="0" rIns="0" bIns="0" anchor="ctr">
            <a:noAutofit/>
          </a:bodyPr>
          <a:lstStyle/>
          <a:p>
            <a:pPr algn="ctr">
              <a:lnSpc>
                <a:spcPct val="118000"/>
              </a:lnSpc>
              <a:buNone/>
            </a:pPr>
            <a:r>
              <a:rPr sz="850" b="0" i="0">
                <a:solidFill>
                  <a:srgbClr val="3B5744"/>
                </a:solidFill>
                <a:latin typeface="Inter SemiBold"/>
                <a:ea typeface="Inter SemiBold"/>
                <a:cs typeface="Inter SemiBold"/>
              </a:rPr>
              <a:t>Informational</a:t>
            </a:r>
          </a:p>
        </p:txBody>
      </p:sp>
      <p:sp>
        <p:nvSpPr>
          <p:cNvPr id="44" name="Rectangle 43"/>
          <p:cNvSpPr/>
          <p:nvPr/>
        </p:nvSpPr>
        <p:spPr>
          <a:xfrm>
            <a:off x="548640" y="4558093"/>
            <a:ext cx="6446520"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658368" y="4640580"/>
            <a:ext cx="4164177" cy="245183"/>
          </a:xfrm>
          <a:prstGeom prst="rect">
            <a:avLst/>
          </a:prstGeom>
          <a:noFill/>
        </p:spPr>
        <p:txBody>
          <a:bodyPr wrap="square" lIns="0" tIns="0" rIns="0" bIns="0" anchor="t">
            <a:noAutofit/>
          </a:bodyPr>
          <a:lstStyle/>
          <a:p>
            <a:pPr algn="l">
              <a:lnSpc>
                <a:spcPct val="118000"/>
              </a:lnSpc>
              <a:buNone/>
            </a:pPr>
            <a:r>
              <a:rPr sz="1100" b="0" i="0">
                <a:solidFill>
                  <a:srgbClr val="4A5751"/>
                </a:solidFill>
                <a:latin typeface="Inter"/>
                <a:ea typeface="Inter"/>
                <a:cs typeface="Inter"/>
              </a:rPr>
              <a:t>“buy self watering planter online India price”</a:t>
            </a:r>
          </a:p>
        </p:txBody>
      </p:sp>
      <p:sp>
        <p:nvSpPr>
          <p:cNvPr id="46" name="Rounded Rectangle 45"/>
          <p:cNvSpPr/>
          <p:nvPr/>
        </p:nvSpPr>
        <p:spPr>
          <a:xfrm>
            <a:off x="5976635" y="4672584"/>
            <a:ext cx="908796" cy="219456"/>
          </a:xfrm>
          <a:prstGeom prst="roundRect">
            <a:avLst>
              <a:gd name="adj" fmla="val 50000"/>
            </a:avLst>
          </a:prstGeom>
          <a:solidFill>
            <a:srgbClr val="F4E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5976635" y="4672584"/>
            <a:ext cx="908796" cy="219456"/>
          </a:xfrm>
          <a:prstGeom prst="rect">
            <a:avLst/>
          </a:prstGeom>
          <a:noFill/>
        </p:spPr>
        <p:txBody>
          <a:bodyPr wrap="square" lIns="0" tIns="0" rIns="0" bIns="0" anchor="ctr">
            <a:noAutofit/>
          </a:bodyPr>
          <a:lstStyle/>
          <a:p>
            <a:pPr algn="ctr">
              <a:lnSpc>
                <a:spcPct val="118000"/>
              </a:lnSpc>
              <a:buNone/>
            </a:pPr>
            <a:r>
              <a:rPr sz="850" b="0" i="0">
                <a:solidFill>
                  <a:srgbClr val="B8663C"/>
                </a:solidFill>
                <a:latin typeface="Inter SemiBold"/>
                <a:ea typeface="Inter SemiBold"/>
                <a:cs typeface="Inter SemiBold"/>
              </a:rPr>
              <a:t>Transactional</a:t>
            </a:r>
          </a:p>
        </p:txBody>
      </p:sp>
      <p:sp>
        <p:nvSpPr>
          <p:cNvPr id="48" name="Rectangle 47"/>
          <p:cNvSpPr/>
          <p:nvPr/>
        </p:nvSpPr>
        <p:spPr>
          <a:xfrm>
            <a:off x="548640" y="4997005"/>
            <a:ext cx="6446520"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658368" y="5079492"/>
            <a:ext cx="4164177" cy="245183"/>
          </a:xfrm>
          <a:prstGeom prst="rect">
            <a:avLst/>
          </a:prstGeom>
          <a:noFill/>
        </p:spPr>
        <p:txBody>
          <a:bodyPr wrap="square" lIns="0" tIns="0" rIns="0" bIns="0" anchor="t">
            <a:noAutofit/>
          </a:bodyPr>
          <a:lstStyle/>
          <a:p>
            <a:pPr algn="l">
              <a:lnSpc>
                <a:spcPct val="118000"/>
              </a:lnSpc>
              <a:buNone/>
            </a:pPr>
            <a:r>
              <a:rPr sz="1100" b="0" i="0">
                <a:solidFill>
                  <a:srgbClr val="4A5751"/>
                </a:solidFill>
                <a:latin typeface="Inter"/>
                <a:ea typeface="Inter"/>
                <a:cs typeface="Inter"/>
              </a:rPr>
              <a:t>“self-watering planter that prevents root rot”</a:t>
            </a:r>
          </a:p>
        </p:txBody>
      </p:sp>
      <p:sp>
        <p:nvSpPr>
          <p:cNvPr id="50" name="Rounded Rectangle 49"/>
          <p:cNvSpPr/>
          <p:nvPr/>
        </p:nvSpPr>
        <p:spPr>
          <a:xfrm>
            <a:off x="5991692" y="5111496"/>
            <a:ext cx="893739" cy="219456"/>
          </a:xfrm>
          <a:prstGeom prst="roundRect">
            <a:avLst>
              <a:gd name="adj" fmla="val 50000"/>
            </a:avLst>
          </a:prstGeom>
          <a:solidFill>
            <a:srgbClr val="E3E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5991692" y="5111496"/>
            <a:ext cx="893739" cy="219456"/>
          </a:xfrm>
          <a:prstGeom prst="rect">
            <a:avLst/>
          </a:prstGeom>
          <a:noFill/>
        </p:spPr>
        <p:txBody>
          <a:bodyPr wrap="square" lIns="0" tIns="0" rIns="0" bIns="0" anchor="ctr">
            <a:noAutofit/>
          </a:bodyPr>
          <a:lstStyle/>
          <a:p>
            <a:pPr algn="ctr">
              <a:lnSpc>
                <a:spcPct val="118000"/>
              </a:lnSpc>
              <a:buNone/>
            </a:pPr>
            <a:r>
              <a:rPr sz="850" b="0" i="0">
                <a:solidFill>
                  <a:srgbClr val="3B5744"/>
                </a:solidFill>
                <a:latin typeface="Inter SemiBold"/>
                <a:ea typeface="Inter SemiBold"/>
                <a:cs typeface="Inter SemiBold"/>
              </a:rPr>
              <a:t>Informational</a:t>
            </a:r>
          </a:p>
        </p:txBody>
      </p:sp>
      <p:sp>
        <p:nvSpPr>
          <p:cNvPr id="52" name="Rectangle 51"/>
          <p:cNvSpPr/>
          <p:nvPr/>
        </p:nvSpPr>
        <p:spPr>
          <a:xfrm>
            <a:off x="548640" y="5435917"/>
            <a:ext cx="6446520"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Rounded Rectangle 52"/>
          <p:cNvSpPr/>
          <p:nvPr/>
        </p:nvSpPr>
        <p:spPr>
          <a:xfrm>
            <a:off x="548640" y="5669280"/>
            <a:ext cx="6446520" cy="713232"/>
          </a:xfrm>
          <a:prstGeom prst="roundRect">
            <a:avLst>
              <a:gd name="adj" fmla="val 10256"/>
            </a:avLst>
          </a:prstGeom>
          <a:solidFill>
            <a:srgbClr val="F3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Rectangle 53"/>
          <p:cNvSpPr/>
          <p:nvPr/>
        </p:nvSpPr>
        <p:spPr>
          <a:xfrm>
            <a:off x="548640" y="5669280"/>
            <a:ext cx="54864" cy="713232"/>
          </a:xfrm>
          <a:prstGeom prst="rect">
            <a:avLst/>
          </a:prstGeom>
          <a:solidFill>
            <a:srgbClr val="B86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TextBox 54"/>
          <p:cNvSpPr txBox="1"/>
          <p:nvPr/>
        </p:nvSpPr>
        <p:spPr>
          <a:xfrm>
            <a:off x="777240" y="5669280"/>
            <a:ext cx="6080760" cy="713232"/>
          </a:xfrm>
          <a:prstGeom prst="rect">
            <a:avLst/>
          </a:prstGeom>
          <a:noFill/>
        </p:spPr>
        <p:txBody>
          <a:bodyPr wrap="square" lIns="0" tIns="0" rIns="0" bIns="0" anchor="ctr">
            <a:noAutofit/>
          </a:bodyPr>
          <a:lstStyle/>
          <a:p>
            <a:pPr algn="l">
              <a:lnSpc>
                <a:spcPct val="130000"/>
              </a:lnSpc>
              <a:buNone/>
            </a:pPr>
            <a:r>
              <a:rPr sz="1000" b="0" i="0">
                <a:solidFill>
                  <a:srgbClr val="4A5751"/>
                </a:solidFill>
                <a:latin typeface="Inter SemiBold"/>
                <a:ea typeface="Inter SemiBold"/>
                <a:cs typeface="Inter SemiBold"/>
              </a:rPr>
              <a:t>Why they matter:</a:t>
            </a:r>
            <a:r>
              <a:rPr sz="1000" b="0" i="0">
                <a:solidFill>
                  <a:srgbClr val="4A5751"/>
                </a:solidFill>
                <a:latin typeface="Inter"/>
                <a:ea typeface="Inter"/>
                <a:cs typeface="Inter"/>
              </a:rPr>
              <a:t> the page's FAQ section already answers six of these questions verbatim — turning those answers into headings can win the phrases with no backlinks at all.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9F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5486400" cy="199851"/>
          </a:xfrm>
          <a:prstGeom prst="rect">
            <a:avLst/>
          </a:prstGeom>
          <a:noFill/>
        </p:spPr>
        <p:txBody>
          <a:bodyPr wrap="square" lIns="0" tIns="0" rIns="0" bIns="0" anchor="t">
            <a:noAutofit/>
          </a:bodyPr>
          <a:lstStyle/>
          <a:p>
            <a:pPr algn="l">
              <a:lnSpc>
                <a:spcPct val="118000"/>
              </a:lnSpc>
              <a:buNone/>
            </a:pPr>
            <a:r>
              <a:rPr sz="850" b="0" i="0" spc="140">
                <a:solidFill>
                  <a:srgbClr val="5C7A63"/>
                </a:solidFill>
                <a:latin typeface="Inter SemiBold"/>
                <a:ea typeface="Inter SemiBold"/>
                <a:cs typeface="Inter SemiBold"/>
              </a:rPr>
              <a:t>DIGITAL MARKETING  ·  ASSIGNMENT FOLIO</a:t>
            </a:r>
          </a:p>
        </p:txBody>
      </p:sp>
      <p:sp>
        <p:nvSpPr>
          <p:cNvPr id="3" name="TextBox 2"/>
          <p:cNvSpPr txBox="1"/>
          <p:nvPr/>
        </p:nvSpPr>
        <p:spPr>
          <a:xfrm>
            <a:off x="7071055" y="384048"/>
            <a:ext cx="4572000" cy="199851"/>
          </a:xfrm>
          <a:prstGeom prst="rect">
            <a:avLst/>
          </a:prstGeom>
          <a:noFill/>
        </p:spPr>
        <p:txBody>
          <a:bodyPr wrap="square" lIns="0" tIns="0" rIns="0" bIns="0" anchor="t">
            <a:noAutofit/>
          </a:bodyPr>
          <a:lstStyle/>
          <a:p>
            <a:pPr algn="r">
              <a:lnSpc>
                <a:spcPct val="118000"/>
              </a:lnSpc>
              <a:buNone/>
            </a:pPr>
            <a:r>
              <a:rPr sz="850" b="0" i="0" spc="140">
                <a:solidFill>
                  <a:srgbClr val="7F8A83"/>
                </a:solidFill>
                <a:latin typeface="Inter SemiBold"/>
                <a:ea typeface="Inter SemiBold"/>
                <a:cs typeface="Inter SemiBold"/>
              </a:rPr>
              <a:t>ON-PAGE SEO</a:t>
            </a:r>
          </a:p>
        </p:txBody>
      </p:sp>
      <p:sp>
        <p:nvSpPr>
          <p:cNvPr id="4" name="Rectangle 3"/>
          <p:cNvSpPr/>
          <p:nvPr/>
        </p:nvSpPr>
        <p:spPr>
          <a:xfrm>
            <a:off x="548640" y="6377749"/>
            <a:ext cx="11094415"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640" y="6455664"/>
            <a:ext cx="7315200" cy="190784"/>
          </a:xfrm>
          <a:prstGeom prst="rect">
            <a:avLst/>
          </a:prstGeom>
          <a:noFill/>
        </p:spPr>
        <p:txBody>
          <a:bodyPr wrap="square" lIns="0" tIns="0" rIns="0" bIns="0" anchor="t">
            <a:noAutofit/>
          </a:bodyPr>
          <a:lstStyle/>
          <a:p>
            <a:pPr algn="l">
              <a:lnSpc>
                <a:spcPct val="118000"/>
              </a:lnSpc>
              <a:buNone/>
            </a:pPr>
            <a:r>
              <a:rPr sz="800" b="0" i="0">
                <a:solidFill>
                  <a:srgbClr val="7F8A83"/>
                </a:solidFill>
                <a:latin typeface="Inter"/>
                <a:ea typeface="Inter"/>
                <a:cs typeface="Inter"/>
              </a:rPr>
              <a:t>SEO for JalNest  —  Digital Marketing Assignment</a:t>
            </a:r>
          </a:p>
        </p:txBody>
      </p:sp>
      <p:sp>
        <p:nvSpPr>
          <p:cNvPr id="6" name="TextBox 5"/>
          <p:cNvSpPr txBox="1"/>
          <p:nvPr/>
        </p:nvSpPr>
        <p:spPr>
          <a:xfrm>
            <a:off x="8899855" y="6455664"/>
            <a:ext cx="2743200" cy="190784"/>
          </a:xfrm>
          <a:prstGeom prst="rect">
            <a:avLst/>
          </a:prstGeom>
          <a:noFill/>
        </p:spPr>
        <p:txBody>
          <a:bodyPr wrap="square" lIns="0" tIns="0" rIns="0" bIns="0" anchor="t">
            <a:noAutofit/>
          </a:bodyPr>
          <a:lstStyle/>
          <a:p>
            <a:pPr algn="r">
              <a:lnSpc>
                <a:spcPct val="118000"/>
              </a:lnSpc>
              <a:buNone/>
            </a:pPr>
            <a:r>
              <a:rPr sz="800" b="0" i="0">
                <a:solidFill>
                  <a:srgbClr val="7F8A83"/>
                </a:solidFill>
                <a:latin typeface="Inter"/>
                <a:ea typeface="Inter"/>
                <a:cs typeface="Inter"/>
              </a:rPr>
              <a:t>Session 2026–27   ·   08 / 18</a:t>
            </a:r>
          </a:p>
        </p:txBody>
      </p:sp>
      <p:sp>
        <p:nvSpPr>
          <p:cNvPr id="7" name="TextBox 6"/>
          <p:cNvSpPr txBox="1"/>
          <p:nvPr/>
        </p:nvSpPr>
        <p:spPr>
          <a:xfrm>
            <a:off x="548640" y="841248"/>
            <a:ext cx="5486400" cy="556833"/>
          </a:xfrm>
          <a:prstGeom prst="rect">
            <a:avLst/>
          </a:prstGeom>
          <a:noFill/>
        </p:spPr>
        <p:txBody>
          <a:bodyPr wrap="square" lIns="0" tIns="0" rIns="0" bIns="0" anchor="t">
            <a:noAutofit/>
          </a:bodyPr>
          <a:lstStyle/>
          <a:p>
            <a:pPr algn="l">
              <a:lnSpc>
                <a:spcPct val="102000"/>
              </a:lnSpc>
              <a:buNone/>
            </a:pPr>
            <a:r>
              <a:rPr sz="3200" b="0" i="0">
                <a:solidFill>
                  <a:srgbClr val="16201B"/>
                </a:solidFill>
                <a:latin typeface="Fraunces"/>
                <a:ea typeface="Fraunces"/>
                <a:cs typeface="Fraunces"/>
              </a:rPr>
              <a:t>On-Page </a:t>
            </a:r>
            <a:r>
              <a:rPr sz="3200" b="0" i="1">
                <a:solidFill>
                  <a:srgbClr val="B8663C"/>
                </a:solidFill>
                <a:latin typeface="Fraunces"/>
                <a:ea typeface="Fraunces"/>
                <a:cs typeface="Fraunces"/>
              </a:rPr>
              <a:t>SEO</a:t>
            </a:r>
          </a:p>
        </p:txBody>
      </p:sp>
      <p:sp>
        <p:nvSpPr>
          <p:cNvPr id="8" name="TextBox 7"/>
          <p:cNvSpPr txBox="1"/>
          <p:nvPr/>
        </p:nvSpPr>
        <p:spPr>
          <a:xfrm>
            <a:off x="548640" y="1417320"/>
            <a:ext cx="5486400" cy="199851"/>
          </a:xfrm>
          <a:prstGeom prst="rect">
            <a:avLst/>
          </a:prstGeom>
          <a:noFill/>
        </p:spPr>
        <p:txBody>
          <a:bodyPr wrap="square" lIns="0" tIns="0" rIns="0" bIns="0" anchor="t">
            <a:noAutofit/>
          </a:bodyPr>
          <a:lstStyle/>
          <a:p>
            <a:pPr algn="l">
              <a:lnSpc>
                <a:spcPct val="118000"/>
              </a:lnSpc>
              <a:buNone/>
            </a:pPr>
            <a:r>
              <a:rPr sz="850" b="0" i="0" spc="140">
                <a:solidFill>
                  <a:srgbClr val="B8663C"/>
                </a:solidFill>
                <a:latin typeface="Inter SemiBold"/>
                <a:ea typeface="Inter SemiBold"/>
                <a:cs typeface="Inter SemiBold"/>
              </a:rPr>
              <a:t>PAGE-LEVEL OPTIMIZATION</a:t>
            </a:r>
          </a:p>
        </p:txBody>
      </p:sp>
      <p:sp>
        <p:nvSpPr>
          <p:cNvPr id="9" name="TextBox 8"/>
          <p:cNvSpPr txBox="1"/>
          <p:nvPr/>
        </p:nvSpPr>
        <p:spPr>
          <a:xfrm>
            <a:off x="6400800" y="914400"/>
            <a:ext cx="5242255" cy="481374"/>
          </a:xfrm>
          <a:prstGeom prst="rect">
            <a:avLst/>
          </a:prstGeom>
          <a:noFill/>
        </p:spPr>
        <p:txBody>
          <a:bodyPr wrap="square" lIns="0" tIns="0" rIns="0" bIns="0" anchor="t">
            <a:noAutofit/>
          </a:bodyPr>
          <a:lstStyle/>
          <a:p>
            <a:pPr algn="r">
              <a:lnSpc>
                <a:spcPct val="135000"/>
              </a:lnSpc>
              <a:buNone/>
            </a:pPr>
            <a:r>
              <a:rPr sz="1050" b="0" i="0">
                <a:solidFill>
                  <a:srgbClr val="7F8A83"/>
                </a:solidFill>
                <a:latin typeface="Inter"/>
                <a:ea typeface="Inter"/>
                <a:cs typeface="Inter"/>
              </a:rPr>
              <a:t>Every element a search engine reads on the ORIVYAA · JalNest page itself — its current value, and the code where it lives.</a:t>
            </a:r>
          </a:p>
        </p:txBody>
      </p:sp>
      <p:sp>
        <p:nvSpPr>
          <p:cNvPr id="10" name="TextBox 9"/>
          <p:cNvSpPr txBox="1"/>
          <p:nvPr/>
        </p:nvSpPr>
        <p:spPr>
          <a:xfrm>
            <a:off x="548640" y="1783080"/>
            <a:ext cx="5364327" cy="280606"/>
          </a:xfrm>
          <a:prstGeom prst="rect">
            <a:avLst/>
          </a:prstGeom>
          <a:noFill/>
        </p:spPr>
        <p:txBody>
          <a:bodyPr wrap="square" lIns="0" tIns="0" rIns="0" bIns="0" anchor="t">
            <a:noAutofit/>
          </a:bodyPr>
          <a:lstStyle/>
          <a:p>
            <a:pPr algn="l">
              <a:lnSpc>
                <a:spcPct val="100000"/>
              </a:lnSpc>
              <a:buNone/>
            </a:pPr>
            <a:r>
              <a:rPr sz="1500" b="0" i="0">
                <a:solidFill>
                  <a:srgbClr val="16201B"/>
                </a:solidFill>
                <a:latin typeface="Fraunces"/>
                <a:ea typeface="Fraunces"/>
                <a:cs typeface="Fraunces"/>
              </a:rPr>
              <a:t>Title Tag →</a:t>
            </a:r>
          </a:p>
        </p:txBody>
      </p:sp>
      <p:sp>
        <p:nvSpPr>
          <p:cNvPr id="11" name="Rounded Rectangle 10"/>
          <p:cNvSpPr/>
          <p:nvPr/>
        </p:nvSpPr>
        <p:spPr>
          <a:xfrm>
            <a:off x="548640" y="2093976"/>
            <a:ext cx="5364327" cy="342709"/>
          </a:xfrm>
          <a:prstGeom prst="roundRect">
            <a:avLst>
              <a:gd name="adj" fmla="val 16008"/>
            </a:avLst>
          </a:prstGeom>
          <a:solidFill>
            <a:srgbClr val="F3F0E5"/>
          </a:solidFill>
          <a:ln w="9525">
            <a:solidFill>
              <a:srgbClr val="E4E0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30936" y="2176272"/>
            <a:ext cx="5199735" cy="223837"/>
          </a:xfrm>
          <a:prstGeom prst="rect">
            <a:avLst/>
          </a:prstGeom>
          <a:noFill/>
        </p:spPr>
        <p:txBody>
          <a:bodyPr wrap="square" lIns="0" tIns="0" rIns="0" bIns="0" anchor="t">
            <a:noAutofit/>
          </a:bodyPr>
          <a:lstStyle/>
          <a:p>
            <a:pPr algn="l">
              <a:lnSpc>
                <a:spcPct val="125000"/>
              </a:lnSpc>
              <a:buNone/>
            </a:pPr>
            <a:r>
              <a:rPr sz="850" b="0" i="0">
                <a:solidFill>
                  <a:srgbClr val="3B5744"/>
                </a:solidFill>
                <a:latin typeface="JetBrains Mono"/>
                <a:ea typeface="JetBrains Mono"/>
                <a:cs typeface="JetBrains Mono"/>
              </a:rPr>
              <a:t>&lt;title&gt;How it works | Orivyaa&lt;/title&gt;</a:t>
            </a:r>
          </a:p>
        </p:txBody>
      </p:sp>
      <p:sp>
        <p:nvSpPr>
          <p:cNvPr id="13" name="Rounded Rectangle 12"/>
          <p:cNvSpPr/>
          <p:nvPr/>
        </p:nvSpPr>
        <p:spPr>
          <a:xfrm>
            <a:off x="576072" y="2564701"/>
            <a:ext cx="4176632" cy="1495234"/>
          </a:xfrm>
          <a:prstGeom prst="roundRect">
            <a:avLst>
              <a:gd name="adj" fmla="val 3669"/>
            </a:avLst>
          </a:prstGeom>
          <a:solidFill>
            <a:srgbClr val="16201B">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0466f2bc7c7e.jpg"/>
          <p:cNvPicPr>
            <a:picLocks noChangeAspect="1"/>
          </p:cNvPicPr>
          <p:nvPr/>
        </p:nvPicPr>
        <p:blipFill>
          <a:blip r:embed="rId2"/>
          <a:stretch>
            <a:fillRect/>
          </a:stretch>
        </p:blipFill>
        <p:spPr>
          <a:xfrm>
            <a:off x="548640" y="2528125"/>
            <a:ext cx="4176632" cy="1495234"/>
          </a:xfrm>
          <a:prstGeom prst="rect">
            <a:avLst/>
          </a:prstGeom>
        </p:spPr>
      </p:pic>
      <p:sp>
        <p:nvSpPr>
          <p:cNvPr id="15" name="TextBox 14"/>
          <p:cNvSpPr txBox="1"/>
          <p:nvPr/>
        </p:nvSpPr>
        <p:spPr>
          <a:xfrm>
            <a:off x="6278727" y="1783080"/>
            <a:ext cx="5364327" cy="280606"/>
          </a:xfrm>
          <a:prstGeom prst="rect">
            <a:avLst/>
          </a:prstGeom>
          <a:noFill/>
        </p:spPr>
        <p:txBody>
          <a:bodyPr wrap="square" lIns="0" tIns="0" rIns="0" bIns="0" anchor="t">
            <a:noAutofit/>
          </a:bodyPr>
          <a:lstStyle/>
          <a:p>
            <a:pPr algn="l">
              <a:lnSpc>
                <a:spcPct val="100000"/>
              </a:lnSpc>
              <a:buNone/>
            </a:pPr>
            <a:r>
              <a:rPr sz="1500" b="0" i="0">
                <a:solidFill>
                  <a:srgbClr val="16201B"/>
                </a:solidFill>
                <a:latin typeface="Fraunces"/>
                <a:ea typeface="Fraunces"/>
                <a:cs typeface="Fraunces"/>
              </a:rPr>
              <a:t>URL / Canonical →</a:t>
            </a:r>
          </a:p>
        </p:txBody>
      </p:sp>
      <p:sp>
        <p:nvSpPr>
          <p:cNvPr id="16" name="Rounded Rectangle 15"/>
          <p:cNvSpPr/>
          <p:nvPr/>
        </p:nvSpPr>
        <p:spPr>
          <a:xfrm>
            <a:off x="6278727" y="2093976"/>
            <a:ext cx="5364327" cy="342709"/>
          </a:xfrm>
          <a:prstGeom prst="roundRect">
            <a:avLst>
              <a:gd name="adj" fmla="val 16008"/>
            </a:avLst>
          </a:prstGeom>
          <a:solidFill>
            <a:srgbClr val="F3F0E5"/>
          </a:solidFill>
          <a:ln w="9525">
            <a:solidFill>
              <a:srgbClr val="E4E0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361023" y="2176272"/>
            <a:ext cx="5199735" cy="223837"/>
          </a:xfrm>
          <a:prstGeom prst="rect">
            <a:avLst/>
          </a:prstGeom>
          <a:noFill/>
        </p:spPr>
        <p:txBody>
          <a:bodyPr wrap="square" lIns="0" tIns="0" rIns="0" bIns="0" anchor="t">
            <a:noAutofit/>
          </a:bodyPr>
          <a:lstStyle/>
          <a:p>
            <a:pPr algn="l">
              <a:lnSpc>
                <a:spcPct val="125000"/>
              </a:lnSpc>
              <a:buNone/>
            </a:pPr>
            <a:r>
              <a:rPr sz="850" b="0" i="0">
                <a:solidFill>
                  <a:srgbClr val="3B5744"/>
                </a:solidFill>
                <a:latin typeface="JetBrains Mono"/>
                <a:ea typeface="JetBrains Mono"/>
                <a:cs typeface="JetBrains Mono"/>
              </a:rPr>
              <a:t>https://divyanshkumar47473.wixstudio.com/orivyaa</a:t>
            </a:r>
          </a:p>
        </p:txBody>
      </p:sp>
      <p:sp>
        <p:nvSpPr>
          <p:cNvPr id="18" name="Rounded Rectangle 17"/>
          <p:cNvSpPr/>
          <p:nvPr/>
        </p:nvSpPr>
        <p:spPr>
          <a:xfrm>
            <a:off x="6306159" y="2564701"/>
            <a:ext cx="5264910" cy="1495234"/>
          </a:xfrm>
          <a:prstGeom prst="roundRect">
            <a:avLst>
              <a:gd name="adj" fmla="val 3669"/>
            </a:avLst>
          </a:prstGeom>
          <a:solidFill>
            <a:srgbClr val="16201B">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9" name="Picture 18" descr="1a1ab28e6a95.jpg"/>
          <p:cNvPicPr>
            <a:picLocks noChangeAspect="1"/>
          </p:cNvPicPr>
          <p:nvPr/>
        </p:nvPicPr>
        <p:blipFill>
          <a:blip r:embed="rId3"/>
          <a:stretch>
            <a:fillRect/>
          </a:stretch>
        </p:blipFill>
        <p:spPr>
          <a:xfrm>
            <a:off x="6278727" y="2528125"/>
            <a:ext cx="5264910" cy="1495234"/>
          </a:xfrm>
          <a:prstGeom prst="rect">
            <a:avLst/>
          </a:prstGeom>
        </p:spPr>
      </p:pic>
      <p:sp>
        <p:nvSpPr>
          <p:cNvPr id="20" name="TextBox 19"/>
          <p:cNvSpPr txBox="1"/>
          <p:nvPr/>
        </p:nvSpPr>
        <p:spPr>
          <a:xfrm>
            <a:off x="548640" y="4069080"/>
            <a:ext cx="5364327" cy="280606"/>
          </a:xfrm>
          <a:prstGeom prst="rect">
            <a:avLst/>
          </a:prstGeom>
          <a:noFill/>
        </p:spPr>
        <p:txBody>
          <a:bodyPr wrap="square" lIns="0" tIns="0" rIns="0" bIns="0" anchor="t">
            <a:noAutofit/>
          </a:bodyPr>
          <a:lstStyle/>
          <a:p>
            <a:pPr algn="l">
              <a:lnSpc>
                <a:spcPct val="100000"/>
              </a:lnSpc>
              <a:buNone/>
            </a:pPr>
            <a:r>
              <a:rPr sz="1500" b="0" i="0">
                <a:solidFill>
                  <a:srgbClr val="16201B"/>
                </a:solidFill>
                <a:latin typeface="Fraunces"/>
                <a:ea typeface="Fraunces"/>
                <a:cs typeface="Fraunces"/>
              </a:rPr>
              <a:t>Semantic Tags →</a:t>
            </a:r>
          </a:p>
        </p:txBody>
      </p:sp>
      <p:sp>
        <p:nvSpPr>
          <p:cNvPr id="21" name="Rounded Rectangle 20"/>
          <p:cNvSpPr/>
          <p:nvPr/>
        </p:nvSpPr>
        <p:spPr>
          <a:xfrm>
            <a:off x="548640" y="4398264"/>
            <a:ext cx="719288" cy="237744"/>
          </a:xfrm>
          <a:prstGeom prst="roundRect">
            <a:avLst>
              <a:gd name="adj" fmla="val 50000"/>
            </a:avLst>
          </a:prstGeom>
          <a:solidFill>
            <a:srgbClr val="E3E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548640" y="4398264"/>
            <a:ext cx="719288" cy="237744"/>
          </a:xfrm>
          <a:prstGeom prst="rect">
            <a:avLst/>
          </a:prstGeom>
          <a:noFill/>
        </p:spPr>
        <p:txBody>
          <a:bodyPr wrap="square" lIns="0" tIns="0" rIns="0" bIns="0" anchor="ctr">
            <a:noAutofit/>
          </a:bodyPr>
          <a:lstStyle/>
          <a:p>
            <a:pPr algn="ctr">
              <a:lnSpc>
                <a:spcPct val="118000"/>
              </a:lnSpc>
              <a:buNone/>
            </a:pPr>
            <a:r>
              <a:rPr sz="850" b="0" i="0">
                <a:solidFill>
                  <a:srgbClr val="3B5744"/>
                </a:solidFill>
                <a:latin typeface="JetBrains Mono"/>
                <a:ea typeface="JetBrains Mono"/>
                <a:cs typeface="JetBrains Mono"/>
              </a:rPr>
              <a:t>&lt;header&gt;</a:t>
            </a:r>
          </a:p>
        </p:txBody>
      </p:sp>
      <p:sp>
        <p:nvSpPr>
          <p:cNvPr id="23" name="Rounded Rectangle 22"/>
          <p:cNvSpPr/>
          <p:nvPr/>
        </p:nvSpPr>
        <p:spPr>
          <a:xfrm>
            <a:off x="1341080" y="4398264"/>
            <a:ext cx="524993" cy="237744"/>
          </a:xfrm>
          <a:prstGeom prst="roundRect">
            <a:avLst>
              <a:gd name="adj" fmla="val 50000"/>
            </a:avLst>
          </a:prstGeom>
          <a:solidFill>
            <a:srgbClr val="E3E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1341080" y="4398264"/>
            <a:ext cx="524993" cy="237744"/>
          </a:xfrm>
          <a:prstGeom prst="rect">
            <a:avLst/>
          </a:prstGeom>
          <a:noFill/>
        </p:spPr>
        <p:txBody>
          <a:bodyPr wrap="square" lIns="0" tIns="0" rIns="0" bIns="0" anchor="ctr">
            <a:noAutofit/>
          </a:bodyPr>
          <a:lstStyle/>
          <a:p>
            <a:pPr algn="ctr">
              <a:lnSpc>
                <a:spcPct val="118000"/>
              </a:lnSpc>
              <a:buNone/>
            </a:pPr>
            <a:r>
              <a:rPr sz="850" b="0" i="0">
                <a:solidFill>
                  <a:srgbClr val="3B5744"/>
                </a:solidFill>
                <a:latin typeface="JetBrains Mono"/>
                <a:ea typeface="JetBrains Mono"/>
                <a:cs typeface="JetBrains Mono"/>
              </a:rPr>
              <a:t>&lt;nav&gt;</a:t>
            </a:r>
          </a:p>
        </p:txBody>
      </p:sp>
      <p:sp>
        <p:nvSpPr>
          <p:cNvPr id="25" name="Rounded Rectangle 24"/>
          <p:cNvSpPr/>
          <p:nvPr/>
        </p:nvSpPr>
        <p:spPr>
          <a:xfrm>
            <a:off x="1939225" y="4398264"/>
            <a:ext cx="589758" cy="237744"/>
          </a:xfrm>
          <a:prstGeom prst="roundRect">
            <a:avLst>
              <a:gd name="adj" fmla="val 50000"/>
            </a:avLst>
          </a:prstGeom>
          <a:solidFill>
            <a:srgbClr val="E3E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1939225" y="4398264"/>
            <a:ext cx="589758" cy="237744"/>
          </a:xfrm>
          <a:prstGeom prst="rect">
            <a:avLst/>
          </a:prstGeom>
          <a:noFill/>
        </p:spPr>
        <p:txBody>
          <a:bodyPr wrap="square" lIns="0" tIns="0" rIns="0" bIns="0" anchor="ctr">
            <a:noAutofit/>
          </a:bodyPr>
          <a:lstStyle/>
          <a:p>
            <a:pPr algn="ctr">
              <a:lnSpc>
                <a:spcPct val="118000"/>
              </a:lnSpc>
              <a:buNone/>
            </a:pPr>
            <a:r>
              <a:rPr sz="850" b="0" i="0">
                <a:solidFill>
                  <a:srgbClr val="3B5744"/>
                </a:solidFill>
                <a:latin typeface="JetBrains Mono"/>
                <a:ea typeface="JetBrains Mono"/>
                <a:cs typeface="JetBrains Mono"/>
              </a:rPr>
              <a:t>&lt;main&gt;</a:t>
            </a:r>
          </a:p>
        </p:txBody>
      </p:sp>
      <p:sp>
        <p:nvSpPr>
          <p:cNvPr id="27" name="Rounded Rectangle 26"/>
          <p:cNvSpPr/>
          <p:nvPr/>
        </p:nvSpPr>
        <p:spPr>
          <a:xfrm>
            <a:off x="2602135" y="4398264"/>
            <a:ext cx="1043113" cy="237744"/>
          </a:xfrm>
          <a:prstGeom prst="roundRect">
            <a:avLst>
              <a:gd name="adj" fmla="val 50000"/>
            </a:avLst>
          </a:prstGeom>
          <a:solidFill>
            <a:srgbClr val="E3E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2602135" y="4398264"/>
            <a:ext cx="1043113" cy="237744"/>
          </a:xfrm>
          <a:prstGeom prst="rect">
            <a:avLst/>
          </a:prstGeom>
          <a:noFill/>
        </p:spPr>
        <p:txBody>
          <a:bodyPr wrap="square" lIns="0" tIns="0" rIns="0" bIns="0" anchor="ctr">
            <a:noAutofit/>
          </a:bodyPr>
          <a:lstStyle/>
          <a:p>
            <a:pPr algn="ctr">
              <a:lnSpc>
                <a:spcPct val="118000"/>
              </a:lnSpc>
              <a:buNone/>
            </a:pPr>
            <a:r>
              <a:rPr sz="850" b="0" i="0">
                <a:solidFill>
                  <a:srgbClr val="3B5744"/>
                </a:solidFill>
                <a:latin typeface="JetBrains Mono"/>
                <a:ea typeface="JetBrains Mono"/>
                <a:cs typeface="JetBrains Mono"/>
              </a:rPr>
              <a:t>&lt;section&gt; ×14</a:t>
            </a:r>
          </a:p>
        </p:txBody>
      </p:sp>
      <p:sp>
        <p:nvSpPr>
          <p:cNvPr id="29" name="Rounded Rectangle 28"/>
          <p:cNvSpPr/>
          <p:nvPr/>
        </p:nvSpPr>
        <p:spPr>
          <a:xfrm>
            <a:off x="3718401" y="4398264"/>
            <a:ext cx="913583" cy="237744"/>
          </a:xfrm>
          <a:prstGeom prst="roundRect">
            <a:avLst>
              <a:gd name="adj" fmla="val 50000"/>
            </a:avLst>
          </a:prstGeom>
          <a:solidFill>
            <a:srgbClr val="E3E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3718401" y="4398264"/>
            <a:ext cx="913583" cy="237744"/>
          </a:xfrm>
          <a:prstGeom prst="rect">
            <a:avLst/>
          </a:prstGeom>
          <a:noFill/>
        </p:spPr>
        <p:txBody>
          <a:bodyPr wrap="square" lIns="0" tIns="0" rIns="0" bIns="0" anchor="ctr">
            <a:noAutofit/>
          </a:bodyPr>
          <a:lstStyle/>
          <a:p>
            <a:pPr algn="ctr">
              <a:lnSpc>
                <a:spcPct val="118000"/>
              </a:lnSpc>
              <a:buNone/>
            </a:pPr>
            <a:r>
              <a:rPr sz="850" b="0" i="0">
                <a:solidFill>
                  <a:srgbClr val="3B5744"/>
                </a:solidFill>
                <a:latin typeface="JetBrains Mono"/>
                <a:ea typeface="JetBrains Mono"/>
                <a:cs typeface="JetBrains Mono"/>
              </a:rPr>
              <a:t>no &lt;footer&gt;</a:t>
            </a:r>
          </a:p>
        </p:txBody>
      </p:sp>
      <p:sp>
        <p:nvSpPr>
          <p:cNvPr id="31" name="Rounded Rectangle 30"/>
          <p:cNvSpPr/>
          <p:nvPr/>
        </p:nvSpPr>
        <p:spPr>
          <a:xfrm>
            <a:off x="4705136" y="4398264"/>
            <a:ext cx="719288" cy="237744"/>
          </a:xfrm>
          <a:prstGeom prst="roundRect">
            <a:avLst>
              <a:gd name="adj" fmla="val 50000"/>
            </a:avLst>
          </a:prstGeom>
          <a:solidFill>
            <a:srgbClr val="E3E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4705136" y="4398264"/>
            <a:ext cx="719288" cy="237744"/>
          </a:xfrm>
          <a:prstGeom prst="rect">
            <a:avLst/>
          </a:prstGeom>
          <a:noFill/>
        </p:spPr>
        <p:txBody>
          <a:bodyPr wrap="square" lIns="0" tIns="0" rIns="0" bIns="0" anchor="ctr">
            <a:noAutofit/>
          </a:bodyPr>
          <a:lstStyle/>
          <a:p>
            <a:pPr algn="ctr">
              <a:lnSpc>
                <a:spcPct val="118000"/>
              </a:lnSpc>
              <a:buNone/>
            </a:pPr>
            <a:r>
              <a:rPr sz="850" b="0" i="0">
                <a:solidFill>
                  <a:srgbClr val="3B5744"/>
                </a:solidFill>
                <a:latin typeface="JetBrains Mono"/>
                <a:ea typeface="JetBrains Mono"/>
                <a:cs typeface="JetBrains Mono"/>
              </a:rPr>
              <a:t>alt text</a:t>
            </a:r>
          </a:p>
        </p:txBody>
      </p:sp>
      <p:sp>
        <p:nvSpPr>
          <p:cNvPr id="33" name="Rounded Rectangle 32"/>
          <p:cNvSpPr/>
          <p:nvPr/>
        </p:nvSpPr>
        <p:spPr>
          <a:xfrm>
            <a:off x="576072" y="4782312"/>
            <a:ext cx="5054818" cy="1563624"/>
          </a:xfrm>
          <a:prstGeom prst="roundRect">
            <a:avLst>
              <a:gd name="adj" fmla="val 3508"/>
            </a:avLst>
          </a:prstGeom>
          <a:solidFill>
            <a:srgbClr val="16201B">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4" name="Picture 33" descr="03859bed8875.jpg"/>
          <p:cNvPicPr>
            <a:picLocks noChangeAspect="1"/>
          </p:cNvPicPr>
          <p:nvPr/>
        </p:nvPicPr>
        <p:blipFill>
          <a:blip r:embed="rId4"/>
          <a:stretch>
            <a:fillRect/>
          </a:stretch>
        </p:blipFill>
        <p:spPr>
          <a:xfrm>
            <a:off x="548640" y="4745736"/>
            <a:ext cx="5054818" cy="1563624"/>
          </a:xfrm>
          <a:prstGeom prst="rect">
            <a:avLst/>
          </a:prstGeom>
        </p:spPr>
      </p:pic>
      <p:sp>
        <p:nvSpPr>
          <p:cNvPr id="35" name="TextBox 34"/>
          <p:cNvSpPr txBox="1"/>
          <p:nvPr/>
        </p:nvSpPr>
        <p:spPr>
          <a:xfrm>
            <a:off x="6278727" y="4069080"/>
            <a:ext cx="5364327" cy="280606"/>
          </a:xfrm>
          <a:prstGeom prst="rect">
            <a:avLst/>
          </a:prstGeom>
          <a:noFill/>
        </p:spPr>
        <p:txBody>
          <a:bodyPr wrap="square" lIns="0" tIns="0" rIns="0" bIns="0" anchor="t">
            <a:noAutofit/>
          </a:bodyPr>
          <a:lstStyle/>
          <a:p>
            <a:pPr algn="l">
              <a:lnSpc>
                <a:spcPct val="100000"/>
              </a:lnSpc>
              <a:buNone/>
            </a:pPr>
            <a:r>
              <a:rPr sz="1500" b="0" i="0">
                <a:solidFill>
                  <a:srgbClr val="16201B"/>
                </a:solidFill>
                <a:latin typeface="Fraunces"/>
                <a:ea typeface="Fraunces"/>
                <a:cs typeface="Fraunces"/>
              </a:rPr>
              <a:t>Meta Description →</a:t>
            </a:r>
          </a:p>
        </p:txBody>
      </p:sp>
      <p:sp>
        <p:nvSpPr>
          <p:cNvPr id="36" name="Rounded Rectangle 35"/>
          <p:cNvSpPr/>
          <p:nvPr/>
        </p:nvSpPr>
        <p:spPr>
          <a:xfrm>
            <a:off x="6278727" y="4379976"/>
            <a:ext cx="5364327" cy="698944"/>
          </a:xfrm>
          <a:prstGeom prst="roundRect">
            <a:avLst>
              <a:gd name="adj" fmla="val 7849"/>
            </a:avLst>
          </a:prstGeom>
          <a:solidFill>
            <a:srgbClr val="F3F0E5"/>
          </a:solidFill>
          <a:ln w="9525">
            <a:solidFill>
              <a:srgbClr val="E4E0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6361023" y="4462272"/>
            <a:ext cx="5199735" cy="580072"/>
          </a:xfrm>
          <a:prstGeom prst="rect">
            <a:avLst/>
          </a:prstGeom>
          <a:noFill/>
        </p:spPr>
        <p:txBody>
          <a:bodyPr wrap="square" lIns="0" tIns="0" rIns="0" bIns="0" anchor="t">
            <a:noAutofit/>
          </a:bodyPr>
          <a:lstStyle/>
          <a:p>
            <a:pPr algn="l">
              <a:lnSpc>
                <a:spcPct val="125000"/>
              </a:lnSpc>
              <a:buNone/>
            </a:pPr>
            <a:r>
              <a:rPr sz="850" b="0" i="0">
                <a:solidFill>
                  <a:srgbClr val="3B5744"/>
                </a:solidFill>
                <a:latin typeface="JetBrains Mono"/>
                <a:ea typeface="JetBrains Mono"/>
                <a:cs typeface="JetBrains Mono"/>
              </a:rPr>
              <a:t>Not present in the live page. Recommended: “JalNest by Orivyaa — a self-watering planter with a clear reservoir and a cotton wick that keeps plants watered for up to 21 days.”</a:t>
            </a:r>
          </a:p>
        </p:txBody>
      </p:sp>
      <p:sp>
        <p:nvSpPr>
          <p:cNvPr id="38" name="Rounded Rectangle 37"/>
          <p:cNvSpPr/>
          <p:nvPr/>
        </p:nvSpPr>
        <p:spPr>
          <a:xfrm>
            <a:off x="6306159" y="5206936"/>
            <a:ext cx="3918576" cy="1138999"/>
          </a:xfrm>
          <a:prstGeom prst="roundRect">
            <a:avLst>
              <a:gd name="adj" fmla="val 4816"/>
            </a:avLst>
          </a:prstGeom>
          <a:solidFill>
            <a:srgbClr val="16201B">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9" name="Picture 38" descr="4e79a92747ca.jpg"/>
          <p:cNvPicPr>
            <a:picLocks noChangeAspect="1"/>
          </p:cNvPicPr>
          <p:nvPr/>
        </p:nvPicPr>
        <p:blipFill>
          <a:blip r:embed="rId5"/>
          <a:stretch>
            <a:fillRect/>
          </a:stretch>
        </p:blipFill>
        <p:spPr>
          <a:xfrm>
            <a:off x="6278727" y="5170360"/>
            <a:ext cx="3918576" cy="113899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9F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5486400" cy="199851"/>
          </a:xfrm>
          <a:prstGeom prst="rect">
            <a:avLst/>
          </a:prstGeom>
          <a:noFill/>
        </p:spPr>
        <p:txBody>
          <a:bodyPr wrap="square" lIns="0" tIns="0" rIns="0" bIns="0" anchor="t">
            <a:noAutofit/>
          </a:bodyPr>
          <a:lstStyle/>
          <a:p>
            <a:pPr algn="l">
              <a:lnSpc>
                <a:spcPct val="118000"/>
              </a:lnSpc>
              <a:buNone/>
            </a:pPr>
            <a:r>
              <a:rPr sz="850" b="0" i="0" spc="140">
                <a:solidFill>
                  <a:srgbClr val="5C7A63"/>
                </a:solidFill>
                <a:latin typeface="Inter SemiBold"/>
                <a:ea typeface="Inter SemiBold"/>
                <a:cs typeface="Inter SemiBold"/>
              </a:rPr>
              <a:t>DIGITAL MARKETING  ·  ASSIGNMENT FOLIO</a:t>
            </a:r>
          </a:p>
        </p:txBody>
      </p:sp>
      <p:sp>
        <p:nvSpPr>
          <p:cNvPr id="3" name="TextBox 2"/>
          <p:cNvSpPr txBox="1"/>
          <p:nvPr/>
        </p:nvSpPr>
        <p:spPr>
          <a:xfrm>
            <a:off x="7071055" y="384048"/>
            <a:ext cx="4572000" cy="199851"/>
          </a:xfrm>
          <a:prstGeom prst="rect">
            <a:avLst/>
          </a:prstGeom>
          <a:noFill/>
        </p:spPr>
        <p:txBody>
          <a:bodyPr wrap="square" lIns="0" tIns="0" rIns="0" bIns="0" anchor="t">
            <a:noAutofit/>
          </a:bodyPr>
          <a:lstStyle/>
          <a:p>
            <a:pPr algn="r">
              <a:lnSpc>
                <a:spcPct val="118000"/>
              </a:lnSpc>
              <a:buNone/>
            </a:pPr>
            <a:r>
              <a:rPr sz="850" b="0" i="0" spc="140">
                <a:solidFill>
                  <a:srgbClr val="7F8A83"/>
                </a:solidFill>
                <a:latin typeface="Inter SemiBold"/>
                <a:ea typeface="Inter SemiBold"/>
                <a:cs typeface="Inter SemiBold"/>
              </a:rPr>
              <a:t>ON-PAGE SEO · HEADINGS</a:t>
            </a:r>
          </a:p>
        </p:txBody>
      </p:sp>
      <p:sp>
        <p:nvSpPr>
          <p:cNvPr id="4" name="Rectangle 3"/>
          <p:cNvSpPr/>
          <p:nvPr/>
        </p:nvSpPr>
        <p:spPr>
          <a:xfrm>
            <a:off x="548640" y="6377749"/>
            <a:ext cx="11094415"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640" y="6455664"/>
            <a:ext cx="7315200" cy="190784"/>
          </a:xfrm>
          <a:prstGeom prst="rect">
            <a:avLst/>
          </a:prstGeom>
          <a:noFill/>
        </p:spPr>
        <p:txBody>
          <a:bodyPr wrap="square" lIns="0" tIns="0" rIns="0" bIns="0" anchor="t">
            <a:noAutofit/>
          </a:bodyPr>
          <a:lstStyle/>
          <a:p>
            <a:pPr algn="l">
              <a:lnSpc>
                <a:spcPct val="118000"/>
              </a:lnSpc>
              <a:buNone/>
            </a:pPr>
            <a:r>
              <a:rPr sz="800" b="0" i="0">
                <a:solidFill>
                  <a:srgbClr val="7F8A83"/>
                </a:solidFill>
                <a:latin typeface="Inter"/>
                <a:ea typeface="Inter"/>
                <a:cs typeface="Inter"/>
              </a:rPr>
              <a:t>SEO for JalNest  —  Digital Marketing Assignment</a:t>
            </a:r>
          </a:p>
        </p:txBody>
      </p:sp>
      <p:sp>
        <p:nvSpPr>
          <p:cNvPr id="6" name="TextBox 5"/>
          <p:cNvSpPr txBox="1"/>
          <p:nvPr/>
        </p:nvSpPr>
        <p:spPr>
          <a:xfrm>
            <a:off x="8899855" y="6455664"/>
            <a:ext cx="2743200" cy="190784"/>
          </a:xfrm>
          <a:prstGeom prst="rect">
            <a:avLst/>
          </a:prstGeom>
          <a:noFill/>
        </p:spPr>
        <p:txBody>
          <a:bodyPr wrap="square" lIns="0" tIns="0" rIns="0" bIns="0" anchor="t">
            <a:noAutofit/>
          </a:bodyPr>
          <a:lstStyle/>
          <a:p>
            <a:pPr algn="r">
              <a:lnSpc>
                <a:spcPct val="118000"/>
              </a:lnSpc>
              <a:buNone/>
            </a:pPr>
            <a:r>
              <a:rPr sz="800" b="0" i="0">
                <a:solidFill>
                  <a:srgbClr val="7F8A83"/>
                </a:solidFill>
                <a:latin typeface="Inter"/>
                <a:ea typeface="Inter"/>
                <a:cs typeface="Inter"/>
              </a:rPr>
              <a:t>Session 2026–27   ·   09 / 18</a:t>
            </a:r>
          </a:p>
        </p:txBody>
      </p:sp>
      <p:sp>
        <p:nvSpPr>
          <p:cNvPr id="7" name="TextBox 6"/>
          <p:cNvSpPr txBox="1"/>
          <p:nvPr/>
        </p:nvSpPr>
        <p:spPr>
          <a:xfrm>
            <a:off x="548640" y="841248"/>
            <a:ext cx="5486400" cy="556833"/>
          </a:xfrm>
          <a:prstGeom prst="rect">
            <a:avLst/>
          </a:prstGeom>
          <a:noFill/>
        </p:spPr>
        <p:txBody>
          <a:bodyPr wrap="square" lIns="0" tIns="0" rIns="0" bIns="0" anchor="t">
            <a:noAutofit/>
          </a:bodyPr>
          <a:lstStyle/>
          <a:p>
            <a:pPr algn="l">
              <a:lnSpc>
                <a:spcPct val="102000"/>
              </a:lnSpc>
              <a:buNone/>
            </a:pPr>
            <a:r>
              <a:rPr sz="3200" b="0" i="0">
                <a:solidFill>
                  <a:srgbClr val="16201B"/>
                </a:solidFill>
                <a:latin typeface="Fraunces"/>
                <a:ea typeface="Fraunces"/>
                <a:cs typeface="Fraunces"/>
              </a:rPr>
              <a:t>Heading </a:t>
            </a:r>
            <a:r>
              <a:rPr sz="3200" b="0" i="1">
                <a:solidFill>
                  <a:srgbClr val="B8663C"/>
                </a:solidFill>
                <a:latin typeface="Fraunces"/>
                <a:ea typeface="Fraunces"/>
                <a:cs typeface="Fraunces"/>
              </a:rPr>
              <a:t>Hierarchy</a:t>
            </a:r>
          </a:p>
        </p:txBody>
      </p:sp>
      <p:sp>
        <p:nvSpPr>
          <p:cNvPr id="8" name="TextBox 7"/>
          <p:cNvSpPr txBox="1"/>
          <p:nvPr/>
        </p:nvSpPr>
        <p:spPr>
          <a:xfrm>
            <a:off x="6400800" y="914400"/>
            <a:ext cx="5242255" cy="481374"/>
          </a:xfrm>
          <a:prstGeom prst="rect">
            <a:avLst/>
          </a:prstGeom>
          <a:noFill/>
        </p:spPr>
        <p:txBody>
          <a:bodyPr wrap="square" lIns="0" tIns="0" rIns="0" bIns="0" anchor="t">
            <a:noAutofit/>
          </a:bodyPr>
          <a:lstStyle/>
          <a:p>
            <a:pPr algn="r">
              <a:lnSpc>
                <a:spcPct val="135000"/>
              </a:lnSpc>
              <a:buNone/>
            </a:pPr>
            <a:r>
              <a:rPr sz="1050" b="0" i="0">
                <a:solidFill>
                  <a:srgbClr val="7F8A83"/>
                </a:solidFill>
                <a:latin typeface="Inter"/>
                <a:ea typeface="Inter"/>
                <a:cs typeface="Inter"/>
              </a:rPr>
              <a:t>One H1 with the primary keyword, H2s for each section and H3s for supporting points — the same outline Google uses to understand the page.</a:t>
            </a:r>
          </a:p>
        </p:txBody>
      </p:sp>
      <p:sp>
        <p:nvSpPr>
          <p:cNvPr id="9" name="Rounded Rectangle 8"/>
          <p:cNvSpPr/>
          <p:nvPr/>
        </p:nvSpPr>
        <p:spPr>
          <a:xfrm>
            <a:off x="548640" y="1600200"/>
            <a:ext cx="457200" cy="274320"/>
          </a:xfrm>
          <a:prstGeom prst="roundRect">
            <a:avLst>
              <a:gd name="adj" fmla="val 16666"/>
            </a:avLst>
          </a:prstGeom>
          <a:solidFill>
            <a:srgbClr val="B86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1600200"/>
            <a:ext cx="457200" cy="274320"/>
          </a:xfrm>
          <a:prstGeom prst="rect">
            <a:avLst/>
          </a:prstGeom>
          <a:noFill/>
        </p:spPr>
        <p:txBody>
          <a:bodyPr wrap="square" lIns="0" tIns="0" rIns="0" bIns="0" anchor="ctr">
            <a:noAutofit/>
          </a:bodyPr>
          <a:lstStyle/>
          <a:p>
            <a:pPr algn="ctr">
              <a:lnSpc>
                <a:spcPct val="118000"/>
              </a:lnSpc>
              <a:buNone/>
            </a:pPr>
            <a:r>
              <a:rPr sz="1000" b="0" i="0">
                <a:solidFill>
                  <a:srgbClr val="FFFFFF"/>
                </a:solidFill>
                <a:latin typeface="Inter SemiBold"/>
                <a:ea typeface="Inter SemiBold"/>
                <a:cs typeface="Inter SemiBold"/>
              </a:rPr>
              <a:t>H1</a:t>
            </a:r>
          </a:p>
        </p:txBody>
      </p:sp>
      <p:sp>
        <p:nvSpPr>
          <p:cNvPr id="11" name="TextBox 10"/>
          <p:cNvSpPr txBox="1"/>
          <p:nvPr/>
        </p:nvSpPr>
        <p:spPr>
          <a:xfrm>
            <a:off x="1115568" y="1581912"/>
            <a:ext cx="2948330" cy="292350"/>
          </a:xfrm>
          <a:prstGeom prst="rect">
            <a:avLst/>
          </a:prstGeom>
          <a:noFill/>
        </p:spPr>
        <p:txBody>
          <a:bodyPr wrap="square" lIns="0" tIns="0" rIns="0" bIns="0" anchor="t">
            <a:noAutofit/>
          </a:bodyPr>
          <a:lstStyle/>
          <a:p>
            <a:pPr algn="l">
              <a:lnSpc>
                <a:spcPct val="105000"/>
              </a:lnSpc>
              <a:buNone/>
            </a:pPr>
            <a:r>
              <a:rPr sz="1500" b="0" i="0">
                <a:solidFill>
                  <a:srgbClr val="16201B"/>
                </a:solidFill>
                <a:latin typeface="Fraunces"/>
                <a:ea typeface="Fraunces"/>
                <a:cs typeface="Fraunces"/>
              </a:rPr>
              <a:t>13 found · only 1 needed</a:t>
            </a:r>
          </a:p>
        </p:txBody>
      </p:sp>
      <p:sp>
        <p:nvSpPr>
          <p:cNvPr id="12" name="TextBox 11"/>
          <p:cNvSpPr txBox="1"/>
          <p:nvPr/>
        </p:nvSpPr>
        <p:spPr>
          <a:xfrm>
            <a:off x="548640" y="2057400"/>
            <a:ext cx="3515258" cy="645033"/>
          </a:xfrm>
          <a:prstGeom prst="rect">
            <a:avLst/>
          </a:prstGeom>
          <a:noFill/>
        </p:spPr>
        <p:txBody>
          <a:bodyPr wrap="square" lIns="0" tIns="0" rIns="0" bIns="0" anchor="t">
            <a:noAutofit/>
          </a:bodyPr>
          <a:lstStyle/>
          <a:p>
            <a:pPr algn="l">
              <a:lnSpc>
                <a:spcPct val="130000"/>
              </a:lnSpc>
              <a:buNone/>
            </a:pPr>
            <a:r>
              <a:rPr sz="1000" b="0" i="0">
                <a:solidFill>
                  <a:srgbClr val="4A5751"/>
                </a:solidFill>
                <a:latin typeface="Inter"/>
                <a:ea typeface="Inter"/>
                <a:cs typeface="Inter"/>
              </a:rPr>
              <a:t>The hero line deserves H1. The remaining twelve H1 tags (section openers, finish names, price blocks) should become H2 or H3.</a:t>
            </a:r>
          </a:p>
        </p:txBody>
      </p:sp>
      <p:sp>
        <p:nvSpPr>
          <p:cNvPr id="13" name="Rounded Rectangle 12"/>
          <p:cNvSpPr/>
          <p:nvPr/>
        </p:nvSpPr>
        <p:spPr>
          <a:xfrm>
            <a:off x="576072" y="2821305"/>
            <a:ext cx="3515258" cy="2102645"/>
          </a:xfrm>
          <a:prstGeom prst="roundRect">
            <a:avLst>
              <a:gd name="adj" fmla="val 2609"/>
            </a:avLst>
          </a:prstGeom>
          <a:solidFill>
            <a:srgbClr val="16201B">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79bba43d5b35.jpg"/>
          <p:cNvPicPr>
            <a:picLocks noChangeAspect="1"/>
          </p:cNvPicPr>
          <p:nvPr/>
        </p:nvPicPr>
        <p:blipFill>
          <a:blip r:embed="rId2"/>
          <a:stretch>
            <a:fillRect/>
          </a:stretch>
        </p:blipFill>
        <p:spPr>
          <a:xfrm>
            <a:off x="548640" y="2784729"/>
            <a:ext cx="3515258" cy="2102645"/>
          </a:xfrm>
          <a:prstGeom prst="rect">
            <a:avLst/>
          </a:prstGeom>
        </p:spPr>
      </p:pic>
      <p:sp>
        <p:nvSpPr>
          <p:cNvPr id="15" name="Rounded Rectangle 14"/>
          <p:cNvSpPr/>
          <p:nvPr/>
        </p:nvSpPr>
        <p:spPr>
          <a:xfrm>
            <a:off x="548640" y="5070254"/>
            <a:ext cx="3515258" cy="641527"/>
          </a:xfrm>
          <a:prstGeom prst="roundRect">
            <a:avLst>
              <a:gd name="adj" fmla="val 11402"/>
            </a:avLst>
          </a:prstGeom>
          <a:solidFill>
            <a:srgbClr val="F3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94944" y="5161694"/>
            <a:ext cx="3515258" cy="181717"/>
          </a:xfrm>
          <a:prstGeom prst="rect">
            <a:avLst/>
          </a:prstGeom>
          <a:noFill/>
        </p:spPr>
        <p:txBody>
          <a:bodyPr wrap="square" lIns="0" tIns="0" rIns="0" bIns="0" anchor="t">
            <a:noAutofit/>
          </a:bodyPr>
          <a:lstStyle/>
          <a:p>
            <a:pPr algn="l">
              <a:lnSpc>
                <a:spcPct val="118000"/>
              </a:lnSpc>
              <a:buNone/>
            </a:pPr>
            <a:r>
              <a:rPr sz="750" b="0" i="0" spc="140">
                <a:solidFill>
                  <a:srgbClr val="7F8A83"/>
                </a:solidFill>
                <a:latin typeface="Inter SemiBold"/>
                <a:ea typeface="Inter SemiBold"/>
                <a:cs typeface="Inter SemiBold"/>
              </a:rPr>
              <a:t>ON THE ORIVYAA PAGE</a:t>
            </a:r>
          </a:p>
        </p:txBody>
      </p:sp>
      <p:sp>
        <p:nvSpPr>
          <p:cNvPr id="17" name="Rectangle 16"/>
          <p:cNvSpPr/>
          <p:nvPr/>
        </p:nvSpPr>
        <p:spPr>
          <a:xfrm>
            <a:off x="694944" y="5463446"/>
            <a:ext cx="73152" cy="73152"/>
          </a:xfrm>
          <a:prstGeom prst="rect">
            <a:avLst/>
          </a:prstGeom>
          <a:solidFill>
            <a:srgbClr val="B86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59536" y="5399438"/>
            <a:ext cx="3058058" cy="220903"/>
          </a:xfrm>
          <a:prstGeom prst="rect">
            <a:avLst/>
          </a:prstGeom>
          <a:noFill/>
        </p:spPr>
        <p:txBody>
          <a:bodyPr wrap="square" lIns="0" tIns="0" rIns="0" bIns="0" anchor="t">
            <a:noAutofit/>
          </a:bodyPr>
          <a:lstStyle/>
          <a:p>
            <a:pPr algn="l">
              <a:lnSpc>
                <a:spcPct val="120000"/>
              </a:lnSpc>
              <a:buNone/>
            </a:pPr>
            <a:r>
              <a:rPr sz="950" b="0" i="0">
                <a:solidFill>
                  <a:srgbClr val="16201B"/>
                </a:solidFill>
                <a:latin typeface="Inter"/>
                <a:ea typeface="Inter"/>
                <a:cs typeface="Inter"/>
              </a:rPr>
              <a:t>A smarter little home for every plant.</a:t>
            </a:r>
          </a:p>
        </p:txBody>
      </p:sp>
      <p:sp>
        <p:nvSpPr>
          <p:cNvPr id="19" name="Rounded Rectangle 18"/>
          <p:cNvSpPr/>
          <p:nvPr/>
        </p:nvSpPr>
        <p:spPr>
          <a:xfrm>
            <a:off x="4338218" y="1600200"/>
            <a:ext cx="457200" cy="274320"/>
          </a:xfrm>
          <a:prstGeom prst="roundRect">
            <a:avLst>
              <a:gd name="adj" fmla="val 16666"/>
            </a:avLst>
          </a:prstGeom>
          <a:solidFill>
            <a:srgbClr val="3B5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4338218" y="1600200"/>
            <a:ext cx="457200" cy="274320"/>
          </a:xfrm>
          <a:prstGeom prst="rect">
            <a:avLst/>
          </a:prstGeom>
          <a:noFill/>
        </p:spPr>
        <p:txBody>
          <a:bodyPr wrap="square" lIns="0" tIns="0" rIns="0" bIns="0" anchor="ctr">
            <a:noAutofit/>
          </a:bodyPr>
          <a:lstStyle/>
          <a:p>
            <a:pPr algn="ctr">
              <a:lnSpc>
                <a:spcPct val="118000"/>
              </a:lnSpc>
              <a:buNone/>
            </a:pPr>
            <a:r>
              <a:rPr sz="1000" b="0" i="0">
                <a:solidFill>
                  <a:srgbClr val="FFFFFF"/>
                </a:solidFill>
                <a:latin typeface="Inter SemiBold"/>
                <a:ea typeface="Inter SemiBold"/>
                <a:cs typeface="Inter SemiBold"/>
              </a:rPr>
              <a:t>H2</a:t>
            </a:r>
          </a:p>
        </p:txBody>
      </p:sp>
      <p:sp>
        <p:nvSpPr>
          <p:cNvPr id="21" name="TextBox 20"/>
          <p:cNvSpPr txBox="1"/>
          <p:nvPr/>
        </p:nvSpPr>
        <p:spPr>
          <a:xfrm>
            <a:off x="4905146" y="1581912"/>
            <a:ext cx="2948330" cy="292350"/>
          </a:xfrm>
          <a:prstGeom prst="rect">
            <a:avLst/>
          </a:prstGeom>
          <a:noFill/>
        </p:spPr>
        <p:txBody>
          <a:bodyPr wrap="square" lIns="0" tIns="0" rIns="0" bIns="0" anchor="t">
            <a:noAutofit/>
          </a:bodyPr>
          <a:lstStyle/>
          <a:p>
            <a:pPr algn="l">
              <a:lnSpc>
                <a:spcPct val="105000"/>
              </a:lnSpc>
              <a:buNone/>
            </a:pPr>
            <a:r>
              <a:rPr sz="1500" b="0" i="0">
                <a:solidFill>
                  <a:srgbClr val="16201B"/>
                </a:solidFill>
                <a:latin typeface="Fraunces"/>
                <a:ea typeface="Fraunces"/>
                <a:cs typeface="Fraunces"/>
              </a:rPr>
              <a:t>14 found · sections + prices</a:t>
            </a:r>
          </a:p>
        </p:txBody>
      </p:sp>
      <p:sp>
        <p:nvSpPr>
          <p:cNvPr id="22" name="TextBox 21"/>
          <p:cNvSpPr txBox="1"/>
          <p:nvPr/>
        </p:nvSpPr>
        <p:spPr>
          <a:xfrm>
            <a:off x="4338218" y="2057400"/>
            <a:ext cx="3515258" cy="645033"/>
          </a:xfrm>
          <a:prstGeom prst="rect">
            <a:avLst/>
          </a:prstGeom>
          <a:noFill/>
        </p:spPr>
        <p:txBody>
          <a:bodyPr wrap="square" lIns="0" tIns="0" rIns="0" bIns="0" anchor="t">
            <a:noAutofit/>
          </a:bodyPr>
          <a:lstStyle/>
          <a:p>
            <a:pPr algn="l">
              <a:lnSpc>
                <a:spcPct val="130000"/>
              </a:lnSpc>
              <a:buNone/>
            </a:pPr>
            <a:r>
              <a:rPr sz="1000" b="0" i="0">
                <a:solidFill>
                  <a:srgbClr val="4A5751"/>
                </a:solidFill>
                <a:latin typeface="Inter"/>
                <a:ea typeface="Inter"/>
                <a:cs typeface="Inter"/>
              </a:rPr>
              <a:t>Sections like “HOW JALNEST WORKS” are correct — but the three price figures and the spec labels are also marked H2.</a:t>
            </a:r>
          </a:p>
        </p:txBody>
      </p:sp>
      <p:sp>
        <p:nvSpPr>
          <p:cNvPr id="23" name="Rounded Rectangle 22"/>
          <p:cNvSpPr/>
          <p:nvPr/>
        </p:nvSpPr>
        <p:spPr>
          <a:xfrm>
            <a:off x="4365650" y="2821305"/>
            <a:ext cx="3515258" cy="1835746"/>
          </a:xfrm>
          <a:prstGeom prst="roundRect">
            <a:avLst>
              <a:gd name="adj" fmla="val 2988"/>
            </a:avLst>
          </a:prstGeom>
          <a:solidFill>
            <a:srgbClr val="16201B">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4" name="Picture 23" descr="bebe958eacf8.jpg"/>
          <p:cNvPicPr>
            <a:picLocks noChangeAspect="1"/>
          </p:cNvPicPr>
          <p:nvPr/>
        </p:nvPicPr>
        <p:blipFill>
          <a:blip r:embed="rId3"/>
          <a:stretch>
            <a:fillRect/>
          </a:stretch>
        </p:blipFill>
        <p:spPr>
          <a:xfrm>
            <a:off x="4338218" y="2784729"/>
            <a:ext cx="3515258" cy="1835746"/>
          </a:xfrm>
          <a:prstGeom prst="rect">
            <a:avLst/>
          </a:prstGeom>
        </p:spPr>
      </p:pic>
      <p:sp>
        <p:nvSpPr>
          <p:cNvPr id="25" name="Rounded Rectangle 24"/>
          <p:cNvSpPr/>
          <p:nvPr/>
        </p:nvSpPr>
        <p:spPr>
          <a:xfrm>
            <a:off x="4338218" y="4803355"/>
            <a:ext cx="3515258" cy="1119911"/>
          </a:xfrm>
          <a:prstGeom prst="roundRect">
            <a:avLst>
              <a:gd name="adj" fmla="val 6531"/>
            </a:avLst>
          </a:prstGeom>
          <a:solidFill>
            <a:srgbClr val="F3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4484522" y="4894795"/>
            <a:ext cx="3515258" cy="181717"/>
          </a:xfrm>
          <a:prstGeom prst="rect">
            <a:avLst/>
          </a:prstGeom>
          <a:noFill/>
        </p:spPr>
        <p:txBody>
          <a:bodyPr wrap="square" lIns="0" tIns="0" rIns="0" bIns="0" anchor="t">
            <a:noAutofit/>
          </a:bodyPr>
          <a:lstStyle/>
          <a:p>
            <a:pPr algn="l">
              <a:lnSpc>
                <a:spcPct val="118000"/>
              </a:lnSpc>
              <a:buNone/>
            </a:pPr>
            <a:r>
              <a:rPr sz="750" b="0" i="0" spc="140">
                <a:solidFill>
                  <a:srgbClr val="7F8A83"/>
                </a:solidFill>
                <a:latin typeface="Inter SemiBold"/>
                <a:ea typeface="Inter SemiBold"/>
                <a:cs typeface="Inter SemiBold"/>
              </a:rPr>
              <a:t>ON THE ORIVYAA PAGE</a:t>
            </a:r>
          </a:p>
        </p:txBody>
      </p:sp>
      <p:sp>
        <p:nvSpPr>
          <p:cNvPr id="27" name="Rectangle 26"/>
          <p:cNvSpPr/>
          <p:nvPr/>
        </p:nvSpPr>
        <p:spPr>
          <a:xfrm>
            <a:off x="4484522" y="5196547"/>
            <a:ext cx="73152" cy="73152"/>
          </a:xfrm>
          <a:prstGeom prst="rect">
            <a:avLst/>
          </a:prstGeom>
          <a:solidFill>
            <a:srgbClr val="3B5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4649114" y="5132539"/>
            <a:ext cx="3058058" cy="220903"/>
          </a:xfrm>
          <a:prstGeom prst="rect">
            <a:avLst/>
          </a:prstGeom>
          <a:noFill/>
        </p:spPr>
        <p:txBody>
          <a:bodyPr wrap="square" lIns="0" tIns="0" rIns="0" bIns="0" anchor="t">
            <a:noAutofit/>
          </a:bodyPr>
          <a:lstStyle/>
          <a:p>
            <a:pPr algn="l">
              <a:lnSpc>
                <a:spcPct val="120000"/>
              </a:lnSpc>
              <a:buNone/>
            </a:pPr>
            <a:r>
              <a:rPr sz="950" b="0" i="0">
                <a:solidFill>
                  <a:srgbClr val="16201B"/>
                </a:solidFill>
                <a:latin typeface="Inter"/>
                <a:ea typeface="Inter"/>
                <a:cs typeface="Inter"/>
              </a:rPr>
              <a:t>HOW JALNEST WORKS</a:t>
            </a:r>
          </a:p>
        </p:txBody>
      </p:sp>
      <p:sp>
        <p:nvSpPr>
          <p:cNvPr id="29" name="Rectangle 28"/>
          <p:cNvSpPr/>
          <p:nvPr/>
        </p:nvSpPr>
        <p:spPr>
          <a:xfrm>
            <a:off x="4484522" y="5435738"/>
            <a:ext cx="73152" cy="73152"/>
          </a:xfrm>
          <a:prstGeom prst="rect">
            <a:avLst/>
          </a:prstGeom>
          <a:solidFill>
            <a:srgbClr val="3B5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4649114" y="5371730"/>
            <a:ext cx="3058058" cy="220903"/>
          </a:xfrm>
          <a:prstGeom prst="rect">
            <a:avLst/>
          </a:prstGeom>
          <a:noFill/>
        </p:spPr>
        <p:txBody>
          <a:bodyPr wrap="square" lIns="0" tIns="0" rIns="0" bIns="0" anchor="t">
            <a:noAutofit/>
          </a:bodyPr>
          <a:lstStyle/>
          <a:p>
            <a:pPr algn="l">
              <a:lnSpc>
                <a:spcPct val="120000"/>
              </a:lnSpc>
              <a:buNone/>
            </a:pPr>
            <a:r>
              <a:rPr sz="950" b="0" i="0">
                <a:solidFill>
                  <a:srgbClr val="16201B"/>
                </a:solidFill>
                <a:latin typeface="Inter"/>
                <a:ea typeface="Inter"/>
                <a:cs typeface="Inter"/>
              </a:rPr>
              <a:t>Reservoir → wick → roots</a:t>
            </a:r>
          </a:p>
        </p:txBody>
      </p:sp>
      <p:sp>
        <p:nvSpPr>
          <p:cNvPr id="31" name="Rectangle 30"/>
          <p:cNvSpPr/>
          <p:nvPr/>
        </p:nvSpPr>
        <p:spPr>
          <a:xfrm>
            <a:off x="4484522" y="5674930"/>
            <a:ext cx="73152" cy="73152"/>
          </a:xfrm>
          <a:prstGeom prst="rect">
            <a:avLst/>
          </a:prstGeom>
          <a:solidFill>
            <a:srgbClr val="3B5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4649114" y="5610922"/>
            <a:ext cx="3058058" cy="220903"/>
          </a:xfrm>
          <a:prstGeom prst="rect">
            <a:avLst/>
          </a:prstGeom>
          <a:noFill/>
        </p:spPr>
        <p:txBody>
          <a:bodyPr wrap="square" lIns="0" tIns="0" rIns="0" bIns="0" anchor="t">
            <a:noAutofit/>
          </a:bodyPr>
          <a:lstStyle/>
          <a:p>
            <a:pPr algn="l">
              <a:lnSpc>
                <a:spcPct val="120000"/>
              </a:lnSpc>
              <a:buNone/>
            </a:pPr>
            <a:r>
              <a:rPr sz="950" b="0" i="0">
                <a:solidFill>
                  <a:srgbClr val="16201B"/>
                </a:solidFill>
                <a:latin typeface="Inter"/>
                <a:ea typeface="Inter"/>
                <a:cs typeface="Inter"/>
              </a:rPr>
              <a:t>JALNEST  /  CLASSIC</a:t>
            </a:r>
          </a:p>
        </p:txBody>
      </p:sp>
      <p:sp>
        <p:nvSpPr>
          <p:cNvPr id="33" name="Rounded Rectangle 32"/>
          <p:cNvSpPr/>
          <p:nvPr/>
        </p:nvSpPr>
        <p:spPr>
          <a:xfrm>
            <a:off x="8127796" y="1600200"/>
            <a:ext cx="457200" cy="274320"/>
          </a:xfrm>
          <a:prstGeom prst="roundRect">
            <a:avLst>
              <a:gd name="adj" fmla="val 16666"/>
            </a:avLst>
          </a:prstGeom>
          <a:solidFill>
            <a:srgbClr val="A88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8127796" y="1600200"/>
            <a:ext cx="457200" cy="274320"/>
          </a:xfrm>
          <a:prstGeom prst="rect">
            <a:avLst/>
          </a:prstGeom>
          <a:noFill/>
        </p:spPr>
        <p:txBody>
          <a:bodyPr wrap="square" lIns="0" tIns="0" rIns="0" bIns="0" anchor="ctr">
            <a:noAutofit/>
          </a:bodyPr>
          <a:lstStyle/>
          <a:p>
            <a:pPr algn="ctr">
              <a:lnSpc>
                <a:spcPct val="118000"/>
              </a:lnSpc>
              <a:buNone/>
            </a:pPr>
            <a:r>
              <a:rPr sz="1000" b="0" i="0">
                <a:solidFill>
                  <a:srgbClr val="FFFFFF"/>
                </a:solidFill>
                <a:latin typeface="Inter SemiBold"/>
                <a:ea typeface="Inter SemiBold"/>
                <a:cs typeface="Inter SemiBold"/>
              </a:rPr>
              <a:t>H3</a:t>
            </a:r>
          </a:p>
        </p:txBody>
      </p:sp>
      <p:sp>
        <p:nvSpPr>
          <p:cNvPr id="35" name="TextBox 34"/>
          <p:cNvSpPr txBox="1"/>
          <p:nvPr/>
        </p:nvSpPr>
        <p:spPr>
          <a:xfrm>
            <a:off x="8694724" y="1581912"/>
            <a:ext cx="2948330" cy="292350"/>
          </a:xfrm>
          <a:prstGeom prst="rect">
            <a:avLst/>
          </a:prstGeom>
          <a:noFill/>
        </p:spPr>
        <p:txBody>
          <a:bodyPr wrap="square" lIns="0" tIns="0" rIns="0" bIns="0" anchor="t">
            <a:noAutofit/>
          </a:bodyPr>
          <a:lstStyle/>
          <a:p>
            <a:pPr algn="l">
              <a:lnSpc>
                <a:spcPct val="105000"/>
              </a:lnSpc>
              <a:buNone/>
            </a:pPr>
            <a:r>
              <a:rPr sz="1500" b="0" i="0">
                <a:solidFill>
                  <a:srgbClr val="16201B"/>
                </a:solidFill>
                <a:latin typeface="Fraunces"/>
                <a:ea typeface="Fraunces"/>
                <a:cs typeface="Fraunces"/>
              </a:rPr>
              <a:t>1 found · room for more</a:t>
            </a:r>
          </a:p>
        </p:txBody>
      </p:sp>
      <p:sp>
        <p:nvSpPr>
          <p:cNvPr id="36" name="TextBox 35"/>
          <p:cNvSpPr txBox="1"/>
          <p:nvPr/>
        </p:nvSpPr>
        <p:spPr>
          <a:xfrm>
            <a:off x="8127796" y="2057400"/>
            <a:ext cx="3515258" cy="445262"/>
          </a:xfrm>
          <a:prstGeom prst="rect">
            <a:avLst/>
          </a:prstGeom>
          <a:noFill/>
        </p:spPr>
        <p:txBody>
          <a:bodyPr wrap="square" lIns="0" tIns="0" rIns="0" bIns="0" anchor="t">
            <a:noAutofit/>
          </a:bodyPr>
          <a:lstStyle/>
          <a:p>
            <a:pPr algn="l">
              <a:lnSpc>
                <a:spcPct val="130000"/>
              </a:lnSpc>
              <a:buNone/>
            </a:pPr>
            <a:r>
              <a:rPr sz="1000" b="0" i="0">
                <a:solidFill>
                  <a:srgbClr val="4A5751"/>
                </a:solidFill>
                <a:latin typeface="Inter"/>
                <a:ea typeface="Inter"/>
                <a:cs typeface="Inter"/>
              </a:rPr>
              <a:t>Supporting points have no heading level at all. The four setup steps and each FAQ question belong here.</a:t>
            </a:r>
          </a:p>
        </p:txBody>
      </p:sp>
      <p:sp>
        <p:nvSpPr>
          <p:cNvPr id="37" name="Rounded Rectangle 36"/>
          <p:cNvSpPr/>
          <p:nvPr/>
        </p:nvSpPr>
        <p:spPr>
          <a:xfrm>
            <a:off x="8155228" y="2621534"/>
            <a:ext cx="3515258" cy="1702296"/>
          </a:xfrm>
          <a:prstGeom prst="roundRect">
            <a:avLst>
              <a:gd name="adj" fmla="val 3222"/>
            </a:avLst>
          </a:prstGeom>
          <a:solidFill>
            <a:srgbClr val="16201B">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8" name="Picture 37" descr="b93a326e1332.jpg"/>
          <p:cNvPicPr>
            <a:picLocks noChangeAspect="1"/>
          </p:cNvPicPr>
          <p:nvPr/>
        </p:nvPicPr>
        <p:blipFill>
          <a:blip r:embed="rId4"/>
          <a:stretch>
            <a:fillRect/>
          </a:stretch>
        </p:blipFill>
        <p:spPr>
          <a:xfrm>
            <a:off x="8127796" y="2584958"/>
            <a:ext cx="3515258" cy="1702296"/>
          </a:xfrm>
          <a:prstGeom prst="rect">
            <a:avLst/>
          </a:prstGeom>
        </p:spPr>
      </p:pic>
      <p:sp>
        <p:nvSpPr>
          <p:cNvPr id="39" name="Rounded Rectangle 38"/>
          <p:cNvSpPr/>
          <p:nvPr/>
        </p:nvSpPr>
        <p:spPr>
          <a:xfrm>
            <a:off x="8127796" y="4470134"/>
            <a:ext cx="3515258" cy="1119911"/>
          </a:xfrm>
          <a:prstGeom prst="roundRect">
            <a:avLst>
              <a:gd name="adj" fmla="val 6531"/>
            </a:avLst>
          </a:prstGeom>
          <a:solidFill>
            <a:srgbClr val="F3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8274100" y="4561574"/>
            <a:ext cx="3515258" cy="181717"/>
          </a:xfrm>
          <a:prstGeom prst="rect">
            <a:avLst/>
          </a:prstGeom>
          <a:noFill/>
        </p:spPr>
        <p:txBody>
          <a:bodyPr wrap="square" lIns="0" tIns="0" rIns="0" bIns="0" anchor="t">
            <a:noAutofit/>
          </a:bodyPr>
          <a:lstStyle/>
          <a:p>
            <a:pPr algn="l">
              <a:lnSpc>
                <a:spcPct val="118000"/>
              </a:lnSpc>
              <a:buNone/>
            </a:pPr>
            <a:r>
              <a:rPr sz="750" b="0" i="0" spc="140">
                <a:solidFill>
                  <a:srgbClr val="7F8A83"/>
                </a:solidFill>
                <a:latin typeface="Inter SemiBold"/>
                <a:ea typeface="Inter SemiBold"/>
                <a:cs typeface="Inter SemiBold"/>
              </a:rPr>
              <a:t>ON THE ORIVYAA PAGE</a:t>
            </a:r>
          </a:p>
        </p:txBody>
      </p:sp>
      <p:sp>
        <p:nvSpPr>
          <p:cNvPr id="41" name="Rectangle 40"/>
          <p:cNvSpPr/>
          <p:nvPr/>
        </p:nvSpPr>
        <p:spPr>
          <a:xfrm>
            <a:off x="8274100" y="4863326"/>
            <a:ext cx="73152" cy="73152"/>
          </a:xfrm>
          <a:prstGeom prst="rect">
            <a:avLst/>
          </a:prstGeom>
          <a:solidFill>
            <a:srgbClr val="A88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8438692" y="4799318"/>
            <a:ext cx="3058058" cy="220903"/>
          </a:xfrm>
          <a:prstGeom prst="rect">
            <a:avLst/>
          </a:prstGeom>
          <a:noFill/>
        </p:spPr>
        <p:txBody>
          <a:bodyPr wrap="square" lIns="0" tIns="0" rIns="0" bIns="0" anchor="t">
            <a:noAutofit/>
          </a:bodyPr>
          <a:lstStyle/>
          <a:p>
            <a:pPr algn="l">
              <a:lnSpc>
                <a:spcPct val="120000"/>
              </a:lnSpc>
              <a:buNone/>
            </a:pPr>
            <a:r>
              <a:rPr sz="950" b="0" i="0">
                <a:solidFill>
                  <a:srgbClr val="16201B"/>
                </a:solidFill>
                <a:latin typeface="Inter"/>
                <a:ea typeface="Inter"/>
                <a:cs typeface="Inter"/>
              </a:rPr>
              <a:t>See the system from the inside.</a:t>
            </a:r>
          </a:p>
        </p:txBody>
      </p:sp>
      <p:sp>
        <p:nvSpPr>
          <p:cNvPr id="43" name="Rectangle 42"/>
          <p:cNvSpPr/>
          <p:nvPr/>
        </p:nvSpPr>
        <p:spPr>
          <a:xfrm>
            <a:off x="8274100" y="5102518"/>
            <a:ext cx="73152" cy="73152"/>
          </a:xfrm>
          <a:prstGeom prst="rect">
            <a:avLst/>
          </a:prstGeom>
          <a:solidFill>
            <a:srgbClr val="A88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8438692" y="5038510"/>
            <a:ext cx="3058058" cy="220903"/>
          </a:xfrm>
          <a:prstGeom prst="rect">
            <a:avLst/>
          </a:prstGeom>
          <a:noFill/>
        </p:spPr>
        <p:txBody>
          <a:bodyPr wrap="square" lIns="0" tIns="0" rIns="0" bIns="0" anchor="t">
            <a:noAutofit/>
          </a:bodyPr>
          <a:lstStyle/>
          <a:p>
            <a:pPr algn="l">
              <a:lnSpc>
                <a:spcPct val="120000"/>
              </a:lnSpc>
              <a:buNone/>
            </a:pPr>
            <a:r>
              <a:rPr sz="950" b="0" i="0">
                <a:solidFill>
                  <a:srgbClr val="16201B"/>
                </a:solidFill>
                <a:latin typeface="Inter"/>
                <a:ea typeface="Inter"/>
                <a:cs typeface="Inter"/>
              </a:rPr>
              <a:t>Fill the reservoir</a:t>
            </a:r>
          </a:p>
        </p:txBody>
      </p:sp>
      <p:sp>
        <p:nvSpPr>
          <p:cNvPr id="45" name="Rectangle 44"/>
          <p:cNvSpPr/>
          <p:nvPr/>
        </p:nvSpPr>
        <p:spPr>
          <a:xfrm>
            <a:off x="8274100" y="5341710"/>
            <a:ext cx="73152" cy="73152"/>
          </a:xfrm>
          <a:prstGeom prst="rect">
            <a:avLst/>
          </a:prstGeom>
          <a:solidFill>
            <a:srgbClr val="A88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8438692" y="5277702"/>
            <a:ext cx="3058058" cy="220903"/>
          </a:xfrm>
          <a:prstGeom prst="rect">
            <a:avLst/>
          </a:prstGeom>
          <a:noFill/>
        </p:spPr>
        <p:txBody>
          <a:bodyPr wrap="square" lIns="0" tIns="0" rIns="0" bIns="0" anchor="t">
            <a:noAutofit/>
          </a:bodyPr>
          <a:lstStyle/>
          <a:p>
            <a:pPr algn="l">
              <a:lnSpc>
                <a:spcPct val="120000"/>
              </a:lnSpc>
              <a:buNone/>
            </a:pPr>
            <a:r>
              <a:rPr sz="950" b="0" i="0">
                <a:solidFill>
                  <a:srgbClr val="16201B"/>
                </a:solidFill>
                <a:latin typeface="Inter"/>
                <a:ea typeface="Inter"/>
                <a:cs typeface="Inter"/>
              </a:rPr>
              <a:t>Let the wick draw water upward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9F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5486400" cy="199851"/>
          </a:xfrm>
          <a:prstGeom prst="rect">
            <a:avLst/>
          </a:prstGeom>
          <a:noFill/>
        </p:spPr>
        <p:txBody>
          <a:bodyPr wrap="square" lIns="0" tIns="0" rIns="0" bIns="0" anchor="t">
            <a:noAutofit/>
          </a:bodyPr>
          <a:lstStyle/>
          <a:p>
            <a:pPr algn="l">
              <a:lnSpc>
                <a:spcPct val="118000"/>
              </a:lnSpc>
              <a:buNone/>
            </a:pPr>
            <a:r>
              <a:rPr sz="850" b="0" i="0" spc="140">
                <a:solidFill>
                  <a:srgbClr val="5C7A63"/>
                </a:solidFill>
                <a:latin typeface="Inter SemiBold"/>
                <a:ea typeface="Inter SemiBold"/>
                <a:cs typeface="Inter SemiBold"/>
              </a:rPr>
              <a:t>DIGITAL MARKETING  ·  ASSIGNMENT FOLIO</a:t>
            </a:r>
          </a:p>
        </p:txBody>
      </p:sp>
      <p:sp>
        <p:nvSpPr>
          <p:cNvPr id="3" name="TextBox 2"/>
          <p:cNvSpPr txBox="1"/>
          <p:nvPr/>
        </p:nvSpPr>
        <p:spPr>
          <a:xfrm>
            <a:off x="7071055" y="384048"/>
            <a:ext cx="4572000" cy="199851"/>
          </a:xfrm>
          <a:prstGeom prst="rect">
            <a:avLst/>
          </a:prstGeom>
          <a:noFill/>
        </p:spPr>
        <p:txBody>
          <a:bodyPr wrap="square" lIns="0" tIns="0" rIns="0" bIns="0" anchor="t">
            <a:noAutofit/>
          </a:bodyPr>
          <a:lstStyle/>
          <a:p>
            <a:pPr algn="r">
              <a:lnSpc>
                <a:spcPct val="118000"/>
              </a:lnSpc>
              <a:buNone/>
            </a:pPr>
            <a:r>
              <a:rPr sz="850" b="0" i="0" spc="140">
                <a:solidFill>
                  <a:srgbClr val="7F8A83"/>
                </a:solidFill>
                <a:latin typeface="Inter SemiBold"/>
                <a:ea typeface="Inter SemiBold"/>
                <a:cs typeface="Inter SemiBold"/>
              </a:rPr>
              <a:t>OFF-PAGE SEO</a:t>
            </a:r>
          </a:p>
        </p:txBody>
      </p:sp>
      <p:sp>
        <p:nvSpPr>
          <p:cNvPr id="4" name="Rectangle 3"/>
          <p:cNvSpPr/>
          <p:nvPr/>
        </p:nvSpPr>
        <p:spPr>
          <a:xfrm>
            <a:off x="548640" y="6377749"/>
            <a:ext cx="11094415"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640" y="6455664"/>
            <a:ext cx="7315200" cy="190784"/>
          </a:xfrm>
          <a:prstGeom prst="rect">
            <a:avLst/>
          </a:prstGeom>
          <a:noFill/>
        </p:spPr>
        <p:txBody>
          <a:bodyPr wrap="square" lIns="0" tIns="0" rIns="0" bIns="0" anchor="t">
            <a:noAutofit/>
          </a:bodyPr>
          <a:lstStyle/>
          <a:p>
            <a:pPr algn="l">
              <a:lnSpc>
                <a:spcPct val="118000"/>
              </a:lnSpc>
              <a:buNone/>
            </a:pPr>
            <a:r>
              <a:rPr sz="800" b="0" i="0">
                <a:solidFill>
                  <a:srgbClr val="7F8A83"/>
                </a:solidFill>
                <a:latin typeface="Inter"/>
                <a:ea typeface="Inter"/>
                <a:cs typeface="Inter"/>
              </a:rPr>
              <a:t>SEO for JalNest  —  Digital Marketing Assignment</a:t>
            </a:r>
          </a:p>
        </p:txBody>
      </p:sp>
      <p:sp>
        <p:nvSpPr>
          <p:cNvPr id="6" name="TextBox 5"/>
          <p:cNvSpPr txBox="1"/>
          <p:nvPr/>
        </p:nvSpPr>
        <p:spPr>
          <a:xfrm>
            <a:off x="8899855" y="6455664"/>
            <a:ext cx="2743200" cy="190784"/>
          </a:xfrm>
          <a:prstGeom prst="rect">
            <a:avLst/>
          </a:prstGeom>
          <a:noFill/>
        </p:spPr>
        <p:txBody>
          <a:bodyPr wrap="square" lIns="0" tIns="0" rIns="0" bIns="0" anchor="t">
            <a:noAutofit/>
          </a:bodyPr>
          <a:lstStyle/>
          <a:p>
            <a:pPr algn="r">
              <a:lnSpc>
                <a:spcPct val="118000"/>
              </a:lnSpc>
              <a:buNone/>
            </a:pPr>
            <a:r>
              <a:rPr sz="800" b="0" i="0">
                <a:solidFill>
                  <a:srgbClr val="7F8A83"/>
                </a:solidFill>
                <a:latin typeface="Inter"/>
                <a:ea typeface="Inter"/>
                <a:cs typeface="Inter"/>
              </a:rPr>
              <a:t>Session 2026–27   ·   10 / 18</a:t>
            </a:r>
          </a:p>
        </p:txBody>
      </p:sp>
      <p:sp>
        <p:nvSpPr>
          <p:cNvPr id="7" name="TextBox 6"/>
          <p:cNvSpPr txBox="1"/>
          <p:nvPr/>
        </p:nvSpPr>
        <p:spPr>
          <a:xfrm>
            <a:off x="548640" y="841248"/>
            <a:ext cx="5486400" cy="556833"/>
          </a:xfrm>
          <a:prstGeom prst="rect">
            <a:avLst/>
          </a:prstGeom>
          <a:noFill/>
        </p:spPr>
        <p:txBody>
          <a:bodyPr wrap="square" lIns="0" tIns="0" rIns="0" bIns="0" anchor="t">
            <a:noAutofit/>
          </a:bodyPr>
          <a:lstStyle/>
          <a:p>
            <a:pPr algn="l">
              <a:lnSpc>
                <a:spcPct val="102000"/>
              </a:lnSpc>
              <a:buNone/>
            </a:pPr>
            <a:r>
              <a:rPr sz="3200" b="0" i="0">
                <a:solidFill>
                  <a:srgbClr val="16201B"/>
                </a:solidFill>
                <a:latin typeface="Fraunces"/>
                <a:ea typeface="Fraunces"/>
                <a:cs typeface="Fraunces"/>
              </a:rPr>
              <a:t>Off-Page </a:t>
            </a:r>
            <a:r>
              <a:rPr sz="3200" b="0" i="1">
                <a:solidFill>
                  <a:srgbClr val="B8663C"/>
                </a:solidFill>
                <a:latin typeface="Fraunces"/>
                <a:ea typeface="Fraunces"/>
                <a:cs typeface="Fraunces"/>
              </a:rPr>
              <a:t>SEO</a:t>
            </a:r>
          </a:p>
        </p:txBody>
      </p:sp>
      <p:sp>
        <p:nvSpPr>
          <p:cNvPr id="8" name="TextBox 7"/>
          <p:cNvSpPr txBox="1"/>
          <p:nvPr/>
        </p:nvSpPr>
        <p:spPr>
          <a:xfrm>
            <a:off x="548640" y="1417320"/>
            <a:ext cx="5486400" cy="199851"/>
          </a:xfrm>
          <a:prstGeom prst="rect">
            <a:avLst/>
          </a:prstGeom>
          <a:noFill/>
        </p:spPr>
        <p:txBody>
          <a:bodyPr wrap="square" lIns="0" tIns="0" rIns="0" bIns="0" anchor="t">
            <a:noAutofit/>
          </a:bodyPr>
          <a:lstStyle/>
          <a:p>
            <a:pPr algn="l">
              <a:lnSpc>
                <a:spcPct val="118000"/>
              </a:lnSpc>
              <a:buNone/>
            </a:pPr>
            <a:r>
              <a:rPr sz="850" b="0" i="0" spc="140">
                <a:solidFill>
                  <a:srgbClr val="B8663C"/>
                </a:solidFill>
                <a:latin typeface="Inter SemiBold"/>
                <a:ea typeface="Inter SemiBold"/>
                <a:cs typeface="Inter SemiBold"/>
              </a:rPr>
              <a:t>BACKLINK BUILDING</a:t>
            </a:r>
          </a:p>
        </p:txBody>
      </p:sp>
      <p:sp>
        <p:nvSpPr>
          <p:cNvPr id="9" name="TextBox 8"/>
          <p:cNvSpPr txBox="1"/>
          <p:nvPr/>
        </p:nvSpPr>
        <p:spPr>
          <a:xfrm>
            <a:off x="6400800" y="914400"/>
            <a:ext cx="5242255" cy="481374"/>
          </a:xfrm>
          <a:prstGeom prst="rect">
            <a:avLst/>
          </a:prstGeom>
          <a:noFill/>
        </p:spPr>
        <p:txBody>
          <a:bodyPr wrap="square" lIns="0" tIns="0" rIns="0" bIns="0" anchor="t">
            <a:noAutofit/>
          </a:bodyPr>
          <a:lstStyle/>
          <a:p>
            <a:pPr algn="r">
              <a:lnSpc>
                <a:spcPct val="135000"/>
              </a:lnSpc>
              <a:buNone/>
            </a:pPr>
            <a:r>
              <a:rPr sz="1050" b="0" i="0">
                <a:solidFill>
                  <a:srgbClr val="7F8A83"/>
                </a:solidFill>
                <a:latin typeface="Inter"/>
                <a:ea typeface="Inter"/>
                <a:cs typeface="Inter"/>
              </a:rPr>
              <a:t>Authority is earned outside the page: relevant sites in plant care, home décor, video and sustainability that link to the JalNest page.</a:t>
            </a:r>
          </a:p>
        </p:txBody>
      </p:sp>
      <p:sp>
        <p:nvSpPr>
          <p:cNvPr id="10" name="Rounded Rectangle 9"/>
          <p:cNvSpPr/>
          <p:nvPr/>
        </p:nvSpPr>
        <p:spPr>
          <a:xfrm>
            <a:off x="548640" y="1737360"/>
            <a:ext cx="2602153" cy="566928"/>
          </a:xfrm>
          <a:prstGeom prst="roundRect">
            <a:avLst>
              <a:gd name="adj" fmla="val 12903"/>
            </a:avLst>
          </a:prstGeom>
          <a:solidFill>
            <a:srgbClr val="FFFFFF"/>
          </a:solidFill>
          <a:ln w="9525">
            <a:solidFill>
              <a:srgbClr val="E4E0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548640" y="1737360"/>
            <a:ext cx="54864" cy="566928"/>
          </a:xfrm>
          <a:prstGeom prst="rect">
            <a:avLst/>
          </a:prstGeom>
          <a:solidFill>
            <a:srgbClr val="5C7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31520" y="1810512"/>
            <a:ext cx="2327833" cy="197853"/>
          </a:xfrm>
          <a:prstGeom prst="rect">
            <a:avLst/>
          </a:prstGeom>
          <a:noFill/>
        </p:spPr>
        <p:txBody>
          <a:bodyPr wrap="square" lIns="0" tIns="0" rIns="0" bIns="0" anchor="t">
            <a:noAutofit/>
          </a:bodyPr>
          <a:lstStyle/>
          <a:p>
            <a:pPr algn="l">
              <a:lnSpc>
                <a:spcPct val="110000"/>
              </a:lnSpc>
              <a:buNone/>
            </a:pPr>
            <a:r>
              <a:rPr sz="900" b="0" i="0">
                <a:solidFill>
                  <a:srgbClr val="7F8A83"/>
                </a:solidFill>
                <a:latin typeface="Inter"/>
                <a:ea typeface="Inter"/>
                <a:cs typeface="Inter"/>
              </a:rPr>
              <a:t>Plant Care &amp; Gardening</a:t>
            </a:r>
          </a:p>
        </p:txBody>
      </p:sp>
      <p:sp>
        <p:nvSpPr>
          <p:cNvPr id="13" name="TextBox 12"/>
          <p:cNvSpPr txBox="1"/>
          <p:nvPr/>
        </p:nvSpPr>
        <p:spPr>
          <a:xfrm>
            <a:off x="731520" y="2011679"/>
            <a:ext cx="2327833" cy="223208"/>
          </a:xfrm>
          <a:prstGeom prst="rect">
            <a:avLst/>
          </a:prstGeom>
          <a:noFill/>
        </p:spPr>
        <p:txBody>
          <a:bodyPr wrap="square" lIns="0" tIns="0" rIns="0" bIns="0" anchor="t">
            <a:noAutofit/>
          </a:bodyPr>
          <a:lstStyle/>
          <a:p>
            <a:pPr algn="l">
              <a:lnSpc>
                <a:spcPct val="110000"/>
              </a:lnSpc>
              <a:buNone/>
            </a:pPr>
            <a:r>
              <a:rPr sz="1050" b="0" i="0">
                <a:solidFill>
                  <a:srgbClr val="16201B"/>
                </a:solidFill>
                <a:latin typeface="Inter"/>
                <a:ea typeface="Inter"/>
                <a:cs typeface="Inter"/>
              </a:rPr>
              <a:t>→ </a:t>
            </a:r>
            <a:r>
              <a:rPr sz="1050" b="0" i="0">
                <a:solidFill>
                  <a:srgbClr val="16201B"/>
                </a:solidFill>
                <a:latin typeface="Inter SemiBold"/>
                <a:ea typeface="Inter SemiBold"/>
                <a:cs typeface="Inter SemiBold"/>
              </a:rPr>
              <a:t>NurseryLive Blog</a:t>
            </a:r>
          </a:p>
        </p:txBody>
      </p:sp>
      <p:sp>
        <p:nvSpPr>
          <p:cNvPr id="14" name="Rounded Rectangle 13"/>
          <p:cNvSpPr/>
          <p:nvPr/>
        </p:nvSpPr>
        <p:spPr>
          <a:xfrm>
            <a:off x="3379393" y="1737360"/>
            <a:ext cx="2602153" cy="566928"/>
          </a:xfrm>
          <a:prstGeom prst="roundRect">
            <a:avLst>
              <a:gd name="adj" fmla="val 12903"/>
            </a:avLst>
          </a:prstGeom>
          <a:solidFill>
            <a:srgbClr val="FFFFFF"/>
          </a:solidFill>
          <a:ln w="9525">
            <a:solidFill>
              <a:srgbClr val="E4E0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3379393" y="1737360"/>
            <a:ext cx="54864" cy="566928"/>
          </a:xfrm>
          <a:prstGeom prst="rect">
            <a:avLst/>
          </a:prstGeom>
          <a:solidFill>
            <a:srgbClr val="5C7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3562273" y="1810512"/>
            <a:ext cx="2327833" cy="197853"/>
          </a:xfrm>
          <a:prstGeom prst="rect">
            <a:avLst/>
          </a:prstGeom>
          <a:noFill/>
        </p:spPr>
        <p:txBody>
          <a:bodyPr wrap="square" lIns="0" tIns="0" rIns="0" bIns="0" anchor="t">
            <a:noAutofit/>
          </a:bodyPr>
          <a:lstStyle/>
          <a:p>
            <a:pPr algn="l">
              <a:lnSpc>
                <a:spcPct val="110000"/>
              </a:lnSpc>
              <a:buNone/>
            </a:pPr>
            <a:r>
              <a:rPr sz="900" b="0" i="0">
                <a:solidFill>
                  <a:srgbClr val="7F8A83"/>
                </a:solidFill>
                <a:latin typeface="Inter"/>
                <a:ea typeface="Inter"/>
                <a:cs typeface="Inter"/>
              </a:rPr>
              <a:t>Home Décor &amp; Interiors</a:t>
            </a:r>
          </a:p>
        </p:txBody>
      </p:sp>
      <p:sp>
        <p:nvSpPr>
          <p:cNvPr id="17" name="TextBox 16"/>
          <p:cNvSpPr txBox="1"/>
          <p:nvPr/>
        </p:nvSpPr>
        <p:spPr>
          <a:xfrm>
            <a:off x="3562273" y="2011679"/>
            <a:ext cx="2327833" cy="223208"/>
          </a:xfrm>
          <a:prstGeom prst="rect">
            <a:avLst/>
          </a:prstGeom>
          <a:noFill/>
        </p:spPr>
        <p:txBody>
          <a:bodyPr wrap="square" lIns="0" tIns="0" rIns="0" bIns="0" anchor="t">
            <a:noAutofit/>
          </a:bodyPr>
          <a:lstStyle/>
          <a:p>
            <a:pPr algn="l">
              <a:lnSpc>
                <a:spcPct val="110000"/>
              </a:lnSpc>
              <a:buNone/>
            </a:pPr>
            <a:r>
              <a:rPr sz="1050" b="0" i="0">
                <a:solidFill>
                  <a:srgbClr val="16201B"/>
                </a:solidFill>
                <a:latin typeface="Inter"/>
                <a:ea typeface="Inter"/>
                <a:cs typeface="Inter"/>
              </a:rPr>
              <a:t>→ </a:t>
            </a:r>
            <a:r>
              <a:rPr sz="1050" b="0" i="0">
                <a:solidFill>
                  <a:srgbClr val="16201B"/>
                </a:solidFill>
                <a:latin typeface="Inter SemiBold"/>
                <a:ea typeface="Inter SemiBold"/>
                <a:cs typeface="Inter SemiBold"/>
              </a:rPr>
              <a:t>Livspace Magazine</a:t>
            </a:r>
          </a:p>
        </p:txBody>
      </p:sp>
      <p:sp>
        <p:nvSpPr>
          <p:cNvPr id="18" name="Rounded Rectangle 17"/>
          <p:cNvSpPr/>
          <p:nvPr/>
        </p:nvSpPr>
        <p:spPr>
          <a:xfrm>
            <a:off x="6210147" y="1737360"/>
            <a:ext cx="2602153" cy="566928"/>
          </a:xfrm>
          <a:prstGeom prst="roundRect">
            <a:avLst>
              <a:gd name="adj" fmla="val 12903"/>
            </a:avLst>
          </a:prstGeom>
          <a:solidFill>
            <a:srgbClr val="FFFFFF"/>
          </a:solidFill>
          <a:ln w="9525">
            <a:solidFill>
              <a:srgbClr val="E4E0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6210147" y="1737360"/>
            <a:ext cx="54864" cy="566928"/>
          </a:xfrm>
          <a:prstGeom prst="rect">
            <a:avLst/>
          </a:prstGeom>
          <a:solidFill>
            <a:srgbClr val="5C7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393027" y="1810512"/>
            <a:ext cx="2327833" cy="197853"/>
          </a:xfrm>
          <a:prstGeom prst="rect">
            <a:avLst/>
          </a:prstGeom>
          <a:noFill/>
        </p:spPr>
        <p:txBody>
          <a:bodyPr wrap="square" lIns="0" tIns="0" rIns="0" bIns="0" anchor="t">
            <a:noAutofit/>
          </a:bodyPr>
          <a:lstStyle/>
          <a:p>
            <a:pPr algn="l">
              <a:lnSpc>
                <a:spcPct val="110000"/>
              </a:lnSpc>
              <a:buNone/>
            </a:pPr>
            <a:r>
              <a:rPr sz="900" b="0" i="0">
                <a:solidFill>
                  <a:srgbClr val="7F8A83"/>
                </a:solidFill>
                <a:latin typeface="Inter"/>
                <a:ea typeface="Inter"/>
                <a:cs typeface="Inter"/>
              </a:rPr>
              <a:t>Video Platforms</a:t>
            </a:r>
          </a:p>
        </p:txBody>
      </p:sp>
      <p:sp>
        <p:nvSpPr>
          <p:cNvPr id="21" name="TextBox 20"/>
          <p:cNvSpPr txBox="1"/>
          <p:nvPr/>
        </p:nvSpPr>
        <p:spPr>
          <a:xfrm>
            <a:off x="6393027" y="2011679"/>
            <a:ext cx="2327833" cy="223208"/>
          </a:xfrm>
          <a:prstGeom prst="rect">
            <a:avLst/>
          </a:prstGeom>
          <a:noFill/>
        </p:spPr>
        <p:txBody>
          <a:bodyPr wrap="square" lIns="0" tIns="0" rIns="0" bIns="0" anchor="t">
            <a:noAutofit/>
          </a:bodyPr>
          <a:lstStyle/>
          <a:p>
            <a:pPr algn="l">
              <a:lnSpc>
                <a:spcPct val="110000"/>
              </a:lnSpc>
              <a:buNone/>
            </a:pPr>
            <a:r>
              <a:rPr sz="1050" b="0" i="0">
                <a:solidFill>
                  <a:srgbClr val="16201B"/>
                </a:solidFill>
                <a:latin typeface="Inter"/>
                <a:ea typeface="Inter"/>
                <a:cs typeface="Inter"/>
              </a:rPr>
              <a:t>→ </a:t>
            </a:r>
            <a:r>
              <a:rPr sz="1050" b="0" i="0">
                <a:solidFill>
                  <a:srgbClr val="16201B"/>
                </a:solidFill>
                <a:latin typeface="Inter SemiBold"/>
                <a:ea typeface="Inter SemiBold"/>
                <a:cs typeface="Inter SemiBold"/>
              </a:rPr>
              <a:t>YouTube</a:t>
            </a:r>
          </a:p>
        </p:txBody>
      </p:sp>
      <p:sp>
        <p:nvSpPr>
          <p:cNvPr id="22" name="Rounded Rectangle 21"/>
          <p:cNvSpPr/>
          <p:nvPr/>
        </p:nvSpPr>
        <p:spPr>
          <a:xfrm>
            <a:off x="9040901" y="1737360"/>
            <a:ext cx="2602153" cy="566928"/>
          </a:xfrm>
          <a:prstGeom prst="roundRect">
            <a:avLst>
              <a:gd name="adj" fmla="val 12903"/>
            </a:avLst>
          </a:prstGeom>
          <a:solidFill>
            <a:srgbClr val="FFFFFF"/>
          </a:solidFill>
          <a:ln w="9525">
            <a:solidFill>
              <a:srgbClr val="E4E0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9040901" y="1737360"/>
            <a:ext cx="54864" cy="566928"/>
          </a:xfrm>
          <a:prstGeom prst="rect">
            <a:avLst/>
          </a:prstGeom>
          <a:solidFill>
            <a:srgbClr val="5C7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9223781" y="1810512"/>
            <a:ext cx="2327833" cy="197853"/>
          </a:xfrm>
          <a:prstGeom prst="rect">
            <a:avLst/>
          </a:prstGeom>
          <a:noFill/>
        </p:spPr>
        <p:txBody>
          <a:bodyPr wrap="square" lIns="0" tIns="0" rIns="0" bIns="0" anchor="t">
            <a:noAutofit/>
          </a:bodyPr>
          <a:lstStyle/>
          <a:p>
            <a:pPr algn="l">
              <a:lnSpc>
                <a:spcPct val="110000"/>
              </a:lnSpc>
              <a:buNone/>
            </a:pPr>
            <a:r>
              <a:rPr sz="900" b="0" i="0">
                <a:solidFill>
                  <a:srgbClr val="7F8A83"/>
                </a:solidFill>
                <a:latin typeface="Inter"/>
                <a:ea typeface="Inter"/>
                <a:cs typeface="Inter"/>
              </a:rPr>
              <a:t>Sustainability &amp; Water Saving</a:t>
            </a:r>
          </a:p>
        </p:txBody>
      </p:sp>
      <p:sp>
        <p:nvSpPr>
          <p:cNvPr id="25" name="TextBox 24"/>
          <p:cNvSpPr txBox="1"/>
          <p:nvPr/>
        </p:nvSpPr>
        <p:spPr>
          <a:xfrm>
            <a:off x="9223781" y="2011679"/>
            <a:ext cx="2327833" cy="223208"/>
          </a:xfrm>
          <a:prstGeom prst="rect">
            <a:avLst/>
          </a:prstGeom>
          <a:noFill/>
        </p:spPr>
        <p:txBody>
          <a:bodyPr wrap="square" lIns="0" tIns="0" rIns="0" bIns="0" anchor="t">
            <a:noAutofit/>
          </a:bodyPr>
          <a:lstStyle/>
          <a:p>
            <a:pPr algn="l">
              <a:lnSpc>
                <a:spcPct val="110000"/>
              </a:lnSpc>
              <a:buNone/>
            </a:pPr>
            <a:r>
              <a:rPr sz="1050" b="0" i="0">
                <a:solidFill>
                  <a:srgbClr val="16201B"/>
                </a:solidFill>
                <a:latin typeface="Inter"/>
                <a:ea typeface="Inter"/>
                <a:cs typeface="Inter"/>
              </a:rPr>
              <a:t>→ </a:t>
            </a:r>
            <a:r>
              <a:rPr sz="1050" b="0" i="0">
                <a:solidFill>
                  <a:srgbClr val="16201B"/>
                </a:solidFill>
                <a:latin typeface="Inter SemiBold"/>
                <a:ea typeface="Inter SemiBold"/>
                <a:cs typeface="Inter SemiBold"/>
              </a:rPr>
              <a:t>The Better India</a:t>
            </a:r>
          </a:p>
        </p:txBody>
      </p:sp>
      <p:sp>
        <p:nvSpPr>
          <p:cNvPr id="26" name="Rounded Rectangle 25"/>
          <p:cNvSpPr/>
          <p:nvPr/>
        </p:nvSpPr>
        <p:spPr>
          <a:xfrm>
            <a:off x="576072" y="2578608"/>
            <a:ext cx="4790484" cy="3383280"/>
          </a:xfrm>
          <a:prstGeom prst="roundRect">
            <a:avLst>
              <a:gd name="adj" fmla="val 1621"/>
            </a:avLst>
          </a:prstGeom>
          <a:solidFill>
            <a:srgbClr val="16201B">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7" name="Picture 26" descr="df9a5dc761b1.jpg"/>
          <p:cNvPicPr>
            <a:picLocks noChangeAspect="1"/>
          </p:cNvPicPr>
          <p:nvPr/>
        </p:nvPicPr>
        <p:blipFill>
          <a:blip r:embed="rId2"/>
          <a:stretch>
            <a:fillRect/>
          </a:stretch>
        </p:blipFill>
        <p:spPr>
          <a:xfrm>
            <a:off x="548640" y="2542032"/>
            <a:ext cx="4790484" cy="3383280"/>
          </a:xfrm>
          <a:prstGeom prst="rect">
            <a:avLst/>
          </a:prstGeom>
        </p:spPr>
      </p:pic>
      <p:sp>
        <p:nvSpPr>
          <p:cNvPr id="28" name="TextBox 27"/>
          <p:cNvSpPr txBox="1"/>
          <p:nvPr/>
        </p:nvSpPr>
        <p:spPr>
          <a:xfrm>
            <a:off x="548640" y="5998464"/>
            <a:ext cx="5364327" cy="202463"/>
          </a:xfrm>
          <a:prstGeom prst="rect">
            <a:avLst/>
          </a:prstGeom>
          <a:noFill/>
        </p:spPr>
        <p:txBody>
          <a:bodyPr wrap="square" lIns="0" tIns="0" rIns="0" bIns="0" anchor="t">
            <a:noAutofit/>
          </a:bodyPr>
          <a:lstStyle/>
          <a:p>
            <a:pPr algn="l">
              <a:lnSpc>
                <a:spcPct val="120000"/>
              </a:lnSpc>
              <a:buNone/>
            </a:pPr>
            <a:r>
              <a:rPr sz="850" b="0" i="0">
                <a:solidFill>
                  <a:srgbClr val="7F8A83"/>
                </a:solidFill>
                <a:latin typeface="Inter"/>
                <a:ea typeface="Inter"/>
                <a:cs typeface="Inter"/>
              </a:rPr>
              <a:t>Livspace Magazine — JalNest partner banner inside a balcony-garden article</a:t>
            </a:r>
          </a:p>
        </p:txBody>
      </p:sp>
      <p:sp>
        <p:nvSpPr>
          <p:cNvPr id="29" name="Rounded Rectangle 28"/>
          <p:cNvSpPr/>
          <p:nvPr/>
        </p:nvSpPr>
        <p:spPr>
          <a:xfrm>
            <a:off x="6306159" y="2578608"/>
            <a:ext cx="4790484" cy="3383280"/>
          </a:xfrm>
          <a:prstGeom prst="roundRect">
            <a:avLst>
              <a:gd name="adj" fmla="val 1621"/>
            </a:avLst>
          </a:prstGeom>
          <a:solidFill>
            <a:srgbClr val="16201B">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0" name="Picture 29" descr="b04f7cef3222.jpg"/>
          <p:cNvPicPr>
            <a:picLocks noChangeAspect="1"/>
          </p:cNvPicPr>
          <p:nvPr/>
        </p:nvPicPr>
        <p:blipFill>
          <a:blip r:embed="rId3"/>
          <a:stretch>
            <a:fillRect/>
          </a:stretch>
        </p:blipFill>
        <p:spPr>
          <a:xfrm>
            <a:off x="6278727" y="2542032"/>
            <a:ext cx="4790484" cy="3383280"/>
          </a:xfrm>
          <a:prstGeom prst="rect">
            <a:avLst/>
          </a:prstGeom>
        </p:spPr>
      </p:pic>
      <p:sp>
        <p:nvSpPr>
          <p:cNvPr id="31" name="TextBox 30"/>
          <p:cNvSpPr txBox="1"/>
          <p:nvPr/>
        </p:nvSpPr>
        <p:spPr>
          <a:xfrm>
            <a:off x="6278727" y="5998464"/>
            <a:ext cx="5364327" cy="202463"/>
          </a:xfrm>
          <a:prstGeom prst="rect">
            <a:avLst/>
          </a:prstGeom>
          <a:noFill/>
        </p:spPr>
        <p:txBody>
          <a:bodyPr wrap="square" lIns="0" tIns="0" rIns="0" bIns="0" anchor="t">
            <a:noAutofit/>
          </a:bodyPr>
          <a:lstStyle/>
          <a:p>
            <a:pPr algn="l">
              <a:lnSpc>
                <a:spcPct val="120000"/>
              </a:lnSpc>
              <a:buNone/>
            </a:pPr>
            <a:r>
              <a:rPr sz="850" b="0" i="0">
                <a:solidFill>
                  <a:srgbClr val="7F8A83"/>
                </a:solidFill>
                <a:latin typeface="Inter"/>
                <a:ea typeface="Inter"/>
                <a:cs typeface="Inter"/>
              </a:rPr>
              <a:t>The Better India — banner placed in a water-saving story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9F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5486400" cy="199851"/>
          </a:xfrm>
          <a:prstGeom prst="rect">
            <a:avLst/>
          </a:prstGeom>
          <a:noFill/>
        </p:spPr>
        <p:txBody>
          <a:bodyPr wrap="square" lIns="0" tIns="0" rIns="0" bIns="0" anchor="t">
            <a:noAutofit/>
          </a:bodyPr>
          <a:lstStyle/>
          <a:p>
            <a:pPr algn="l">
              <a:lnSpc>
                <a:spcPct val="118000"/>
              </a:lnSpc>
              <a:buNone/>
            </a:pPr>
            <a:r>
              <a:rPr sz="850" b="0" i="0" spc="140">
                <a:solidFill>
                  <a:srgbClr val="5C7A63"/>
                </a:solidFill>
                <a:latin typeface="Inter SemiBold"/>
                <a:ea typeface="Inter SemiBold"/>
                <a:cs typeface="Inter SemiBold"/>
              </a:rPr>
              <a:t>DIGITAL MARKETING  ·  ASSIGNMENT FOLIO</a:t>
            </a:r>
          </a:p>
        </p:txBody>
      </p:sp>
      <p:sp>
        <p:nvSpPr>
          <p:cNvPr id="3" name="TextBox 2"/>
          <p:cNvSpPr txBox="1"/>
          <p:nvPr/>
        </p:nvSpPr>
        <p:spPr>
          <a:xfrm>
            <a:off x="7071055" y="384048"/>
            <a:ext cx="4572000" cy="199851"/>
          </a:xfrm>
          <a:prstGeom prst="rect">
            <a:avLst/>
          </a:prstGeom>
          <a:noFill/>
        </p:spPr>
        <p:txBody>
          <a:bodyPr wrap="square" lIns="0" tIns="0" rIns="0" bIns="0" anchor="t">
            <a:noAutofit/>
          </a:bodyPr>
          <a:lstStyle/>
          <a:p>
            <a:pPr algn="r">
              <a:lnSpc>
                <a:spcPct val="118000"/>
              </a:lnSpc>
              <a:buNone/>
            </a:pPr>
            <a:r>
              <a:rPr sz="850" b="0" i="0" spc="140">
                <a:solidFill>
                  <a:srgbClr val="7F8A83"/>
                </a:solidFill>
                <a:latin typeface="Inter SemiBold"/>
                <a:ea typeface="Inter SemiBold"/>
                <a:cs typeface="Inter SemiBold"/>
              </a:rPr>
              <a:t>OFF-PAGE SEO · GUEST POSTING</a:t>
            </a:r>
          </a:p>
        </p:txBody>
      </p:sp>
      <p:sp>
        <p:nvSpPr>
          <p:cNvPr id="4" name="Rectangle 3"/>
          <p:cNvSpPr/>
          <p:nvPr/>
        </p:nvSpPr>
        <p:spPr>
          <a:xfrm>
            <a:off x="548640" y="6377749"/>
            <a:ext cx="11094415"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640" y="6455664"/>
            <a:ext cx="7315200" cy="190784"/>
          </a:xfrm>
          <a:prstGeom prst="rect">
            <a:avLst/>
          </a:prstGeom>
          <a:noFill/>
        </p:spPr>
        <p:txBody>
          <a:bodyPr wrap="square" lIns="0" tIns="0" rIns="0" bIns="0" anchor="t">
            <a:noAutofit/>
          </a:bodyPr>
          <a:lstStyle/>
          <a:p>
            <a:pPr algn="l">
              <a:lnSpc>
                <a:spcPct val="118000"/>
              </a:lnSpc>
              <a:buNone/>
            </a:pPr>
            <a:r>
              <a:rPr sz="800" b="0" i="0">
                <a:solidFill>
                  <a:srgbClr val="7F8A83"/>
                </a:solidFill>
                <a:latin typeface="Inter"/>
                <a:ea typeface="Inter"/>
                <a:cs typeface="Inter"/>
              </a:rPr>
              <a:t>SEO for JalNest  —  Digital Marketing Assignment</a:t>
            </a:r>
          </a:p>
        </p:txBody>
      </p:sp>
      <p:sp>
        <p:nvSpPr>
          <p:cNvPr id="6" name="TextBox 5"/>
          <p:cNvSpPr txBox="1"/>
          <p:nvPr/>
        </p:nvSpPr>
        <p:spPr>
          <a:xfrm>
            <a:off x="8899855" y="6455664"/>
            <a:ext cx="2743200" cy="190784"/>
          </a:xfrm>
          <a:prstGeom prst="rect">
            <a:avLst/>
          </a:prstGeom>
          <a:noFill/>
        </p:spPr>
        <p:txBody>
          <a:bodyPr wrap="square" lIns="0" tIns="0" rIns="0" bIns="0" anchor="t">
            <a:noAutofit/>
          </a:bodyPr>
          <a:lstStyle/>
          <a:p>
            <a:pPr algn="r">
              <a:lnSpc>
                <a:spcPct val="118000"/>
              </a:lnSpc>
              <a:buNone/>
            </a:pPr>
            <a:r>
              <a:rPr sz="800" b="0" i="0">
                <a:solidFill>
                  <a:srgbClr val="7F8A83"/>
                </a:solidFill>
                <a:latin typeface="Inter"/>
                <a:ea typeface="Inter"/>
                <a:cs typeface="Inter"/>
              </a:rPr>
              <a:t>Session 2026–27   ·   11 / 18</a:t>
            </a:r>
          </a:p>
        </p:txBody>
      </p:sp>
      <p:sp>
        <p:nvSpPr>
          <p:cNvPr id="7" name="TextBox 6"/>
          <p:cNvSpPr txBox="1"/>
          <p:nvPr/>
        </p:nvSpPr>
        <p:spPr>
          <a:xfrm>
            <a:off x="548640" y="841248"/>
            <a:ext cx="5486400" cy="556833"/>
          </a:xfrm>
          <a:prstGeom prst="rect">
            <a:avLst/>
          </a:prstGeom>
          <a:noFill/>
        </p:spPr>
        <p:txBody>
          <a:bodyPr wrap="square" lIns="0" tIns="0" rIns="0" bIns="0" anchor="t">
            <a:noAutofit/>
          </a:bodyPr>
          <a:lstStyle/>
          <a:p>
            <a:pPr algn="l">
              <a:lnSpc>
                <a:spcPct val="102000"/>
              </a:lnSpc>
              <a:buNone/>
            </a:pPr>
            <a:r>
              <a:rPr sz="3200" b="0" i="0">
                <a:solidFill>
                  <a:srgbClr val="16201B"/>
                </a:solidFill>
                <a:latin typeface="Fraunces"/>
                <a:ea typeface="Fraunces"/>
                <a:cs typeface="Fraunces"/>
              </a:rPr>
              <a:t>Guest </a:t>
            </a:r>
            <a:r>
              <a:rPr sz="3200" b="0" i="1">
                <a:solidFill>
                  <a:srgbClr val="B8663C"/>
                </a:solidFill>
                <a:latin typeface="Fraunces"/>
                <a:ea typeface="Fraunces"/>
                <a:cs typeface="Fraunces"/>
              </a:rPr>
              <a:t>Posting</a:t>
            </a:r>
          </a:p>
        </p:txBody>
      </p:sp>
      <p:sp>
        <p:nvSpPr>
          <p:cNvPr id="8" name="TextBox 7"/>
          <p:cNvSpPr txBox="1"/>
          <p:nvPr/>
        </p:nvSpPr>
        <p:spPr>
          <a:xfrm>
            <a:off x="6400800" y="914400"/>
            <a:ext cx="5242255" cy="481374"/>
          </a:xfrm>
          <a:prstGeom prst="rect">
            <a:avLst/>
          </a:prstGeom>
          <a:noFill/>
        </p:spPr>
        <p:txBody>
          <a:bodyPr wrap="square" lIns="0" tIns="0" rIns="0" bIns="0" anchor="t">
            <a:noAutofit/>
          </a:bodyPr>
          <a:lstStyle/>
          <a:p>
            <a:pPr algn="r">
              <a:lnSpc>
                <a:spcPct val="135000"/>
              </a:lnSpc>
              <a:buNone/>
            </a:pPr>
            <a:r>
              <a:rPr sz="1050" b="0" i="0">
                <a:solidFill>
                  <a:srgbClr val="7F8A83"/>
                </a:solidFill>
                <a:latin typeface="Inter"/>
                <a:ea typeface="Inter"/>
                <a:cs typeface="Inter"/>
              </a:rPr>
              <a:t>Useful articles written by ORIVYAA for partner publications — each one earns an editorial backlink to the JalNest page.</a:t>
            </a:r>
          </a:p>
        </p:txBody>
      </p:sp>
      <p:sp>
        <p:nvSpPr>
          <p:cNvPr id="9" name="TextBox 8"/>
          <p:cNvSpPr txBox="1"/>
          <p:nvPr/>
        </p:nvSpPr>
        <p:spPr>
          <a:xfrm>
            <a:off x="548640" y="1600200"/>
            <a:ext cx="5364327" cy="502920"/>
          </a:xfrm>
          <a:prstGeom prst="rect">
            <a:avLst/>
          </a:prstGeom>
          <a:noFill/>
        </p:spPr>
        <p:txBody>
          <a:bodyPr wrap="square" lIns="0" tIns="0" rIns="0" bIns="0" anchor="b">
            <a:noAutofit/>
          </a:bodyPr>
          <a:lstStyle/>
          <a:p>
            <a:pPr algn="l">
              <a:lnSpc>
                <a:spcPct val="125000"/>
              </a:lnSpc>
              <a:buNone/>
            </a:pPr>
            <a:r>
              <a:rPr sz="1050" b="0" i="0">
                <a:solidFill>
                  <a:srgbClr val="16201B"/>
                </a:solidFill>
                <a:latin typeface="Inter SemiBold"/>
                <a:ea typeface="Inter SemiBold"/>
                <a:cs typeface="Inter SemiBold"/>
              </a:rPr>
              <a:t>Livspace Magazine</a:t>
            </a:r>
            <a:r>
              <a:rPr sz="1050" b="0" i="0">
                <a:solidFill>
                  <a:srgbClr val="16201B"/>
                </a:solidFill>
                <a:latin typeface="Inter"/>
                <a:ea typeface="Inter"/>
                <a:cs typeface="Inter"/>
              </a:rPr>
              <a:t>  →  Best Self-Watering Planters for Indian Homes (2026 Guide)</a:t>
            </a:r>
          </a:p>
        </p:txBody>
      </p:sp>
      <p:sp>
        <p:nvSpPr>
          <p:cNvPr id="10" name="Rounded Rectangle 9"/>
          <p:cNvSpPr/>
          <p:nvPr/>
        </p:nvSpPr>
        <p:spPr>
          <a:xfrm>
            <a:off x="576072" y="2267712"/>
            <a:ext cx="5228777" cy="3758183"/>
          </a:xfrm>
          <a:prstGeom prst="roundRect">
            <a:avLst>
              <a:gd name="adj" fmla="val 1459"/>
            </a:avLst>
          </a:prstGeom>
          <a:solidFill>
            <a:srgbClr val="16201B">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Picture 10" descr="024179070b1f.jpg"/>
          <p:cNvPicPr>
            <a:picLocks noChangeAspect="1"/>
          </p:cNvPicPr>
          <p:nvPr/>
        </p:nvPicPr>
        <p:blipFill>
          <a:blip r:embed="rId2"/>
          <a:stretch>
            <a:fillRect/>
          </a:stretch>
        </p:blipFill>
        <p:spPr>
          <a:xfrm>
            <a:off x="548640" y="2231136"/>
            <a:ext cx="5228777" cy="3758183"/>
          </a:xfrm>
          <a:prstGeom prst="rect">
            <a:avLst/>
          </a:prstGeom>
        </p:spPr>
      </p:pic>
      <p:sp>
        <p:nvSpPr>
          <p:cNvPr id="12" name="TextBox 11"/>
          <p:cNvSpPr txBox="1"/>
          <p:nvPr/>
        </p:nvSpPr>
        <p:spPr>
          <a:xfrm>
            <a:off x="6278727" y="1600200"/>
            <a:ext cx="5364327" cy="502920"/>
          </a:xfrm>
          <a:prstGeom prst="rect">
            <a:avLst/>
          </a:prstGeom>
          <a:noFill/>
        </p:spPr>
        <p:txBody>
          <a:bodyPr wrap="square" lIns="0" tIns="0" rIns="0" bIns="0" anchor="b">
            <a:noAutofit/>
          </a:bodyPr>
          <a:lstStyle/>
          <a:p>
            <a:pPr algn="l">
              <a:lnSpc>
                <a:spcPct val="125000"/>
              </a:lnSpc>
              <a:buNone/>
            </a:pPr>
            <a:r>
              <a:rPr sz="1050" b="0" i="0">
                <a:solidFill>
                  <a:srgbClr val="16201B"/>
                </a:solidFill>
                <a:latin typeface="Inter SemiBold"/>
                <a:ea typeface="Inter SemiBold"/>
                <a:cs typeface="Inter SemiBold"/>
              </a:rPr>
              <a:t>The Better India</a:t>
            </a:r>
            <a:r>
              <a:rPr sz="1050" b="0" i="0">
                <a:solidFill>
                  <a:srgbClr val="16201B"/>
                </a:solidFill>
                <a:latin typeface="Inter"/>
                <a:ea typeface="Inter"/>
                <a:cs typeface="Inter"/>
              </a:rPr>
              <a:t>  →  Smart Watering: How Self-Watering Planters Save Up to 70% Water</a:t>
            </a:r>
          </a:p>
        </p:txBody>
      </p:sp>
      <p:sp>
        <p:nvSpPr>
          <p:cNvPr id="13" name="Rounded Rectangle 12"/>
          <p:cNvSpPr/>
          <p:nvPr/>
        </p:nvSpPr>
        <p:spPr>
          <a:xfrm>
            <a:off x="6306159" y="2267712"/>
            <a:ext cx="5228777" cy="3758183"/>
          </a:xfrm>
          <a:prstGeom prst="roundRect">
            <a:avLst>
              <a:gd name="adj" fmla="val 1459"/>
            </a:avLst>
          </a:prstGeom>
          <a:solidFill>
            <a:srgbClr val="16201B">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53a4c41442e1.jpg"/>
          <p:cNvPicPr>
            <a:picLocks noChangeAspect="1"/>
          </p:cNvPicPr>
          <p:nvPr/>
        </p:nvPicPr>
        <p:blipFill>
          <a:blip r:embed="rId3"/>
          <a:stretch>
            <a:fillRect/>
          </a:stretch>
        </p:blipFill>
        <p:spPr>
          <a:xfrm>
            <a:off x="6278727" y="2231136"/>
            <a:ext cx="5228777" cy="375818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F9F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5486400" cy="199851"/>
          </a:xfrm>
          <a:prstGeom prst="rect">
            <a:avLst/>
          </a:prstGeom>
          <a:noFill/>
        </p:spPr>
        <p:txBody>
          <a:bodyPr wrap="square" lIns="0" tIns="0" rIns="0" bIns="0" anchor="t">
            <a:noAutofit/>
          </a:bodyPr>
          <a:lstStyle/>
          <a:p>
            <a:pPr algn="l">
              <a:lnSpc>
                <a:spcPct val="118000"/>
              </a:lnSpc>
              <a:buNone/>
            </a:pPr>
            <a:r>
              <a:rPr sz="850" b="0" i="0" spc="140">
                <a:solidFill>
                  <a:srgbClr val="5C7A63"/>
                </a:solidFill>
                <a:latin typeface="Inter SemiBold"/>
                <a:ea typeface="Inter SemiBold"/>
                <a:cs typeface="Inter SemiBold"/>
              </a:rPr>
              <a:t>DIGITAL MARKETING  ·  ASSIGNMENT FOLIO</a:t>
            </a:r>
          </a:p>
        </p:txBody>
      </p:sp>
      <p:sp>
        <p:nvSpPr>
          <p:cNvPr id="3" name="TextBox 2"/>
          <p:cNvSpPr txBox="1"/>
          <p:nvPr/>
        </p:nvSpPr>
        <p:spPr>
          <a:xfrm>
            <a:off x="7071055" y="384048"/>
            <a:ext cx="4572000" cy="199851"/>
          </a:xfrm>
          <a:prstGeom prst="rect">
            <a:avLst/>
          </a:prstGeom>
          <a:noFill/>
        </p:spPr>
        <p:txBody>
          <a:bodyPr wrap="square" lIns="0" tIns="0" rIns="0" bIns="0" anchor="t">
            <a:noAutofit/>
          </a:bodyPr>
          <a:lstStyle/>
          <a:p>
            <a:pPr algn="r">
              <a:lnSpc>
                <a:spcPct val="118000"/>
              </a:lnSpc>
              <a:buNone/>
            </a:pPr>
            <a:r>
              <a:rPr sz="850" b="0" i="0" spc="140">
                <a:solidFill>
                  <a:srgbClr val="7F8A83"/>
                </a:solidFill>
                <a:latin typeface="Inter SemiBold"/>
                <a:ea typeface="Inter SemiBold"/>
                <a:cs typeface="Inter SemiBold"/>
              </a:rPr>
              <a:t>TECHNICAL SEO · MOBILE</a:t>
            </a:r>
          </a:p>
        </p:txBody>
      </p:sp>
      <p:sp>
        <p:nvSpPr>
          <p:cNvPr id="4" name="Rectangle 3"/>
          <p:cNvSpPr/>
          <p:nvPr/>
        </p:nvSpPr>
        <p:spPr>
          <a:xfrm>
            <a:off x="548640" y="6377749"/>
            <a:ext cx="11094415"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640" y="6455664"/>
            <a:ext cx="7315200" cy="190784"/>
          </a:xfrm>
          <a:prstGeom prst="rect">
            <a:avLst/>
          </a:prstGeom>
          <a:noFill/>
        </p:spPr>
        <p:txBody>
          <a:bodyPr wrap="square" lIns="0" tIns="0" rIns="0" bIns="0" anchor="t">
            <a:noAutofit/>
          </a:bodyPr>
          <a:lstStyle/>
          <a:p>
            <a:pPr algn="l">
              <a:lnSpc>
                <a:spcPct val="118000"/>
              </a:lnSpc>
              <a:buNone/>
            </a:pPr>
            <a:r>
              <a:rPr sz="800" b="0" i="0">
                <a:solidFill>
                  <a:srgbClr val="7F8A83"/>
                </a:solidFill>
                <a:latin typeface="Inter"/>
                <a:ea typeface="Inter"/>
                <a:cs typeface="Inter"/>
              </a:rPr>
              <a:t>SEO for JalNest  —  Digital Marketing Assignment</a:t>
            </a:r>
          </a:p>
        </p:txBody>
      </p:sp>
      <p:sp>
        <p:nvSpPr>
          <p:cNvPr id="6" name="TextBox 5"/>
          <p:cNvSpPr txBox="1"/>
          <p:nvPr/>
        </p:nvSpPr>
        <p:spPr>
          <a:xfrm>
            <a:off x="8899855" y="6455664"/>
            <a:ext cx="2743200" cy="190784"/>
          </a:xfrm>
          <a:prstGeom prst="rect">
            <a:avLst/>
          </a:prstGeom>
          <a:noFill/>
        </p:spPr>
        <p:txBody>
          <a:bodyPr wrap="square" lIns="0" tIns="0" rIns="0" bIns="0" anchor="t">
            <a:noAutofit/>
          </a:bodyPr>
          <a:lstStyle/>
          <a:p>
            <a:pPr algn="r">
              <a:lnSpc>
                <a:spcPct val="118000"/>
              </a:lnSpc>
              <a:buNone/>
            </a:pPr>
            <a:r>
              <a:rPr sz="800" b="0" i="0">
                <a:solidFill>
                  <a:srgbClr val="7F8A83"/>
                </a:solidFill>
                <a:latin typeface="Inter"/>
                <a:ea typeface="Inter"/>
                <a:cs typeface="Inter"/>
              </a:rPr>
              <a:t>Session 2026–27   ·   12 / 18</a:t>
            </a:r>
          </a:p>
        </p:txBody>
      </p:sp>
      <p:sp>
        <p:nvSpPr>
          <p:cNvPr id="7" name="TextBox 6"/>
          <p:cNvSpPr txBox="1"/>
          <p:nvPr/>
        </p:nvSpPr>
        <p:spPr>
          <a:xfrm>
            <a:off x="548640" y="841248"/>
            <a:ext cx="5486400" cy="556833"/>
          </a:xfrm>
          <a:prstGeom prst="rect">
            <a:avLst/>
          </a:prstGeom>
          <a:noFill/>
        </p:spPr>
        <p:txBody>
          <a:bodyPr wrap="square" lIns="0" tIns="0" rIns="0" bIns="0" anchor="t">
            <a:noAutofit/>
          </a:bodyPr>
          <a:lstStyle/>
          <a:p>
            <a:pPr algn="l">
              <a:lnSpc>
                <a:spcPct val="102000"/>
              </a:lnSpc>
              <a:buNone/>
            </a:pPr>
            <a:r>
              <a:rPr sz="3200" b="0" i="0">
                <a:solidFill>
                  <a:srgbClr val="16201B"/>
                </a:solidFill>
                <a:latin typeface="Fraunces"/>
                <a:ea typeface="Fraunces"/>
                <a:cs typeface="Fraunces"/>
              </a:rPr>
              <a:t>Responsiveness</a:t>
            </a:r>
          </a:p>
        </p:txBody>
      </p:sp>
      <p:sp>
        <p:nvSpPr>
          <p:cNvPr id="8" name="TextBox 7"/>
          <p:cNvSpPr txBox="1"/>
          <p:nvPr/>
        </p:nvSpPr>
        <p:spPr>
          <a:xfrm>
            <a:off x="6400800" y="914400"/>
            <a:ext cx="5242255" cy="699201"/>
          </a:xfrm>
          <a:prstGeom prst="rect">
            <a:avLst/>
          </a:prstGeom>
          <a:noFill/>
        </p:spPr>
        <p:txBody>
          <a:bodyPr wrap="square" lIns="0" tIns="0" rIns="0" bIns="0" anchor="t">
            <a:noAutofit/>
          </a:bodyPr>
          <a:lstStyle/>
          <a:p>
            <a:pPr algn="r">
              <a:lnSpc>
                <a:spcPct val="135000"/>
              </a:lnSpc>
              <a:buNone/>
            </a:pPr>
            <a:r>
              <a:rPr sz="1050" b="0" i="0">
                <a:solidFill>
                  <a:srgbClr val="7F8A83"/>
                </a:solidFill>
                <a:latin typeface="Inter"/>
                <a:ea typeface="Inter"/>
                <a:cs typeface="Inter"/>
              </a:rPr>
              <a:t>Google indexes the mobile version first. The ORIVYAA page reflows from a single column on phones to a two-column hero on laptops — live screenshots at 390 px, 834 px and 1440 px.</a:t>
            </a:r>
          </a:p>
        </p:txBody>
      </p:sp>
      <p:pic>
        <p:nvPicPr>
          <p:cNvPr id="9" name="Picture 8" descr="ae86ca0d4767.jpg"/>
          <p:cNvPicPr>
            <a:picLocks noChangeAspect="1"/>
          </p:cNvPicPr>
          <p:nvPr/>
        </p:nvPicPr>
        <p:blipFill>
          <a:blip r:embed="rId2"/>
          <a:stretch>
            <a:fillRect/>
          </a:stretch>
        </p:blipFill>
        <p:spPr>
          <a:xfrm>
            <a:off x="548640" y="2148840"/>
            <a:ext cx="1894694" cy="3904487"/>
          </a:xfrm>
          <a:prstGeom prst="rect">
            <a:avLst/>
          </a:prstGeom>
        </p:spPr>
      </p:pic>
      <p:sp>
        <p:nvSpPr>
          <p:cNvPr id="10" name="TextBox 9"/>
          <p:cNvSpPr txBox="1"/>
          <p:nvPr/>
        </p:nvSpPr>
        <p:spPr>
          <a:xfrm>
            <a:off x="274320" y="1581912"/>
            <a:ext cx="2443334" cy="280606"/>
          </a:xfrm>
          <a:prstGeom prst="rect">
            <a:avLst/>
          </a:prstGeom>
          <a:noFill/>
        </p:spPr>
        <p:txBody>
          <a:bodyPr wrap="square" lIns="0" tIns="0" rIns="0" bIns="0" anchor="t">
            <a:noAutofit/>
          </a:bodyPr>
          <a:lstStyle/>
          <a:p>
            <a:pPr algn="ctr">
              <a:lnSpc>
                <a:spcPct val="100000"/>
              </a:lnSpc>
              <a:buNone/>
            </a:pPr>
            <a:r>
              <a:rPr sz="1500" b="0" i="0">
                <a:solidFill>
                  <a:srgbClr val="16201B"/>
                </a:solidFill>
                <a:latin typeface="Fraunces"/>
                <a:ea typeface="Fraunces"/>
                <a:cs typeface="Fraunces"/>
              </a:rPr>
              <a:t>Phone View</a:t>
            </a:r>
          </a:p>
        </p:txBody>
      </p:sp>
      <p:sp>
        <p:nvSpPr>
          <p:cNvPr id="11" name="TextBox 10"/>
          <p:cNvSpPr txBox="1"/>
          <p:nvPr/>
        </p:nvSpPr>
        <p:spPr>
          <a:xfrm>
            <a:off x="274320" y="1837944"/>
            <a:ext cx="2443334" cy="189401"/>
          </a:xfrm>
          <a:prstGeom prst="rect">
            <a:avLst/>
          </a:prstGeom>
          <a:noFill/>
        </p:spPr>
        <p:txBody>
          <a:bodyPr wrap="square" lIns="0" tIns="0" rIns="0" bIns="0" anchor="t">
            <a:noAutofit/>
          </a:bodyPr>
          <a:lstStyle/>
          <a:p>
            <a:pPr algn="ctr">
              <a:lnSpc>
                <a:spcPct val="110000"/>
              </a:lnSpc>
              <a:buNone/>
            </a:pPr>
            <a:r>
              <a:rPr sz="850" b="0" i="0">
                <a:solidFill>
                  <a:srgbClr val="7F8A83"/>
                </a:solidFill>
                <a:latin typeface="Inter"/>
                <a:ea typeface="Inter"/>
                <a:cs typeface="Inter"/>
              </a:rPr>
              <a:t>390 px  ·  single column, menu collapsed</a:t>
            </a:r>
          </a:p>
        </p:txBody>
      </p:sp>
      <p:pic>
        <p:nvPicPr>
          <p:cNvPr id="12" name="Picture 11" descr="feb030c70036.jpg"/>
          <p:cNvPicPr>
            <a:picLocks noChangeAspect="1"/>
          </p:cNvPicPr>
          <p:nvPr/>
        </p:nvPicPr>
        <p:blipFill>
          <a:blip r:embed="rId3"/>
          <a:stretch>
            <a:fillRect/>
          </a:stretch>
        </p:blipFill>
        <p:spPr>
          <a:xfrm>
            <a:off x="2760412" y="2148840"/>
            <a:ext cx="2987724" cy="3904487"/>
          </a:xfrm>
          <a:prstGeom prst="rect">
            <a:avLst/>
          </a:prstGeom>
        </p:spPr>
      </p:pic>
      <p:sp>
        <p:nvSpPr>
          <p:cNvPr id="13" name="TextBox 12"/>
          <p:cNvSpPr txBox="1"/>
          <p:nvPr/>
        </p:nvSpPr>
        <p:spPr>
          <a:xfrm>
            <a:off x="2486092" y="1581912"/>
            <a:ext cx="3536364" cy="280606"/>
          </a:xfrm>
          <a:prstGeom prst="rect">
            <a:avLst/>
          </a:prstGeom>
          <a:noFill/>
        </p:spPr>
        <p:txBody>
          <a:bodyPr wrap="square" lIns="0" tIns="0" rIns="0" bIns="0" anchor="t">
            <a:noAutofit/>
          </a:bodyPr>
          <a:lstStyle/>
          <a:p>
            <a:pPr algn="ctr">
              <a:lnSpc>
                <a:spcPct val="100000"/>
              </a:lnSpc>
              <a:buNone/>
            </a:pPr>
            <a:r>
              <a:rPr sz="1500" b="0" i="0">
                <a:solidFill>
                  <a:srgbClr val="16201B"/>
                </a:solidFill>
                <a:latin typeface="Fraunces"/>
                <a:ea typeface="Fraunces"/>
                <a:cs typeface="Fraunces"/>
              </a:rPr>
              <a:t>Tablet View</a:t>
            </a:r>
          </a:p>
        </p:txBody>
      </p:sp>
      <p:sp>
        <p:nvSpPr>
          <p:cNvPr id="14" name="TextBox 13"/>
          <p:cNvSpPr txBox="1"/>
          <p:nvPr/>
        </p:nvSpPr>
        <p:spPr>
          <a:xfrm>
            <a:off x="2486092" y="1837944"/>
            <a:ext cx="3536364" cy="189401"/>
          </a:xfrm>
          <a:prstGeom prst="rect">
            <a:avLst/>
          </a:prstGeom>
          <a:noFill/>
        </p:spPr>
        <p:txBody>
          <a:bodyPr wrap="square" lIns="0" tIns="0" rIns="0" bIns="0" anchor="t">
            <a:noAutofit/>
          </a:bodyPr>
          <a:lstStyle/>
          <a:p>
            <a:pPr algn="ctr">
              <a:lnSpc>
                <a:spcPct val="110000"/>
              </a:lnSpc>
              <a:buNone/>
            </a:pPr>
            <a:r>
              <a:rPr sz="850" b="0" i="0">
                <a:solidFill>
                  <a:srgbClr val="7F8A83"/>
                </a:solidFill>
                <a:latin typeface="Inter"/>
                <a:ea typeface="Inter"/>
                <a:cs typeface="Inter"/>
              </a:rPr>
              <a:t>834 px  ·  hero + 21 / 3 / 1 stats</a:t>
            </a:r>
          </a:p>
        </p:txBody>
      </p:sp>
      <p:pic>
        <p:nvPicPr>
          <p:cNvPr id="15" name="Picture 14" descr="36582063a8ad.jpg"/>
          <p:cNvPicPr>
            <a:picLocks noChangeAspect="1"/>
          </p:cNvPicPr>
          <p:nvPr/>
        </p:nvPicPr>
        <p:blipFill>
          <a:blip r:embed="rId4"/>
          <a:stretch>
            <a:fillRect/>
          </a:stretch>
        </p:blipFill>
        <p:spPr>
          <a:xfrm>
            <a:off x="6065215" y="2896603"/>
            <a:ext cx="5577840" cy="3156724"/>
          </a:xfrm>
          <a:prstGeom prst="rect">
            <a:avLst/>
          </a:prstGeom>
        </p:spPr>
      </p:pic>
      <p:sp>
        <p:nvSpPr>
          <p:cNvPr id="16" name="TextBox 15"/>
          <p:cNvSpPr txBox="1"/>
          <p:nvPr/>
        </p:nvSpPr>
        <p:spPr>
          <a:xfrm>
            <a:off x="5790895" y="2329675"/>
            <a:ext cx="6126479" cy="280606"/>
          </a:xfrm>
          <a:prstGeom prst="rect">
            <a:avLst/>
          </a:prstGeom>
          <a:noFill/>
        </p:spPr>
        <p:txBody>
          <a:bodyPr wrap="square" lIns="0" tIns="0" rIns="0" bIns="0" anchor="t">
            <a:noAutofit/>
          </a:bodyPr>
          <a:lstStyle/>
          <a:p>
            <a:pPr algn="ctr">
              <a:lnSpc>
                <a:spcPct val="100000"/>
              </a:lnSpc>
              <a:buNone/>
            </a:pPr>
            <a:r>
              <a:rPr sz="1500" b="0" i="0">
                <a:solidFill>
                  <a:srgbClr val="16201B"/>
                </a:solidFill>
                <a:latin typeface="Fraunces"/>
                <a:ea typeface="Fraunces"/>
                <a:cs typeface="Fraunces"/>
              </a:rPr>
              <a:t>Laptop View</a:t>
            </a:r>
          </a:p>
        </p:txBody>
      </p:sp>
      <p:sp>
        <p:nvSpPr>
          <p:cNvPr id="17" name="TextBox 16"/>
          <p:cNvSpPr txBox="1"/>
          <p:nvPr/>
        </p:nvSpPr>
        <p:spPr>
          <a:xfrm>
            <a:off x="5790895" y="2585707"/>
            <a:ext cx="6126479" cy="189401"/>
          </a:xfrm>
          <a:prstGeom prst="rect">
            <a:avLst/>
          </a:prstGeom>
          <a:noFill/>
        </p:spPr>
        <p:txBody>
          <a:bodyPr wrap="square" lIns="0" tIns="0" rIns="0" bIns="0" anchor="t">
            <a:noAutofit/>
          </a:bodyPr>
          <a:lstStyle/>
          <a:p>
            <a:pPr algn="ctr">
              <a:lnSpc>
                <a:spcPct val="110000"/>
              </a:lnSpc>
              <a:buNone/>
            </a:pPr>
            <a:r>
              <a:rPr sz="850" b="0" i="0">
                <a:solidFill>
                  <a:srgbClr val="7F8A83"/>
                </a:solidFill>
                <a:latin typeface="Inter"/>
                <a:ea typeface="Inter"/>
                <a:cs typeface="Inter"/>
              </a:rPr>
              <a:t>1440 px  ·  two-column hero + full nav</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F9F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5486400" cy="199851"/>
          </a:xfrm>
          <a:prstGeom prst="rect">
            <a:avLst/>
          </a:prstGeom>
          <a:noFill/>
        </p:spPr>
        <p:txBody>
          <a:bodyPr wrap="square" lIns="0" tIns="0" rIns="0" bIns="0" anchor="t">
            <a:noAutofit/>
          </a:bodyPr>
          <a:lstStyle/>
          <a:p>
            <a:pPr algn="l">
              <a:lnSpc>
                <a:spcPct val="118000"/>
              </a:lnSpc>
              <a:buNone/>
            </a:pPr>
            <a:r>
              <a:rPr sz="850" b="0" i="0" spc="140">
                <a:solidFill>
                  <a:srgbClr val="5C7A63"/>
                </a:solidFill>
                <a:latin typeface="Inter SemiBold"/>
                <a:ea typeface="Inter SemiBold"/>
                <a:cs typeface="Inter SemiBold"/>
              </a:rPr>
              <a:t>DIGITAL MARKETING  ·  ASSIGNMENT FOLIO</a:t>
            </a:r>
          </a:p>
        </p:txBody>
      </p:sp>
      <p:sp>
        <p:nvSpPr>
          <p:cNvPr id="3" name="TextBox 2"/>
          <p:cNvSpPr txBox="1"/>
          <p:nvPr/>
        </p:nvSpPr>
        <p:spPr>
          <a:xfrm>
            <a:off x="7071055" y="384048"/>
            <a:ext cx="4572000" cy="199851"/>
          </a:xfrm>
          <a:prstGeom prst="rect">
            <a:avLst/>
          </a:prstGeom>
          <a:noFill/>
        </p:spPr>
        <p:txBody>
          <a:bodyPr wrap="square" lIns="0" tIns="0" rIns="0" bIns="0" anchor="t">
            <a:noAutofit/>
          </a:bodyPr>
          <a:lstStyle/>
          <a:p>
            <a:pPr algn="r">
              <a:lnSpc>
                <a:spcPct val="118000"/>
              </a:lnSpc>
              <a:buNone/>
            </a:pPr>
            <a:r>
              <a:rPr sz="850" b="0" i="0" spc="140">
                <a:solidFill>
                  <a:srgbClr val="7F8A83"/>
                </a:solidFill>
                <a:latin typeface="Inter SemiBold"/>
                <a:ea typeface="Inter SemiBold"/>
                <a:cs typeface="Inter SemiBold"/>
              </a:rPr>
              <a:t>OFF-PAGE SEO · SOCIAL SIGNALS</a:t>
            </a:r>
          </a:p>
        </p:txBody>
      </p:sp>
      <p:sp>
        <p:nvSpPr>
          <p:cNvPr id="4" name="Rectangle 3"/>
          <p:cNvSpPr/>
          <p:nvPr/>
        </p:nvSpPr>
        <p:spPr>
          <a:xfrm>
            <a:off x="548640" y="6377749"/>
            <a:ext cx="11094415"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640" y="6455664"/>
            <a:ext cx="7315200" cy="190784"/>
          </a:xfrm>
          <a:prstGeom prst="rect">
            <a:avLst/>
          </a:prstGeom>
          <a:noFill/>
        </p:spPr>
        <p:txBody>
          <a:bodyPr wrap="square" lIns="0" tIns="0" rIns="0" bIns="0" anchor="t">
            <a:noAutofit/>
          </a:bodyPr>
          <a:lstStyle/>
          <a:p>
            <a:pPr algn="l">
              <a:lnSpc>
                <a:spcPct val="118000"/>
              </a:lnSpc>
              <a:buNone/>
            </a:pPr>
            <a:r>
              <a:rPr sz="800" b="0" i="0">
                <a:solidFill>
                  <a:srgbClr val="7F8A83"/>
                </a:solidFill>
                <a:latin typeface="Inter"/>
                <a:ea typeface="Inter"/>
                <a:cs typeface="Inter"/>
              </a:rPr>
              <a:t>SEO for JalNest  —  Digital Marketing Assignment</a:t>
            </a:r>
          </a:p>
        </p:txBody>
      </p:sp>
      <p:sp>
        <p:nvSpPr>
          <p:cNvPr id="6" name="TextBox 5"/>
          <p:cNvSpPr txBox="1"/>
          <p:nvPr/>
        </p:nvSpPr>
        <p:spPr>
          <a:xfrm>
            <a:off x="8899855" y="6455664"/>
            <a:ext cx="2743200" cy="190784"/>
          </a:xfrm>
          <a:prstGeom prst="rect">
            <a:avLst/>
          </a:prstGeom>
          <a:noFill/>
        </p:spPr>
        <p:txBody>
          <a:bodyPr wrap="square" lIns="0" tIns="0" rIns="0" bIns="0" anchor="t">
            <a:noAutofit/>
          </a:bodyPr>
          <a:lstStyle/>
          <a:p>
            <a:pPr algn="r">
              <a:lnSpc>
                <a:spcPct val="118000"/>
              </a:lnSpc>
              <a:buNone/>
            </a:pPr>
            <a:r>
              <a:rPr sz="800" b="0" i="0">
                <a:solidFill>
                  <a:srgbClr val="7F8A83"/>
                </a:solidFill>
                <a:latin typeface="Inter"/>
                <a:ea typeface="Inter"/>
                <a:cs typeface="Inter"/>
              </a:rPr>
              <a:t>Session 2026–27   ·   13 / 18</a:t>
            </a:r>
          </a:p>
        </p:txBody>
      </p:sp>
      <p:sp>
        <p:nvSpPr>
          <p:cNvPr id="7" name="TextBox 6"/>
          <p:cNvSpPr txBox="1"/>
          <p:nvPr/>
        </p:nvSpPr>
        <p:spPr>
          <a:xfrm>
            <a:off x="548640" y="841248"/>
            <a:ext cx="5486400" cy="556833"/>
          </a:xfrm>
          <a:prstGeom prst="rect">
            <a:avLst/>
          </a:prstGeom>
          <a:noFill/>
        </p:spPr>
        <p:txBody>
          <a:bodyPr wrap="square" lIns="0" tIns="0" rIns="0" bIns="0" anchor="t">
            <a:noAutofit/>
          </a:bodyPr>
          <a:lstStyle/>
          <a:p>
            <a:pPr algn="l">
              <a:lnSpc>
                <a:spcPct val="102000"/>
              </a:lnSpc>
              <a:buNone/>
            </a:pPr>
            <a:r>
              <a:rPr sz="3200" b="0" i="0">
                <a:solidFill>
                  <a:srgbClr val="16201B"/>
                </a:solidFill>
                <a:latin typeface="Fraunces"/>
                <a:ea typeface="Fraunces"/>
                <a:cs typeface="Fraunces"/>
              </a:rPr>
              <a:t>Social </a:t>
            </a:r>
            <a:r>
              <a:rPr sz="3200" b="0" i="1">
                <a:solidFill>
                  <a:srgbClr val="B8663C"/>
                </a:solidFill>
                <a:latin typeface="Fraunces"/>
                <a:ea typeface="Fraunces"/>
                <a:cs typeface="Fraunces"/>
              </a:rPr>
              <a:t>Media</a:t>
            </a:r>
          </a:p>
        </p:txBody>
      </p:sp>
      <p:sp>
        <p:nvSpPr>
          <p:cNvPr id="8" name="TextBox 7"/>
          <p:cNvSpPr txBox="1"/>
          <p:nvPr/>
        </p:nvSpPr>
        <p:spPr>
          <a:xfrm>
            <a:off x="6400800" y="914400"/>
            <a:ext cx="5242255" cy="481374"/>
          </a:xfrm>
          <a:prstGeom prst="rect">
            <a:avLst/>
          </a:prstGeom>
          <a:noFill/>
        </p:spPr>
        <p:txBody>
          <a:bodyPr wrap="square" lIns="0" tIns="0" rIns="0" bIns="0" anchor="t">
            <a:noAutofit/>
          </a:bodyPr>
          <a:lstStyle/>
          <a:p>
            <a:pPr algn="r">
              <a:lnSpc>
                <a:spcPct val="135000"/>
              </a:lnSpc>
              <a:buNone/>
            </a:pPr>
            <a:r>
              <a:rPr sz="1050" b="0" i="0">
                <a:solidFill>
                  <a:srgbClr val="7F8A83"/>
                </a:solidFill>
                <a:latin typeface="Inter"/>
                <a:ea typeface="Inter"/>
                <a:cs typeface="Inter"/>
              </a:rPr>
              <a:t>Social profiles do not pass PageRank directly, but they drive brand searches, referral traffic and the shares that turn into backlinks.</a:t>
            </a:r>
          </a:p>
        </p:txBody>
      </p:sp>
      <p:sp>
        <p:nvSpPr>
          <p:cNvPr id="9" name="TextBox 8"/>
          <p:cNvSpPr txBox="1"/>
          <p:nvPr/>
        </p:nvSpPr>
        <p:spPr>
          <a:xfrm>
            <a:off x="548640" y="1600200"/>
            <a:ext cx="3698138" cy="296265"/>
          </a:xfrm>
          <a:prstGeom prst="rect">
            <a:avLst/>
          </a:prstGeom>
          <a:noFill/>
        </p:spPr>
        <p:txBody>
          <a:bodyPr wrap="square" lIns="0" tIns="0" rIns="0" bIns="0" anchor="t">
            <a:noAutofit/>
          </a:bodyPr>
          <a:lstStyle/>
          <a:p>
            <a:pPr algn="ctr">
              <a:lnSpc>
                <a:spcPct val="100000"/>
              </a:lnSpc>
              <a:buNone/>
            </a:pPr>
            <a:r>
              <a:rPr sz="1600" b="0" i="0">
                <a:solidFill>
                  <a:srgbClr val="16201B"/>
                </a:solidFill>
                <a:latin typeface="Fraunces"/>
                <a:ea typeface="Fraunces"/>
                <a:cs typeface="Fraunces"/>
              </a:rPr>
              <a:t>Instagram</a:t>
            </a:r>
          </a:p>
        </p:txBody>
      </p:sp>
      <p:pic>
        <p:nvPicPr>
          <p:cNvPr id="10" name="Picture 9" descr="15d724c8817c.jpg"/>
          <p:cNvPicPr>
            <a:picLocks noChangeAspect="1"/>
          </p:cNvPicPr>
          <p:nvPr/>
        </p:nvPicPr>
        <p:blipFill>
          <a:blip r:embed="rId2"/>
          <a:stretch>
            <a:fillRect/>
          </a:stretch>
        </p:blipFill>
        <p:spPr>
          <a:xfrm>
            <a:off x="1476985" y="1938528"/>
            <a:ext cx="1841448" cy="3794760"/>
          </a:xfrm>
          <a:prstGeom prst="rect">
            <a:avLst/>
          </a:prstGeom>
        </p:spPr>
      </p:pic>
      <p:sp>
        <p:nvSpPr>
          <p:cNvPr id="11" name="TextBox 10"/>
          <p:cNvSpPr txBox="1"/>
          <p:nvPr/>
        </p:nvSpPr>
        <p:spPr>
          <a:xfrm>
            <a:off x="822960" y="5806440"/>
            <a:ext cx="3149498" cy="391477"/>
          </a:xfrm>
          <a:prstGeom prst="rect">
            <a:avLst/>
          </a:prstGeom>
          <a:noFill/>
        </p:spPr>
        <p:txBody>
          <a:bodyPr wrap="square" lIns="0" tIns="0" rIns="0" bIns="0" anchor="t">
            <a:noAutofit/>
          </a:bodyPr>
          <a:lstStyle/>
          <a:p>
            <a:pPr algn="ctr">
              <a:lnSpc>
                <a:spcPct val="125000"/>
              </a:lnSpc>
              <a:buNone/>
            </a:pPr>
            <a:r>
              <a:rPr sz="900" b="0" i="0">
                <a:solidFill>
                  <a:srgbClr val="4A5751"/>
                </a:solidFill>
                <a:latin typeface="Inter"/>
                <a:ea typeface="Inter"/>
                <a:cs typeface="Inter"/>
              </a:rPr>
              <a:t>Product reels and plant-care carousels from @orivyaa095 — builds brand searches for “JalNest planter”.</a:t>
            </a:r>
          </a:p>
        </p:txBody>
      </p:sp>
      <p:sp>
        <p:nvSpPr>
          <p:cNvPr id="12" name="TextBox 11"/>
          <p:cNvSpPr txBox="1"/>
          <p:nvPr/>
        </p:nvSpPr>
        <p:spPr>
          <a:xfrm>
            <a:off x="4246778" y="1600200"/>
            <a:ext cx="3698138" cy="296265"/>
          </a:xfrm>
          <a:prstGeom prst="rect">
            <a:avLst/>
          </a:prstGeom>
          <a:noFill/>
        </p:spPr>
        <p:txBody>
          <a:bodyPr wrap="square" lIns="0" tIns="0" rIns="0" bIns="0" anchor="t">
            <a:noAutofit/>
          </a:bodyPr>
          <a:lstStyle/>
          <a:p>
            <a:pPr algn="ctr">
              <a:lnSpc>
                <a:spcPct val="100000"/>
              </a:lnSpc>
              <a:buNone/>
            </a:pPr>
            <a:r>
              <a:rPr sz="1600" b="0" i="0">
                <a:solidFill>
                  <a:srgbClr val="16201B"/>
                </a:solidFill>
                <a:latin typeface="Fraunces"/>
                <a:ea typeface="Fraunces"/>
                <a:cs typeface="Fraunces"/>
              </a:rPr>
              <a:t>Facebook</a:t>
            </a:r>
          </a:p>
        </p:txBody>
      </p:sp>
      <p:pic>
        <p:nvPicPr>
          <p:cNvPr id="13" name="Picture 12" descr="625ca71b2611.jpg"/>
          <p:cNvPicPr>
            <a:picLocks noChangeAspect="1"/>
          </p:cNvPicPr>
          <p:nvPr/>
        </p:nvPicPr>
        <p:blipFill>
          <a:blip r:embed="rId3"/>
          <a:stretch>
            <a:fillRect/>
          </a:stretch>
        </p:blipFill>
        <p:spPr>
          <a:xfrm>
            <a:off x="5175123" y="1938528"/>
            <a:ext cx="1841448" cy="3794760"/>
          </a:xfrm>
          <a:prstGeom prst="rect">
            <a:avLst/>
          </a:prstGeom>
        </p:spPr>
      </p:pic>
      <p:sp>
        <p:nvSpPr>
          <p:cNvPr id="14" name="TextBox 13"/>
          <p:cNvSpPr txBox="1"/>
          <p:nvPr/>
        </p:nvSpPr>
        <p:spPr>
          <a:xfrm>
            <a:off x="4521098" y="5806440"/>
            <a:ext cx="3149498" cy="391477"/>
          </a:xfrm>
          <a:prstGeom prst="rect">
            <a:avLst/>
          </a:prstGeom>
          <a:noFill/>
        </p:spPr>
        <p:txBody>
          <a:bodyPr wrap="square" lIns="0" tIns="0" rIns="0" bIns="0" anchor="t">
            <a:noAutofit/>
          </a:bodyPr>
          <a:lstStyle/>
          <a:p>
            <a:pPr algn="ctr">
              <a:lnSpc>
                <a:spcPct val="125000"/>
              </a:lnSpc>
              <a:buNone/>
            </a:pPr>
            <a:r>
              <a:rPr sz="900" b="0" i="0">
                <a:solidFill>
                  <a:srgbClr val="4A5751"/>
                </a:solidFill>
                <a:latin typeface="Inter"/>
                <a:ea typeface="Inter"/>
                <a:cs typeface="Inter"/>
              </a:rPr>
              <a:t>The ORIVYAA page plus sponsored posts for Jaipur, Delhi NCR and Bengaluru — sends traffic to the pricing section.</a:t>
            </a:r>
          </a:p>
        </p:txBody>
      </p:sp>
      <p:sp>
        <p:nvSpPr>
          <p:cNvPr id="15" name="TextBox 14"/>
          <p:cNvSpPr txBox="1"/>
          <p:nvPr/>
        </p:nvSpPr>
        <p:spPr>
          <a:xfrm>
            <a:off x="7944916" y="1600200"/>
            <a:ext cx="3698138" cy="296265"/>
          </a:xfrm>
          <a:prstGeom prst="rect">
            <a:avLst/>
          </a:prstGeom>
          <a:noFill/>
        </p:spPr>
        <p:txBody>
          <a:bodyPr wrap="square" lIns="0" tIns="0" rIns="0" bIns="0" anchor="t">
            <a:noAutofit/>
          </a:bodyPr>
          <a:lstStyle/>
          <a:p>
            <a:pPr algn="ctr">
              <a:lnSpc>
                <a:spcPct val="100000"/>
              </a:lnSpc>
              <a:buNone/>
            </a:pPr>
            <a:r>
              <a:rPr sz="1600" b="0" i="0">
                <a:solidFill>
                  <a:srgbClr val="16201B"/>
                </a:solidFill>
                <a:latin typeface="Fraunces"/>
                <a:ea typeface="Fraunces"/>
                <a:cs typeface="Fraunces"/>
              </a:rPr>
              <a:t>X (Twitter)</a:t>
            </a:r>
          </a:p>
        </p:txBody>
      </p:sp>
      <p:pic>
        <p:nvPicPr>
          <p:cNvPr id="16" name="Picture 15" descr="c62aefa32d5b.jpg"/>
          <p:cNvPicPr>
            <a:picLocks noChangeAspect="1"/>
          </p:cNvPicPr>
          <p:nvPr/>
        </p:nvPicPr>
        <p:blipFill>
          <a:blip r:embed="rId4"/>
          <a:stretch>
            <a:fillRect/>
          </a:stretch>
        </p:blipFill>
        <p:spPr>
          <a:xfrm>
            <a:off x="8873261" y="1938528"/>
            <a:ext cx="1841448" cy="3794760"/>
          </a:xfrm>
          <a:prstGeom prst="rect">
            <a:avLst/>
          </a:prstGeom>
        </p:spPr>
      </p:pic>
      <p:sp>
        <p:nvSpPr>
          <p:cNvPr id="17" name="TextBox 16"/>
          <p:cNvSpPr txBox="1"/>
          <p:nvPr/>
        </p:nvSpPr>
        <p:spPr>
          <a:xfrm>
            <a:off x="8219236" y="5806440"/>
            <a:ext cx="3149498" cy="391477"/>
          </a:xfrm>
          <a:prstGeom prst="rect">
            <a:avLst/>
          </a:prstGeom>
          <a:noFill/>
        </p:spPr>
        <p:txBody>
          <a:bodyPr wrap="square" lIns="0" tIns="0" rIns="0" bIns="0" anchor="t">
            <a:noAutofit/>
          </a:bodyPr>
          <a:lstStyle/>
          <a:p>
            <a:pPr algn="ctr">
              <a:lnSpc>
                <a:spcPct val="125000"/>
              </a:lnSpc>
              <a:buNone/>
            </a:pPr>
            <a:r>
              <a:rPr sz="900" b="0" i="0">
                <a:solidFill>
                  <a:srgbClr val="4A5751"/>
                </a:solidFill>
                <a:latin typeface="Inter"/>
                <a:ea typeface="Inter"/>
                <a:cs typeface="Inter"/>
              </a:rPr>
              <a:t>Build-in-public threads from @OrivyaaAura, already linked in the site footer — earns design-community links.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BF9F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5486400" cy="199851"/>
          </a:xfrm>
          <a:prstGeom prst="rect">
            <a:avLst/>
          </a:prstGeom>
          <a:noFill/>
        </p:spPr>
        <p:txBody>
          <a:bodyPr wrap="square" lIns="0" tIns="0" rIns="0" bIns="0" anchor="t">
            <a:noAutofit/>
          </a:bodyPr>
          <a:lstStyle/>
          <a:p>
            <a:pPr algn="l">
              <a:lnSpc>
                <a:spcPct val="118000"/>
              </a:lnSpc>
              <a:buNone/>
            </a:pPr>
            <a:r>
              <a:rPr sz="850" b="0" i="0" spc="140">
                <a:solidFill>
                  <a:srgbClr val="5C7A63"/>
                </a:solidFill>
                <a:latin typeface="Inter SemiBold"/>
                <a:ea typeface="Inter SemiBold"/>
                <a:cs typeface="Inter SemiBold"/>
              </a:rPr>
              <a:t>DIGITAL MARKETING  ·  ASSIGNMENT FOLIO</a:t>
            </a:r>
          </a:p>
        </p:txBody>
      </p:sp>
      <p:sp>
        <p:nvSpPr>
          <p:cNvPr id="3" name="TextBox 2"/>
          <p:cNvSpPr txBox="1"/>
          <p:nvPr/>
        </p:nvSpPr>
        <p:spPr>
          <a:xfrm>
            <a:off x="7071055" y="384048"/>
            <a:ext cx="4572000" cy="199851"/>
          </a:xfrm>
          <a:prstGeom prst="rect">
            <a:avLst/>
          </a:prstGeom>
          <a:noFill/>
        </p:spPr>
        <p:txBody>
          <a:bodyPr wrap="square" lIns="0" tIns="0" rIns="0" bIns="0" anchor="t">
            <a:noAutofit/>
          </a:bodyPr>
          <a:lstStyle/>
          <a:p>
            <a:pPr algn="r">
              <a:lnSpc>
                <a:spcPct val="118000"/>
              </a:lnSpc>
              <a:buNone/>
            </a:pPr>
            <a:r>
              <a:rPr sz="850" b="0" i="0" spc="140">
                <a:solidFill>
                  <a:srgbClr val="7F8A83"/>
                </a:solidFill>
                <a:latin typeface="Inter SemiBold"/>
                <a:ea typeface="Inter SemiBold"/>
                <a:cs typeface="Inter SemiBold"/>
              </a:rPr>
              <a:t>TECHNICAL SEO</a:t>
            </a:r>
          </a:p>
        </p:txBody>
      </p:sp>
      <p:sp>
        <p:nvSpPr>
          <p:cNvPr id="4" name="Rectangle 3"/>
          <p:cNvSpPr/>
          <p:nvPr/>
        </p:nvSpPr>
        <p:spPr>
          <a:xfrm>
            <a:off x="548640" y="6377749"/>
            <a:ext cx="11094415"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640" y="6455664"/>
            <a:ext cx="7315200" cy="190784"/>
          </a:xfrm>
          <a:prstGeom prst="rect">
            <a:avLst/>
          </a:prstGeom>
          <a:noFill/>
        </p:spPr>
        <p:txBody>
          <a:bodyPr wrap="square" lIns="0" tIns="0" rIns="0" bIns="0" anchor="t">
            <a:noAutofit/>
          </a:bodyPr>
          <a:lstStyle/>
          <a:p>
            <a:pPr algn="l">
              <a:lnSpc>
                <a:spcPct val="118000"/>
              </a:lnSpc>
              <a:buNone/>
            </a:pPr>
            <a:r>
              <a:rPr sz="800" b="0" i="0">
                <a:solidFill>
                  <a:srgbClr val="7F8A83"/>
                </a:solidFill>
                <a:latin typeface="Inter"/>
                <a:ea typeface="Inter"/>
                <a:cs typeface="Inter"/>
              </a:rPr>
              <a:t>SEO for JalNest  —  Digital Marketing Assignment</a:t>
            </a:r>
          </a:p>
        </p:txBody>
      </p:sp>
      <p:sp>
        <p:nvSpPr>
          <p:cNvPr id="6" name="TextBox 5"/>
          <p:cNvSpPr txBox="1"/>
          <p:nvPr/>
        </p:nvSpPr>
        <p:spPr>
          <a:xfrm>
            <a:off x="8899855" y="6455664"/>
            <a:ext cx="2743200" cy="190784"/>
          </a:xfrm>
          <a:prstGeom prst="rect">
            <a:avLst/>
          </a:prstGeom>
          <a:noFill/>
        </p:spPr>
        <p:txBody>
          <a:bodyPr wrap="square" lIns="0" tIns="0" rIns="0" bIns="0" anchor="t">
            <a:noAutofit/>
          </a:bodyPr>
          <a:lstStyle/>
          <a:p>
            <a:pPr algn="r">
              <a:lnSpc>
                <a:spcPct val="118000"/>
              </a:lnSpc>
              <a:buNone/>
            </a:pPr>
            <a:r>
              <a:rPr sz="800" b="0" i="0">
                <a:solidFill>
                  <a:srgbClr val="7F8A83"/>
                </a:solidFill>
                <a:latin typeface="Inter"/>
                <a:ea typeface="Inter"/>
                <a:cs typeface="Inter"/>
              </a:rPr>
              <a:t>Session 2026–27   ·   14 / 18</a:t>
            </a:r>
          </a:p>
        </p:txBody>
      </p:sp>
      <p:sp>
        <p:nvSpPr>
          <p:cNvPr id="7" name="TextBox 6"/>
          <p:cNvSpPr txBox="1"/>
          <p:nvPr/>
        </p:nvSpPr>
        <p:spPr>
          <a:xfrm>
            <a:off x="548640" y="841248"/>
            <a:ext cx="5486400" cy="556833"/>
          </a:xfrm>
          <a:prstGeom prst="rect">
            <a:avLst/>
          </a:prstGeom>
          <a:noFill/>
        </p:spPr>
        <p:txBody>
          <a:bodyPr wrap="square" lIns="0" tIns="0" rIns="0" bIns="0" anchor="t">
            <a:noAutofit/>
          </a:bodyPr>
          <a:lstStyle/>
          <a:p>
            <a:pPr algn="l">
              <a:lnSpc>
                <a:spcPct val="102000"/>
              </a:lnSpc>
              <a:buNone/>
            </a:pPr>
            <a:r>
              <a:rPr sz="3200" b="0" i="0">
                <a:solidFill>
                  <a:srgbClr val="16201B"/>
                </a:solidFill>
                <a:latin typeface="Fraunces"/>
                <a:ea typeface="Fraunces"/>
                <a:cs typeface="Fraunces"/>
              </a:rPr>
              <a:t>Technical </a:t>
            </a:r>
            <a:r>
              <a:rPr sz="3200" b="0" i="1">
                <a:solidFill>
                  <a:srgbClr val="B8663C"/>
                </a:solidFill>
                <a:latin typeface="Fraunces"/>
                <a:ea typeface="Fraunces"/>
                <a:cs typeface="Fraunces"/>
              </a:rPr>
              <a:t>SEO</a:t>
            </a:r>
          </a:p>
        </p:txBody>
      </p:sp>
      <p:sp>
        <p:nvSpPr>
          <p:cNvPr id="8" name="TextBox 7"/>
          <p:cNvSpPr txBox="1"/>
          <p:nvPr/>
        </p:nvSpPr>
        <p:spPr>
          <a:xfrm>
            <a:off x="6400800" y="914400"/>
            <a:ext cx="5242255" cy="481374"/>
          </a:xfrm>
          <a:prstGeom prst="rect">
            <a:avLst/>
          </a:prstGeom>
          <a:noFill/>
        </p:spPr>
        <p:txBody>
          <a:bodyPr wrap="square" lIns="0" tIns="0" rIns="0" bIns="0" anchor="t">
            <a:noAutofit/>
          </a:bodyPr>
          <a:lstStyle/>
          <a:p>
            <a:pPr algn="r">
              <a:lnSpc>
                <a:spcPct val="135000"/>
              </a:lnSpc>
              <a:buNone/>
            </a:pPr>
            <a:r>
              <a:rPr sz="1050" b="0" i="0">
                <a:solidFill>
                  <a:srgbClr val="7F8A83"/>
                </a:solidFill>
                <a:latin typeface="Inter"/>
                <a:ea typeface="Inter"/>
                <a:cs typeface="Inter"/>
              </a:rPr>
              <a:t>Two small files tell search engines what to crawl and where every important page lives — on this site one is live and one is missing.</a:t>
            </a:r>
          </a:p>
        </p:txBody>
      </p:sp>
      <p:sp>
        <p:nvSpPr>
          <p:cNvPr id="9" name="TextBox 8"/>
          <p:cNvSpPr txBox="1"/>
          <p:nvPr/>
        </p:nvSpPr>
        <p:spPr>
          <a:xfrm>
            <a:off x="548640" y="1600200"/>
            <a:ext cx="5364327" cy="358902"/>
          </a:xfrm>
          <a:prstGeom prst="rect">
            <a:avLst/>
          </a:prstGeom>
          <a:noFill/>
        </p:spPr>
        <p:txBody>
          <a:bodyPr wrap="square" lIns="0" tIns="0" rIns="0" bIns="0" anchor="t">
            <a:noAutofit/>
          </a:bodyPr>
          <a:lstStyle/>
          <a:p>
            <a:pPr algn="l">
              <a:lnSpc>
                <a:spcPct val="100000"/>
              </a:lnSpc>
              <a:buNone/>
            </a:pPr>
            <a:r>
              <a:rPr sz="2000" b="0" i="0">
                <a:solidFill>
                  <a:srgbClr val="16201B"/>
                </a:solidFill>
                <a:latin typeface="Fraunces"/>
                <a:ea typeface="Fraunces"/>
                <a:cs typeface="Fraunces"/>
              </a:rPr>
              <a:t>robots.txt</a:t>
            </a:r>
          </a:p>
        </p:txBody>
      </p:sp>
      <p:sp>
        <p:nvSpPr>
          <p:cNvPr id="10" name="TextBox 9"/>
          <p:cNvSpPr txBox="1"/>
          <p:nvPr/>
        </p:nvSpPr>
        <p:spPr>
          <a:xfrm>
            <a:off x="548640" y="1984248"/>
            <a:ext cx="5364327" cy="471693"/>
          </a:xfrm>
          <a:prstGeom prst="rect">
            <a:avLst/>
          </a:prstGeom>
          <a:noFill/>
        </p:spPr>
        <p:txBody>
          <a:bodyPr wrap="square" lIns="0" tIns="0" rIns="0" bIns="0" anchor="t">
            <a:noAutofit/>
          </a:bodyPr>
          <a:lstStyle/>
          <a:p>
            <a:pPr algn="l">
              <a:lnSpc>
                <a:spcPct val="132000"/>
              </a:lnSpc>
              <a:buNone/>
            </a:pPr>
            <a:r>
              <a:rPr sz="1050" b="0" i="0">
                <a:solidFill>
                  <a:srgbClr val="4A5751"/>
                </a:solidFill>
                <a:latin typeface="Inter"/>
                <a:ea typeface="Inter"/>
                <a:cs typeface="Inter"/>
              </a:rPr>
              <a:t>Live on the site — it allows all crawling, keeps duplicate ?lightbox= URLs out of the index and blocks PetalBot. It does not point to a sitemap yet.</a:t>
            </a:r>
          </a:p>
        </p:txBody>
      </p:sp>
      <p:sp>
        <p:nvSpPr>
          <p:cNvPr id="11" name="Rounded Rectangle 10"/>
          <p:cNvSpPr/>
          <p:nvPr/>
        </p:nvSpPr>
        <p:spPr>
          <a:xfrm>
            <a:off x="576072" y="2593101"/>
            <a:ext cx="5364327" cy="2882432"/>
          </a:xfrm>
          <a:prstGeom prst="roundRect">
            <a:avLst>
              <a:gd name="adj" fmla="val 1903"/>
            </a:avLst>
          </a:prstGeom>
          <a:solidFill>
            <a:srgbClr val="16201B">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2fd06e410030.jpg"/>
          <p:cNvPicPr>
            <a:picLocks noChangeAspect="1"/>
          </p:cNvPicPr>
          <p:nvPr/>
        </p:nvPicPr>
        <p:blipFill>
          <a:blip r:embed="rId2"/>
          <a:stretch>
            <a:fillRect/>
          </a:stretch>
        </p:blipFill>
        <p:spPr>
          <a:xfrm>
            <a:off x="548640" y="2556525"/>
            <a:ext cx="5364327" cy="2882432"/>
          </a:xfrm>
          <a:prstGeom prst="rect">
            <a:avLst/>
          </a:prstGeom>
        </p:spPr>
      </p:pic>
      <p:sp>
        <p:nvSpPr>
          <p:cNvPr id="13" name="TextBox 12"/>
          <p:cNvSpPr txBox="1"/>
          <p:nvPr/>
        </p:nvSpPr>
        <p:spPr>
          <a:xfrm>
            <a:off x="6278727" y="1600200"/>
            <a:ext cx="5364327" cy="358902"/>
          </a:xfrm>
          <a:prstGeom prst="rect">
            <a:avLst/>
          </a:prstGeom>
          <a:noFill/>
        </p:spPr>
        <p:txBody>
          <a:bodyPr wrap="square" lIns="0" tIns="0" rIns="0" bIns="0" anchor="t">
            <a:noAutofit/>
          </a:bodyPr>
          <a:lstStyle/>
          <a:p>
            <a:pPr algn="l">
              <a:lnSpc>
                <a:spcPct val="100000"/>
              </a:lnSpc>
              <a:buNone/>
            </a:pPr>
            <a:r>
              <a:rPr sz="2000" b="0" i="0">
                <a:solidFill>
                  <a:srgbClr val="16201B"/>
                </a:solidFill>
                <a:latin typeface="Fraunces"/>
                <a:ea typeface="Fraunces"/>
                <a:cs typeface="Fraunces"/>
              </a:rPr>
              <a:t>XML Sitemap</a:t>
            </a:r>
          </a:p>
        </p:txBody>
      </p:sp>
      <p:sp>
        <p:nvSpPr>
          <p:cNvPr id="14" name="TextBox 13"/>
          <p:cNvSpPr txBox="1"/>
          <p:nvPr/>
        </p:nvSpPr>
        <p:spPr>
          <a:xfrm>
            <a:off x="6278727" y="1984248"/>
            <a:ext cx="5364327" cy="471693"/>
          </a:xfrm>
          <a:prstGeom prst="rect">
            <a:avLst/>
          </a:prstGeom>
          <a:noFill/>
        </p:spPr>
        <p:txBody>
          <a:bodyPr wrap="square" lIns="0" tIns="0" rIns="0" bIns="0" anchor="t">
            <a:noAutofit/>
          </a:bodyPr>
          <a:lstStyle/>
          <a:p>
            <a:pPr algn="l">
              <a:lnSpc>
                <a:spcPct val="132000"/>
              </a:lnSpc>
              <a:buNone/>
            </a:pPr>
            <a:r>
              <a:rPr sz="1050" b="0" i="0">
                <a:solidFill>
                  <a:srgbClr val="4A5751"/>
                </a:solidFill>
                <a:latin typeface="Inter"/>
                <a:ea typeface="Inter"/>
                <a:cs typeface="Inter"/>
              </a:rPr>
              <a:t>Missing today — /sitemap.xml returns a 404 on the Wix Studio domain. A sitemap listing /orivyaa, /media-center and /contact is proposed.</a:t>
            </a:r>
          </a:p>
        </p:txBody>
      </p:sp>
      <p:sp>
        <p:nvSpPr>
          <p:cNvPr id="15" name="Rounded Rectangle 14"/>
          <p:cNvSpPr/>
          <p:nvPr/>
        </p:nvSpPr>
        <p:spPr>
          <a:xfrm>
            <a:off x="6306159" y="2593101"/>
            <a:ext cx="5364327" cy="3093428"/>
          </a:xfrm>
          <a:prstGeom prst="roundRect">
            <a:avLst>
              <a:gd name="adj" fmla="val 1773"/>
            </a:avLst>
          </a:prstGeom>
          <a:solidFill>
            <a:srgbClr val="16201B">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d3c02c0321f7.jpg"/>
          <p:cNvPicPr>
            <a:picLocks noChangeAspect="1"/>
          </p:cNvPicPr>
          <p:nvPr/>
        </p:nvPicPr>
        <p:blipFill>
          <a:blip r:embed="rId3"/>
          <a:stretch>
            <a:fillRect/>
          </a:stretch>
        </p:blipFill>
        <p:spPr>
          <a:xfrm>
            <a:off x="6278727" y="2556525"/>
            <a:ext cx="5364327" cy="309342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BF9F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5486400" cy="199851"/>
          </a:xfrm>
          <a:prstGeom prst="rect">
            <a:avLst/>
          </a:prstGeom>
          <a:noFill/>
        </p:spPr>
        <p:txBody>
          <a:bodyPr wrap="square" lIns="0" tIns="0" rIns="0" bIns="0" anchor="t">
            <a:noAutofit/>
          </a:bodyPr>
          <a:lstStyle/>
          <a:p>
            <a:pPr algn="l">
              <a:lnSpc>
                <a:spcPct val="118000"/>
              </a:lnSpc>
              <a:buNone/>
            </a:pPr>
            <a:r>
              <a:rPr sz="850" b="0" i="0" spc="140">
                <a:solidFill>
                  <a:srgbClr val="5C7A63"/>
                </a:solidFill>
                <a:latin typeface="Inter SemiBold"/>
                <a:ea typeface="Inter SemiBold"/>
                <a:cs typeface="Inter SemiBold"/>
              </a:rPr>
              <a:t>DIGITAL MARKETING  ·  ASSIGNMENT FOLIO</a:t>
            </a:r>
          </a:p>
        </p:txBody>
      </p:sp>
      <p:sp>
        <p:nvSpPr>
          <p:cNvPr id="3" name="TextBox 2"/>
          <p:cNvSpPr txBox="1"/>
          <p:nvPr/>
        </p:nvSpPr>
        <p:spPr>
          <a:xfrm>
            <a:off x="7071055" y="384048"/>
            <a:ext cx="4572000" cy="199851"/>
          </a:xfrm>
          <a:prstGeom prst="rect">
            <a:avLst/>
          </a:prstGeom>
          <a:noFill/>
        </p:spPr>
        <p:txBody>
          <a:bodyPr wrap="square" lIns="0" tIns="0" rIns="0" bIns="0" anchor="t">
            <a:noAutofit/>
          </a:bodyPr>
          <a:lstStyle/>
          <a:p>
            <a:pPr algn="r">
              <a:lnSpc>
                <a:spcPct val="118000"/>
              </a:lnSpc>
              <a:buNone/>
            </a:pPr>
            <a:r>
              <a:rPr sz="850" b="0" i="0" spc="140">
                <a:solidFill>
                  <a:srgbClr val="7F8A83"/>
                </a:solidFill>
                <a:latin typeface="Inter SemiBold"/>
                <a:ea typeface="Inter SemiBold"/>
                <a:cs typeface="Inter SemiBold"/>
              </a:rPr>
              <a:t>COMPETITION ANALYSIS</a:t>
            </a:r>
          </a:p>
        </p:txBody>
      </p:sp>
      <p:sp>
        <p:nvSpPr>
          <p:cNvPr id="4" name="Rectangle 3"/>
          <p:cNvSpPr/>
          <p:nvPr/>
        </p:nvSpPr>
        <p:spPr>
          <a:xfrm>
            <a:off x="548640" y="6377749"/>
            <a:ext cx="11094415"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640" y="6455664"/>
            <a:ext cx="7315200" cy="190784"/>
          </a:xfrm>
          <a:prstGeom prst="rect">
            <a:avLst/>
          </a:prstGeom>
          <a:noFill/>
        </p:spPr>
        <p:txBody>
          <a:bodyPr wrap="square" lIns="0" tIns="0" rIns="0" bIns="0" anchor="t">
            <a:noAutofit/>
          </a:bodyPr>
          <a:lstStyle/>
          <a:p>
            <a:pPr algn="l">
              <a:lnSpc>
                <a:spcPct val="118000"/>
              </a:lnSpc>
              <a:buNone/>
            </a:pPr>
            <a:r>
              <a:rPr sz="800" b="0" i="0">
                <a:solidFill>
                  <a:srgbClr val="7F8A83"/>
                </a:solidFill>
                <a:latin typeface="Inter"/>
                <a:ea typeface="Inter"/>
                <a:cs typeface="Inter"/>
              </a:rPr>
              <a:t>SEO for JalNest  —  Digital Marketing Assignment</a:t>
            </a:r>
          </a:p>
        </p:txBody>
      </p:sp>
      <p:sp>
        <p:nvSpPr>
          <p:cNvPr id="6" name="TextBox 5"/>
          <p:cNvSpPr txBox="1"/>
          <p:nvPr/>
        </p:nvSpPr>
        <p:spPr>
          <a:xfrm>
            <a:off x="8899855" y="6455664"/>
            <a:ext cx="2743200" cy="190784"/>
          </a:xfrm>
          <a:prstGeom prst="rect">
            <a:avLst/>
          </a:prstGeom>
          <a:noFill/>
        </p:spPr>
        <p:txBody>
          <a:bodyPr wrap="square" lIns="0" tIns="0" rIns="0" bIns="0" anchor="t">
            <a:noAutofit/>
          </a:bodyPr>
          <a:lstStyle/>
          <a:p>
            <a:pPr algn="r">
              <a:lnSpc>
                <a:spcPct val="118000"/>
              </a:lnSpc>
              <a:buNone/>
            </a:pPr>
            <a:r>
              <a:rPr sz="800" b="0" i="0">
                <a:solidFill>
                  <a:srgbClr val="7F8A83"/>
                </a:solidFill>
                <a:latin typeface="Inter"/>
                <a:ea typeface="Inter"/>
                <a:cs typeface="Inter"/>
              </a:rPr>
              <a:t>Session 2026–27   ·   15 / 18</a:t>
            </a:r>
          </a:p>
        </p:txBody>
      </p:sp>
      <p:sp>
        <p:nvSpPr>
          <p:cNvPr id="7" name="TextBox 6"/>
          <p:cNvSpPr txBox="1"/>
          <p:nvPr/>
        </p:nvSpPr>
        <p:spPr>
          <a:xfrm>
            <a:off x="548640" y="841248"/>
            <a:ext cx="6400800" cy="556833"/>
          </a:xfrm>
          <a:prstGeom prst="rect">
            <a:avLst/>
          </a:prstGeom>
          <a:noFill/>
        </p:spPr>
        <p:txBody>
          <a:bodyPr wrap="square" lIns="0" tIns="0" rIns="0" bIns="0" anchor="t">
            <a:noAutofit/>
          </a:bodyPr>
          <a:lstStyle/>
          <a:p>
            <a:pPr algn="l">
              <a:lnSpc>
                <a:spcPct val="102000"/>
              </a:lnSpc>
              <a:buNone/>
            </a:pPr>
            <a:r>
              <a:rPr sz="3200" b="0" i="0">
                <a:solidFill>
                  <a:srgbClr val="16201B"/>
                </a:solidFill>
                <a:latin typeface="Fraunces"/>
                <a:ea typeface="Fraunces"/>
                <a:cs typeface="Fraunces"/>
              </a:rPr>
              <a:t>Competition </a:t>
            </a:r>
            <a:r>
              <a:rPr sz="3200" b="0" i="1">
                <a:solidFill>
                  <a:srgbClr val="B8663C"/>
                </a:solidFill>
                <a:latin typeface="Fraunces"/>
                <a:ea typeface="Fraunces"/>
                <a:cs typeface="Fraunces"/>
              </a:rPr>
              <a:t>Analysis</a:t>
            </a:r>
          </a:p>
        </p:txBody>
      </p:sp>
      <p:sp>
        <p:nvSpPr>
          <p:cNvPr id="8" name="TextBox 7"/>
          <p:cNvSpPr txBox="1"/>
          <p:nvPr/>
        </p:nvSpPr>
        <p:spPr>
          <a:xfrm>
            <a:off x="548640" y="1443801"/>
            <a:ext cx="6400800" cy="276225"/>
          </a:xfrm>
          <a:prstGeom prst="rect">
            <a:avLst/>
          </a:prstGeom>
          <a:noFill/>
        </p:spPr>
        <p:txBody>
          <a:bodyPr wrap="square" lIns="0" tIns="0" rIns="0" bIns="0" anchor="t">
            <a:noAutofit/>
          </a:bodyPr>
          <a:lstStyle/>
          <a:p>
            <a:pPr algn="l">
              <a:lnSpc>
                <a:spcPct val="125000"/>
              </a:lnSpc>
              <a:buNone/>
            </a:pPr>
            <a:r>
              <a:rPr sz="1200" b="0" i="0">
                <a:solidFill>
                  <a:srgbClr val="4A5751"/>
                </a:solidFill>
                <a:latin typeface="Inter"/>
                <a:ea typeface="Inter"/>
                <a:cs typeface="Inter"/>
              </a:rPr>
              <a:t>JalNest by Orivyaa vs Ugaoo — SEO</a:t>
            </a:r>
          </a:p>
        </p:txBody>
      </p:sp>
      <p:sp>
        <p:nvSpPr>
          <p:cNvPr id="9" name="Rounded Rectangle 8"/>
          <p:cNvSpPr/>
          <p:nvPr/>
        </p:nvSpPr>
        <p:spPr>
          <a:xfrm>
            <a:off x="548640" y="1965960"/>
            <a:ext cx="3154680" cy="1737360"/>
          </a:xfrm>
          <a:prstGeom prst="roundRect">
            <a:avLst>
              <a:gd name="adj" fmla="val 5263"/>
            </a:avLst>
          </a:prstGeom>
          <a:solidFill>
            <a:srgbClr val="3B5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77240" y="2167128"/>
            <a:ext cx="2697480" cy="296265"/>
          </a:xfrm>
          <a:prstGeom prst="rect">
            <a:avLst/>
          </a:prstGeom>
          <a:noFill/>
        </p:spPr>
        <p:txBody>
          <a:bodyPr wrap="square" lIns="0" tIns="0" rIns="0" bIns="0" anchor="t">
            <a:noAutofit/>
          </a:bodyPr>
          <a:lstStyle/>
          <a:p>
            <a:pPr algn="l">
              <a:lnSpc>
                <a:spcPct val="100000"/>
              </a:lnSpc>
              <a:buNone/>
            </a:pPr>
            <a:r>
              <a:rPr sz="1600" b="0" i="0">
                <a:solidFill>
                  <a:srgbClr val="FFFFFF"/>
                </a:solidFill>
                <a:latin typeface="Fraunces"/>
                <a:ea typeface="Fraunces"/>
                <a:cs typeface="Fraunces"/>
              </a:rPr>
              <a:t>Domain Authority</a:t>
            </a:r>
          </a:p>
        </p:txBody>
      </p:sp>
      <p:sp>
        <p:nvSpPr>
          <p:cNvPr id="11" name="Rectangle 10"/>
          <p:cNvSpPr/>
          <p:nvPr/>
        </p:nvSpPr>
        <p:spPr>
          <a:xfrm>
            <a:off x="777240" y="2578227"/>
            <a:ext cx="457200" cy="19050"/>
          </a:xfrm>
          <a:prstGeom prst="rect">
            <a:avLst/>
          </a:prstGeom>
          <a:solidFill>
            <a:srgbClr val="E3E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77240" y="2715768"/>
            <a:ext cx="2697480" cy="528739"/>
          </a:xfrm>
          <a:prstGeom prst="rect">
            <a:avLst/>
          </a:prstGeom>
          <a:noFill/>
        </p:spPr>
        <p:txBody>
          <a:bodyPr wrap="square" lIns="0" tIns="0" rIns="0" bIns="0" anchor="t">
            <a:noAutofit/>
          </a:bodyPr>
          <a:lstStyle/>
          <a:p>
            <a:pPr algn="l">
              <a:lnSpc>
                <a:spcPct val="130000"/>
              </a:lnSpc>
              <a:spcAft>
                <a:spcPts val="500"/>
              </a:spcAft>
              <a:buNone/>
            </a:pPr>
            <a:r>
              <a:rPr sz="1050" b="0" i="0">
                <a:solidFill>
                  <a:srgbClr val="EDE9DD"/>
                </a:solidFill>
                <a:latin typeface="Inter SemiBold"/>
                <a:ea typeface="Inter SemiBold"/>
                <a:cs typeface="Inter SemiBold"/>
              </a:rPr>
              <a:t>JalNest:</a:t>
            </a:r>
            <a:r>
              <a:rPr sz="1050" b="0" i="0">
                <a:solidFill>
                  <a:srgbClr val="EDE9DD"/>
                </a:solidFill>
                <a:latin typeface="Inter"/>
                <a:ea typeface="Inter"/>
                <a:cs typeface="Inter"/>
              </a:rPr>
              <a:t>  ~8 (new Wix Studio site, 2026)</a:t>
            </a:r>
          </a:p>
          <a:p>
            <a:pPr algn="l">
              <a:lnSpc>
                <a:spcPct val="130000"/>
              </a:lnSpc>
              <a:buNone/>
            </a:pPr>
            <a:r>
              <a:rPr sz="1050" b="0" i="0">
                <a:solidFill>
                  <a:srgbClr val="EDE9DD"/>
                </a:solidFill>
                <a:latin typeface="Inter SemiBold"/>
                <a:ea typeface="Inter SemiBold"/>
                <a:cs typeface="Inter SemiBold"/>
              </a:rPr>
              <a:t>Ugaoo:</a:t>
            </a:r>
            <a:r>
              <a:rPr sz="1050" b="0" i="0">
                <a:solidFill>
                  <a:srgbClr val="EDE9DD"/>
                </a:solidFill>
                <a:latin typeface="Inter"/>
                <a:ea typeface="Inter"/>
                <a:cs typeface="Inter"/>
              </a:rPr>
              <a:t>  ~46 (established since 2015)</a:t>
            </a:r>
          </a:p>
        </p:txBody>
      </p:sp>
      <p:sp>
        <p:nvSpPr>
          <p:cNvPr id="13" name="Rounded Rectangle 12"/>
          <p:cNvSpPr/>
          <p:nvPr/>
        </p:nvSpPr>
        <p:spPr>
          <a:xfrm>
            <a:off x="3931920" y="1965960"/>
            <a:ext cx="3154680" cy="1737360"/>
          </a:xfrm>
          <a:prstGeom prst="roundRect">
            <a:avLst>
              <a:gd name="adj" fmla="val 5263"/>
            </a:avLst>
          </a:prstGeom>
          <a:solidFill>
            <a:srgbClr val="FFFFFF"/>
          </a:solidFill>
          <a:ln w="9525">
            <a:solidFill>
              <a:srgbClr val="E4E0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4160520" y="2167128"/>
            <a:ext cx="2697480" cy="296265"/>
          </a:xfrm>
          <a:prstGeom prst="rect">
            <a:avLst/>
          </a:prstGeom>
          <a:noFill/>
        </p:spPr>
        <p:txBody>
          <a:bodyPr wrap="square" lIns="0" tIns="0" rIns="0" bIns="0" anchor="t">
            <a:noAutofit/>
          </a:bodyPr>
          <a:lstStyle/>
          <a:p>
            <a:pPr algn="l">
              <a:lnSpc>
                <a:spcPct val="100000"/>
              </a:lnSpc>
              <a:buNone/>
            </a:pPr>
            <a:r>
              <a:rPr sz="1600" b="0" i="0">
                <a:solidFill>
                  <a:srgbClr val="16201B"/>
                </a:solidFill>
                <a:latin typeface="Fraunces"/>
                <a:ea typeface="Fraunces"/>
                <a:cs typeface="Fraunces"/>
              </a:rPr>
              <a:t>Backlink Sources</a:t>
            </a:r>
          </a:p>
        </p:txBody>
      </p:sp>
      <p:sp>
        <p:nvSpPr>
          <p:cNvPr id="15" name="Rectangle 14"/>
          <p:cNvSpPr/>
          <p:nvPr/>
        </p:nvSpPr>
        <p:spPr>
          <a:xfrm>
            <a:off x="4160520" y="2578227"/>
            <a:ext cx="457200" cy="19050"/>
          </a:xfrm>
          <a:prstGeom prst="rect">
            <a:avLst/>
          </a:prstGeom>
          <a:solidFill>
            <a:srgbClr val="B86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4160520" y="2715768"/>
            <a:ext cx="2697480" cy="738498"/>
          </a:xfrm>
          <a:prstGeom prst="rect">
            <a:avLst/>
          </a:prstGeom>
          <a:noFill/>
        </p:spPr>
        <p:txBody>
          <a:bodyPr wrap="square" lIns="0" tIns="0" rIns="0" bIns="0" anchor="t">
            <a:noAutofit/>
          </a:bodyPr>
          <a:lstStyle/>
          <a:p>
            <a:pPr algn="l">
              <a:lnSpc>
                <a:spcPct val="130000"/>
              </a:lnSpc>
              <a:spcAft>
                <a:spcPts val="500"/>
              </a:spcAft>
              <a:buNone/>
            </a:pPr>
            <a:r>
              <a:rPr sz="1050" b="0" i="0">
                <a:solidFill>
                  <a:srgbClr val="4A5751"/>
                </a:solidFill>
                <a:latin typeface="Inter SemiBold"/>
                <a:ea typeface="Inter SemiBold"/>
                <a:cs typeface="Inter SemiBold"/>
              </a:rPr>
              <a:t>JalNest:</a:t>
            </a:r>
            <a:r>
              <a:rPr sz="1050" b="0" i="0">
                <a:solidFill>
                  <a:srgbClr val="4A5751"/>
                </a:solidFill>
                <a:latin typeface="Inter"/>
                <a:ea typeface="Inter"/>
                <a:cs typeface="Inter"/>
              </a:rPr>
              <a:t>  none yet — partner &amp; guest links planned</a:t>
            </a:r>
          </a:p>
          <a:p>
            <a:pPr algn="l">
              <a:lnSpc>
                <a:spcPct val="130000"/>
              </a:lnSpc>
              <a:buNone/>
            </a:pPr>
            <a:r>
              <a:rPr sz="1050" b="0" i="0">
                <a:solidFill>
                  <a:srgbClr val="4A5751"/>
                </a:solidFill>
                <a:latin typeface="Inter SemiBold"/>
                <a:ea typeface="Inter SemiBold"/>
                <a:cs typeface="Inter SemiBold"/>
              </a:rPr>
              <a:t>Ugaoo:</a:t>
            </a:r>
            <a:r>
              <a:rPr sz="1050" b="0" i="0">
                <a:solidFill>
                  <a:srgbClr val="4A5751"/>
                </a:solidFill>
                <a:latin typeface="Inter"/>
                <a:ea typeface="Inter"/>
                <a:cs typeface="Inter"/>
              </a:rPr>
              <a:t>  2,000+ referring domains</a:t>
            </a:r>
          </a:p>
        </p:txBody>
      </p:sp>
      <p:sp>
        <p:nvSpPr>
          <p:cNvPr id="17" name="Rounded Rectangle 16"/>
          <p:cNvSpPr/>
          <p:nvPr/>
        </p:nvSpPr>
        <p:spPr>
          <a:xfrm>
            <a:off x="548640" y="3904487"/>
            <a:ext cx="3154680" cy="1737360"/>
          </a:xfrm>
          <a:prstGeom prst="roundRect">
            <a:avLst>
              <a:gd name="adj" fmla="val 5263"/>
            </a:avLst>
          </a:prstGeom>
          <a:solidFill>
            <a:srgbClr val="FFFFFF"/>
          </a:solidFill>
          <a:ln w="9525">
            <a:solidFill>
              <a:srgbClr val="E4E0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77240" y="4105655"/>
            <a:ext cx="2697480" cy="296265"/>
          </a:xfrm>
          <a:prstGeom prst="rect">
            <a:avLst/>
          </a:prstGeom>
          <a:noFill/>
        </p:spPr>
        <p:txBody>
          <a:bodyPr wrap="square" lIns="0" tIns="0" rIns="0" bIns="0" anchor="t">
            <a:noAutofit/>
          </a:bodyPr>
          <a:lstStyle/>
          <a:p>
            <a:pPr algn="l">
              <a:lnSpc>
                <a:spcPct val="100000"/>
              </a:lnSpc>
              <a:buNone/>
            </a:pPr>
            <a:r>
              <a:rPr sz="1600" b="0" i="0">
                <a:solidFill>
                  <a:srgbClr val="16201B"/>
                </a:solidFill>
                <a:latin typeface="Fraunces"/>
                <a:ea typeface="Fraunces"/>
                <a:cs typeface="Fraunces"/>
              </a:rPr>
              <a:t>Content Strategy</a:t>
            </a:r>
          </a:p>
        </p:txBody>
      </p:sp>
      <p:sp>
        <p:nvSpPr>
          <p:cNvPr id="19" name="Rectangle 18"/>
          <p:cNvSpPr/>
          <p:nvPr/>
        </p:nvSpPr>
        <p:spPr>
          <a:xfrm>
            <a:off x="777240" y="4516754"/>
            <a:ext cx="457200" cy="19050"/>
          </a:xfrm>
          <a:prstGeom prst="rect">
            <a:avLst/>
          </a:prstGeom>
          <a:solidFill>
            <a:srgbClr val="B86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777240" y="4654296"/>
            <a:ext cx="2697480" cy="738498"/>
          </a:xfrm>
          <a:prstGeom prst="rect">
            <a:avLst/>
          </a:prstGeom>
          <a:noFill/>
        </p:spPr>
        <p:txBody>
          <a:bodyPr wrap="square" lIns="0" tIns="0" rIns="0" bIns="0" anchor="t">
            <a:noAutofit/>
          </a:bodyPr>
          <a:lstStyle/>
          <a:p>
            <a:pPr algn="l">
              <a:lnSpc>
                <a:spcPct val="130000"/>
              </a:lnSpc>
              <a:spcAft>
                <a:spcPts val="500"/>
              </a:spcAft>
              <a:buNone/>
            </a:pPr>
            <a:r>
              <a:rPr sz="1050" b="0" i="0">
                <a:solidFill>
                  <a:srgbClr val="4A5751"/>
                </a:solidFill>
                <a:latin typeface="Inter SemiBold"/>
                <a:ea typeface="Inter SemiBold"/>
                <a:cs typeface="Inter SemiBold"/>
              </a:rPr>
              <a:t>JalNest:</a:t>
            </a:r>
            <a:r>
              <a:rPr sz="1050" b="0" i="0">
                <a:solidFill>
                  <a:srgbClr val="4A5751"/>
                </a:solidFill>
                <a:latin typeface="Inter"/>
                <a:ea typeface="Inter"/>
                <a:cs typeface="Inter"/>
              </a:rPr>
              <a:t>  one landing page, FAQ + product story</a:t>
            </a:r>
          </a:p>
          <a:p>
            <a:pPr algn="l">
              <a:lnSpc>
                <a:spcPct val="130000"/>
              </a:lnSpc>
              <a:buNone/>
            </a:pPr>
            <a:r>
              <a:rPr sz="1050" b="0" i="0">
                <a:solidFill>
                  <a:srgbClr val="4A5751"/>
                </a:solidFill>
                <a:latin typeface="Inter SemiBold"/>
                <a:ea typeface="Inter SemiBold"/>
                <a:cs typeface="Inter SemiBold"/>
              </a:rPr>
              <a:t>Ugaoo:</a:t>
            </a:r>
            <a:r>
              <a:rPr sz="1050" b="0" i="0">
                <a:solidFill>
                  <a:srgbClr val="4A5751"/>
                </a:solidFill>
                <a:latin typeface="Inter"/>
                <a:ea typeface="Inter"/>
                <a:cs typeface="Inter"/>
              </a:rPr>
              <a:t>  broad catalogue, large blog</a:t>
            </a:r>
          </a:p>
        </p:txBody>
      </p:sp>
      <p:sp>
        <p:nvSpPr>
          <p:cNvPr id="21" name="Rounded Rectangle 20"/>
          <p:cNvSpPr/>
          <p:nvPr/>
        </p:nvSpPr>
        <p:spPr>
          <a:xfrm>
            <a:off x="3931920" y="3904487"/>
            <a:ext cx="3154680" cy="1737360"/>
          </a:xfrm>
          <a:prstGeom prst="roundRect">
            <a:avLst>
              <a:gd name="adj" fmla="val 5263"/>
            </a:avLst>
          </a:prstGeom>
          <a:solidFill>
            <a:srgbClr val="3B5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4160520" y="4105655"/>
            <a:ext cx="2697480" cy="296265"/>
          </a:xfrm>
          <a:prstGeom prst="rect">
            <a:avLst/>
          </a:prstGeom>
          <a:noFill/>
        </p:spPr>
        <p:txBody>
          <a:bodyPr wrap="square" lIns="0" tIns="0" rIns="0" bIns="0" anchor="t">
            <a:noAutofit/>
          </a:bodyPr>
          <a:lstStyle/>
          <a:p>
            <a:pPr algn="l">
              <a:lnSpc>
                <a:spcPct val="100000"/>
              </a:lnSpc>
              <a:buNone/>
            </a:pPr>
            <a:r>
              <a:rPr sz="1600" b="0" i="0">
                <a:solidFill>
                  <a:srgbClr val="FFFFFF"/>
                </a:solidFill>
                <a:latin typeface="Fraunces"/>
                <a:ea typeface="Fraunces"/>
                <a:cs typeface="Fraunces"/>
              </a:rPr>
              <a:t>Keyword Strategy</a:t>
            </a:r>
          </a:p>
        </p:txBody>
      </p:sp>
      <p:sp>
        <p:nvSpPr>
          <p:cNvPr id="23" name="Rectangle 22"/>
          <p:cNvSpPr/>
          <p:nvPr/>
        </p:nvSpPr>
        <p:spPr>
          <a:xfrm>
            <a:off x="4160520" y="4516754"/>
            <a:ext cx="457200" cy="19050"/>
          </a:xfrm>
          <a:prstGeom prst="rect">
            <a:avLst/>
          </a:prstGeom>
          <a:solidFill>
            <a:srgbClr val="E3E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4160520" y="4654296"/>
            <a:ext cx="2697480" cy="528739"/>
          </a:xfrm>
          <a:prstGeom prst="rect">
            <a:avLst/>
          </a:prstGeom>
          <a:noFill/>
        </p:spPr>
        <p:txBody>
          <a:bodyPr wrap="square" lIns="0" tIns="0" rIns="0" bIns="0" anchor="t">
            <a:noAutofit/>
          </a:bodyPr>
          <a:lstStyle/>
          <a:p>
            <a:pPr algn="l">
              <a:lnSpc>
                <a:spcPct val="130000"/>
              </a:lnSpc>
              <a:spcAft>
                <a:spcPts val="500"/>
              </a:spcAft>
              <a:buNone/>
            </a:pPr>
            <a:r>
              <a:rPr sz="1050" b="0" i="0">
                <a:solidFill>
                  <a:srgbClr val="EDE9DD"/>
                </a:solidFill>
                <a:latin typeface="Inter SemiBold"/>
                <a:ea typeface="Inter SemiBold"/>
                <a:cs typeface="Inter SemiBold"/>
              </a:rPr>
              <a:t>JalNest:</a:t>
            </a:r>
            <a:r>
              <a:rPr sz="1050" b="0" i="0">
                <a:solidFill>
                  <a:srgbClr val="EDE9DD"/>
                </a:solidFill>
                <a:latin typeface="Inter"/>
                <a:ea typeface="Inter"/>
                <a:cs typeface="Inter"/>
              </a:rPr>
              <a:t>  niche long-tail, high-intent terms</a:t>
            </a:r>
          </a:p>
          <a:p>
            <a:pPr algn="l">
              <a:lnSpc>
                <a:spcPct val="130000"/>
              </a:lnSpc>
              <a:buNone/>
            </a:pPr>
            <a:r>
              <a:rPr sz="1050" b="0" i="0">
                <a:solidFill>
                  <a:srgbClr val="EDE9DD"/>
                </a:solidFill>
                <a:latin typeface="Inter SemiBold"/>
                <a:ea typeface="Inter SemiBold"/>
                <a:cs typeface="Inter SemiBold"/>
              </a:rPr>
              <a:t>Ugaoo:</a:t>
            </a:r>
            <a:r>
              <a:rPr sz="1050" b="0" i="0">
                <a:solidFill>
                  <a:srgbClr val="EDE9DD"/>
                </a:solidFill>
                <a:latin typeface="Inter"/>
                <a:ea typeface="Inter"/>
                <a:cs typeface="Inter"/>
              </a:rPr>
              <a:t>  high-volume generic plant terms</a:t>
            </a:r>
          </a:p>
        </p:txBody>
      </p:sp>
      <p:sp>
        <p:nvSpPr>
          <p:cNvPr id="25" name="Rounded Rectangle 24"/>
          <p:cNvSpPr/>
          <p:nvPr/>
        </p:nvSpPr>
        <p:spPr>
          <a:xfrm>
            <a:off x="8378647" y="2002536"/>
            <a:ext cx="3291840" cy="1920240"/>
          </a:xfrm>
          <a:prstGeom prst="roundRect">
            <a:avLst>
              <a:gd name="adj" fmla="val 2857"/>
            </a:avLst>
          </a:prstGeom>
          <a:solidFill>
            <a:srgbClr val="16201B">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6" name="Picture 25" descr="082a7ee158c1.jpg"/>
          <p:cNvPicPr>
            <a:picLocks noChangeAspect="1"/>
          </p:cNvPicPr>
          <p:nvPr/>
        </p:nvPicPr>
        <p:blipFill>
          <a:blip r:embed="rId2"/>
          <a:stretch>
            <a:fillRect/>
          </a:stretch>
        </p:blipFill>
        <p:spPr>
          <a:xfrm>
            <a:off x="8351215" y="1965960"/>
            <a:ext cx="3291840" cy="1920240"/>
          </a:xfrm>
          <a:prstGeom prst="rect">
            <a:avLst/>
          </a:prstGeom>
        </p:spPr>
      </p:pic>
      <p:sp>
        <p:nvSpPr>
          <p:cNvPr id="27" name="Rounded Rectangle 26"/>
          <p:cNvSpPr/>
          <p:nvPr/>
        </p:nvSpPr>
        <p:spPr>
          <a:xfrm>
            <a:off x="8378647" y="4105656"/>
            <a:ext cx="3291840" cy="1920240"/>
          </a:xfrm>
          <a:prstGeom prst="roundRect">
            <a:avLst>
              <a:gd name="adj" fmla="val 2857"/>
            </a:avLst>
          </a:prstGeom>
          <a:solidFill>
            <a:srgbClr val="16201B">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6639985a7701.jpg"/>
          <p:cNvPicPr>
            <a:picLocks noChangeAspect="1"/>
          </p:cNvPicPr>
          <p:nvPr/>
        </p:nvPicPr>
        <p:blipFill>
          <a:blip r:embed="rId3"/>
          <a:stretch>
            <a:fillRect/>
          </a:stretch>
        </p:blipFill>
        <p:spPr>
          <a:xfrm>
            <a:off x="8351215" y="4069080"/>
            <a:ext cx="3291840" cy="1920240"/>
          </a:xfrm>
          <a:prstGeom prst="rect">
            <a:avLst/>
          </a:prstGeom>
        </p:spPr>
      </p:pic>
      <p:sp>
        <p:nvSpPr>
          <p:cNvPr id="29" name="TextBox 28"/>
          <p:cNvSpPr txBox="1"/>
          <p:nvPr/>
        </p:nvSpPr>
        <p:spPr>
          <a:xfrm>
            <a:off x="7406640" y="6062472"/>
            <a:ext cx="4236415" cy="340766"/>
          </a:xfrm>
          <a:prstGeom prst="rect">
            <a:avLst/>
          </a:prstGeom>
          <a:noFill/>
        </p:spPr>
        <p:txBody>
          <a:bodyPr wrap="square" lIns="0" tIns="0" rIns="0" bIns="0" anchor="t">
            <a:noAutofit/>
          </a:bodyPr>
          <a:lstStyle/>
          <a:p>
            <a:pPr algn="r">
              <a:lnSpc>
                <a:spcPct val="120000"/>
              </a:lnSpc>
              <a:buNone/>
            </a:pPr>
            <a:r>
              <a:rPr sz="800" b="0" i="0">
                <a:solidFill>
                  <a:srgbClr val="7F8A83"/>
                </a:solidFill>
                <a:latin typeface="Inter"/>
                <a:ea typeface="Inter"/>
                <a:cs typeface="Inter"/>
              </a:rPr>
              <a:t>Illustrative estimates from SEO tools (Moz / Ahrefs style) — Ugaoo's keyword &amp; backlink profile vs JalNest's.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BF9F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5486400" cy="199851"/>
          </a:xfrm>
          <a:prstGeom prst="rect">
            <a:avLst/>
          </a:prstGeom>
          <a:noFill/>
        </p:spPr>
        <p:txBody>
          <a:bodyPr wrap="square" lIns="0" tIns="0" rIns="0" bIns="0" anchor="t">
            <a:noAutofit/>
          </a:bodyPr>
          <a:lstStyle/>
          <a:p>
            <a:pPr algn="l">
              <a:lnSpc>
                <a:spcPct val="118000"/>
              </a:lnSpc>
              <a:buNone/>
            </a:pPr>
            <a:r>
              <a:rPr sz="850" b="0" i="0" spc="140">
                <a:solidFill>
                  <a:srgbClr val="5C7A63"/>
                </a:solidFill>
                <a:latin typeface="Inter SemiBold"/>
                <a:ea typeface="Inter SemiBold"/>
                <a:cs typeface="Inter SemiBold"/>
              </a:rPr>
              <a:t>DIGITAL MARKETING  ·  ASSIGNMENT FOLIO</a:t>
            </a:r>
          </a:p>
        </p:txBody>
      </p:sp>
      <p:sp>
        <p:nvSpPr>
          <p:cNvPr id="3" name="TextBox 2"/>
          <p:cNvSpPr txBox="1"/>
          <p:nvPr/>
        </p:nvSpPr>
        <p:spPr>
          <a:xfrm>
            <a:off x="7071055" y="384048"/>
            <a:ext cx="4572000" cy="199851"/>
          </a:xfrm>
          <a:prstGeom prst="rect">
            <a:avLst/>
          </a:prstGeom>
          <a:noFill/>
        </p:spPr>
        <p:txBody>
          <a:bodyPr wrap="square" lIns="0" tIns="0" rIns="0" bIns="0" anchor="t">
            <a:noAutofit/>
          </a:bodyPr>
          <a:lstStyle/>
          <a:p>
            <a:pPr algn="r">
              <a:lnSpc>
                <a:spcPct val="118000"/>
              </a:lnSpc>
              <a:buNone/>
            </a:pPr>
            <a:r>
              <a:rPr sz="850" b="0" i="0" spc="140">
                <a:solidFill>
                  <a:srgbClr val="7F8A83"/>
                </a:solidFill>
                <a:latin typeface="Inter SemiBold"/>
                <a:ea typeface="Inter SemiBold"/>
                <a:cs typeface="Inter SemiBold"/>
              </a:rPr>
              <a:t>IMPROVEMENT SUGGESTIONS</a:t>
            </a:r>
          </a:p>
        </p:txBody>
      </p:sp>
      <p:sp>
        <p:nvSpPr>
          <p:cNvPr id="4" name="Rectangle 3"/>
          <p:cNvSpPr/>
          <p:nvPr/>
        </p:nvSpPr>
        <p:spPr>
          <a:xfrm>
            <a:off x="548640" y="6377749"/>
            <a:ext cx="11094415"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640" y="6455664"/>
            <a:ext cx="7315200" cy="190784"/>
          </a:xfrm>
          <a:prstGeom prst="rect">
            <a:avLst/>
          </a:prstGeom>
          <a:noFill/>
        </p:spPr>
        <p:txBody>
          <a:bodyPr wrap="square" lIns="0" tIns="0" rIns="0" bIns="0" anchor="t">
            <a:noAutofit/>
          </a:bodyPr>
          <a:lstStyle/>
          <a:p>
            <a:pPr algn="l">
              <a:lnSpc>
                <a:spcPct val="118000"/>
              </a:lnSpc>
              <a:buNone/>
            </a:pPr>
            <a:r>
              <a:rPr sz="800" b="0" i="0">
                <a:solidFill>
                  <a:srgbClr val="7F8A83"/>
                </a:solidFill>
                <a:latin typeface="Inter"/>
                <a:ea typeface="Inter"/>
                <a:cs typeface="Inter"/>
              </a:rPr>
              <a:t>SEO for JalNest  —  Digital Marketing Assignment</a:t>
            </a:r>
          </a:p>
        </p:txBody>
      </p:sp>
      <p:sp>
        <p:nvSpPr>
          <p:cNvPr id="6" name="TextBox 5"/>
          <p:cNvSpPr txBox="1"/>
          <p:nvPr/>
        </p:nvSpPr>
        <p:spPr>
          <a:xfrm>
            <a:off x="8899855" y="6455664"/>
            <a:ext cx="2743200" cy="190784"/>
          </a:xfrm>
          <a:prstGeom prst="rect">
            <a:avLst/>
          </a:prstGeom>
          <a:noFill/>
        </p:spPr>
        <p:txBody>
          <a:bodyPr wrap="square" lIns="0" tIns="0" rIns="0" bIns="0" anchor="t">
            <a:noAutofit/>
          </a:bodyPr>
          <a:lstStyle/>
          <a:p>
            <a:pPr algn="r">
              <a:lnSpc>
                <a:spcPct val="118000"/>
              </a:lnSpc>
              <a:buNone/>
            </a:pPr>
            <a:r>
              <a:rPr sz="800" b="0" i="0">
                <a:solidFill>
                  <a:srgbClr val="7F8A83"/>
                </a:solidFill>
                <a:latin typeface="Inter"/>
                <a:ea typeface="Inter"/>
                <a:cs typeface="Inter"/>
              </a:rPr>
              <a:t>Session 2026–27   ·   16 / 18</a:t>
            </a:r>
          </a:p>
        </p:txBody>
      </p:sp>
      <p:sp>
        <p:nvSpPr>
          <p:cNvPr id="7" name="TextBox 6"/>
          <p:cNvSpPr txBox="1"/>
          <p:nvPr/>
        </p:nvSpPr>
        <p:spPr>
          <a:xfrm>
            <a:off x="548640" y="841248"/>
            <a:ext cx="7315200" cy="556833"/>
          </a:xfrm>
          <a:prstGeom prst="rect">
            <a:avLst/>
          </a:prstGeom>
          <a:noFill/>
        </p:spPr>
        <p:txBody>
          <a:bodyPr wrap="square" lIns="0" tIns="0" rIns="0" bIns="0" anchor="t">
            <a:noAutofit/>
          </a:bodyPr>
          <a:lstStyle/>
          <a:p>
            <a:pPr algn="l">
              <a:lnSpc>
                <a:spcPct val="102000"/>
              </a:lnSpc>
              <a:buNone/>
            </a:pPr>
            <a:r>
              <a:rPr sz="3200" b="0" i="0">
                <a:solidFill>
                  <a:srgbClr val="16201B"/>
                </a:solidFill>
                <a:latin typeface="Fraunces"/>
                <a:ea typeface="Fraunces"/>
                <a:cs typeface="Fraunces"/>
              </a:rPr>
              <a:t>Improvement </a:t>
            </a:r>
            <a:r>
              <a:rPr sz="3200" b="0" i="1">
                <a:solidFill>
                  <a:srgbClr val="B8663C"/>
                </a:solidFill>
                <a:latin typeface="Fraunces"/>
                <a:ea typeface="Fraunces"/>
                <a:cs typeface="Fraunces"/>
              </a:rPr>
              <a:t>Suggestions</a:t>
            </a:r>
          </a:p>
        </p:txBody>
      </p:sp>
      <p:sp>
        <p:nvSpPr>
          <p:cNvPr id="8" name="Rounded Rectangle 7"/>
          <p:cNvSpPr/>
          <p:nvPr/>
        </p:nvSpPr>
        <p:spPr>
          <a:xfrm>
            <a:off x="548640" y="1600200"/>
            <a:ext cx="11094415" cy="1371600"/>
          </a:xfrm>
          <a:prstGeom prst="roundRect">
            <a:avLst>
              <a:gd name="adj" fmla="val 6666"/>
            </a:avLst>
          </a:prstGeom>
          <a:solidFill>
            <a:srgbClr val="FFFFFF"/>
          </a:solidFill>
          <a:ln w="9525">
            <a:solidFill>
              <a:srgbClr val="E4E0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22959" y="1929384"/>
            <a:ext cx="914400" cy="484174"/>
          </a:xfrm>
          <a:prstGeom prst="rect">
            <a:avLst/>
          </a:prstGeom>
          <a:noFill/>
        </p:spPr>
        <p:txBody>
          <a:bodyPr wrap="square" lIns="0" tIns="0" rIns="0" bIns="0" anchor="t">
            <a:noAutofit/>
          </a:bodyPr>
          <a:lstStyle/>
          <a:p>
            <a:pPr algn="l">
              <a:lnSpc>
                <a:spcPct val="100000"/>
              </a:lnSpc>
              <a:buNone/>
            </a:pPr>
            <a:r>
              <a:rPr sz="2800" b="0" i="0">
                <a:solidFill>
                  <a:srgbClr val="B8663C"/>
                </a:solidFill>
                <a:latin typeface="Fraunces"/>
                <a:ea typeface="Fraunces"/>
                <a:cs typeface="Fraunces"/>
              </a:rPr>
              <a:t>01</a:t>
            </a:r>
          </a:p>
        </p:txBody>
      </p:sp>
      <p:sp>
        <p:nvSpPr>
          <p:cNvPr id="10" name="TextBox 9"/>
          <p:cNvSpPr txBox="1"/>
          <p:nvPr/>
        </p:nvSpPr>
        <p:spPr>
          <a:xfrm>
            <a:off x="1645919" y="1874519"/>
            <a:ext cx="6766560" cy="327583"/>
          </a:xfrm>
          <a:prstGeom prst="rect">
            <a:avLst/>
          </a:prstGeom>
          <a:noFill/>
        </p:spPr>
        <p:txBody>
          <a:bodyPr wrap="square" lIns="0" tIns="0" rIns="0" bIns="0" anchor="t">
            <a:noAutofit/>
          </a:bodyPr>
          <a:lstStyle/>
          <a:p>
            <a:pPr algn="l">
              <a:lnSpc>
                <a:spcPct val="100000"/>
              </a:lnSpc>
              <a:buNone/>
            </a:pPr>
            <a:r>
              <a:rPr sz="1800" b="0" i="0">
                <a:solidFill>
                  <a:srgbClr val="16201B"/>
                </a:solidFill>
                <a:latin typeface="Fraunces"/>
                <a:ea typeface="Fraunces"/>
                <a:cs typeface="Fraunces"/>
              </a:rPr>
              <a:t>Technical SEO Speed</a:t>
            </a:r>
          </a:p>
        </p:txBody>
      </p:sp>
      <p:sp>
        <p:nvSpPr>
          <p:cNvPr id="11" name="TextBox 10"/>
          <p:cNvSpPr txBox="1"/>
          <p:nvPr/>
        </p:nvSpPr>
        <p:spPr>
          <a:xfrm>
            <a:off x="1645919" y="2240280"/>
            <a:ext cx="6949440" cy="640080"/>
          </a:xfrm>
          <a:prstGeom prst="rect">
            <a:avLst/>
          </a:prstGeom>
          <a:noFill/>
        </p:spPr>
        <p:txBody>
          <a:bodyPr wrap="square" lIns="0" tIns="0" rIns="0" bIns="0" anchor="t">
            <a:noAutofit/>
          </a:bodyPr>
          <a:lstStyle/>
          <a:p>
            <a:pPr algn="l">
              <a:lnSpc>
                <a:spcPct val="130000"/>
              </a:lnSpc>
              <a:buNone/>
            </a:pPr>
            <a:r>
              <a:rPr sz="1050" b="0" i="0">
                <a:solidFill>
                  <a:srgbClr val="4A5751"/>
                </a:solidFill>
                <a:latin typeface="Inter"/>
                <a:ea typeface="Inter"/>
                <a:cs typeface="Inter"/>
              </a:rPr>
              <a:t>The Wix page loads a large framework bundle on top of full-size images. Compress and serve the hero and gallery images in WebP/AVIF, and link the missing XML sitemap from robots.txt.</a:t>
            </a:r>
          </a:p>
        </p:txBody>
      </p:sp>
      <p:pic>
        <p:nvPicPr>
          <p:cNvPr id="12" name="Picture 11" descr="fed82b00b198.jpg"/>
          <p:cNvPicPr>
            <a:picLocks noChangeAspect="1"/>
          </p:cNvPicPr>
          <p:nvPr/>
        </p:nvPicPr>
        <p:blipFill>
          <a:blip r:embed="rId2"/>
          <a:stretch>
            <a:fillRect/>
          </a:stretch>
        </p:blipFill>
        <p:spPr>
          <a:xfrm>
            <a:off x="8991295" y="1709928"/>
            <a:ext cx="2542032" cy="1152144"/>
          </a:xfrm>
          <a:prstGeom prst="rect">
            <a:avLst/>
          </a:prstGeom>
        </p:spPr>
      </p:pic>
      <p:sp>
        <p:nvSpPr>
          <p:cNvPr id="13" name="Rounded Rectangle 12"/>
          <p:cNvSpPr/>
          <p:nvPr/>
        </p:nvSpPr>
        <p:spPr>
          <a:xfrm>
            <a:off x="548640" y="3136391"/>
            <a:ext cx="11094415" cy="1371600"/>
          </a:xfrm>
          <a:prstGeom prst="roundRect">
            <a:avLst>
              <a:gd name="adj" fmla="val 6666"/>
            </a:avLst>
          </a:prstGeom>
          <a:solidFill>
            <a:srgbClr val="FFFFFF"/>
          </a:solidFill>
          <a:ln w="9525">
            <a:solidFill>
              <a:srgbClr val="E4E0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22959" y="3465575"/>
            <a:ext cx="914400" cy="484174"/>
          </a:xfrm>
          <a:prstGeom prst="rect">
            <a:avLst/>
          </a:prstGeom>
          <a:noFill/>
        </p:spPr>
        <p:txBody>
          <a:bodyPr wrap="square" lIns="0" tIns="0" rIns="0" bIns="0" anchor="t">
            <a:noAutofit/>
          </a:bodyPr>
          <a:lstStyle/>
          <a:p>
            <a:pPr algn="l">
              <a:lnSpc>
                <a:spcPct val="100000"/>
              </a:lnSpc>
              <a:buNone/>
            </a:pPr>
            <a:r>
              <a:rPr sz="2800" b="0" i="0">
                <a:solidFill>
                  <a:srgbClr val="B8663C"/>
                </a:solidFill>
                <a:latin typeface="Fraunces"/>
                <a:ea typeface="Fraunces"/>
                <a:cs typeface="Fraunces"/>
              </a:rPr>
              <a:t>02</a:t>
            </a:r>
          </a:p>
        </p:txBody>
      </p:sp>
      <p:sp>
        <p:nvSpPr>
          <p:cNvPr id="15" name="TextBox 14"/>
          <p:cNvSpPr txBox="1"/>
          <p:nvPr/>
        </p:nvSpPr>
        <p:spPr>
          <a:xfrm>
            <a:off x="1645919" y="3410711"/>
            <a:ext cx="6766560" cy="327583"/>
          </a:xfrm>
          <a:prstGeom prst="rect">
            <a:avLst/>
          </a:prstGeom>
          <a:noFill/>
        </p:spPr>
        <p:txBody>
          <a:bodyPr wrap="square" lIns="0" tIns="0" rIns="0" bIns="0" anchor="t">
            <a:noAutofit/>
          </a:bodyPr>
          <a:lstStyle/>
          <a:p>
            <a:pPr algn="l">
              <a:lnSpc>
                <a:spcPct val="100000"/>
              </a:lnSpc>
              <a:buNone/>
            </a:pPr>
            <a:r>
              <a:rPr sz="1800" b="0" i="0">
                <a:solidFill>
                  <a:srgbClr val="16201B"/>
                </a:solidFill>
                <a:latin typeface="Fraunces"/>
                <a:ea typeface="Fraunces"/>
                <a:cs typeface="Fraunces"/>
              </a:rPr>
              <a:t>Content &amp; Keyword Optimization</a:t>
            </a:r>
          </a:p>
        </p:txBody>
      </p:sp>
      <p:sp>
        <p:nvSpPr>
          <p:cNvPr id="16" name="TextBox 15"/>
          <p:cNvSpPr txBox="1"/>
          <p:nvPr/>
        </p:nvSpPr>
        <p:spPr>
          <a:xfrm>
            <a:off x="1645919" y="3776472"/>
            <a:ext cx="6949440" cy="640080"/>
          </a:xfrm>
          <a:prstGeom prst="rect">
            <a:avLst/>
          </a:prstGeom>
          <a:noFill/>
        </p:spPr>
        <p:txBody>
          <a:bodyPr wrap="square" lIns="0" tIns="0" rIns="0" bIns="0" anchor="t">
            <a:noAutofit/>
          </a:bodyPr>
          <a:lstStyle/>
          <a:p>
            <a:pPr algn="l">
              <a:lnSpc>
                <a:spcPct val="130000"/>
              </a:lnSpc>
              <a:buNone/>
            </a:pPr>
            <a:r>
              <a:rPr sz="1050" b="0" i="0">
                <a:solidFill>
                  <a:srgbClr val="4A5751"/>
                </a:solidFill>
                <a:latin typeface="Inter"/>
                <a:ea typeface="Inter"/>
                <a:cs typeface="Inter"/>
              </a:rPr>
              <a:t>Write one unique meta description, keep a single H1 instead of thirteen, and promote the setup steps and FAQ questions to H3s. Add keyword-focused pages for Mini, Classic and Trio.</a:t>
            </a:r>
          </a:p>
        </p:txBody>
      </p:sp>
      <p:pic>
        <p:nvPicPr>
          <p:cNvPr id="17" name="Picture 16" descr="910de235b8af.jpg"/>
          <p:cNvPicPr>
            <a:picLocks noChangeAspect="1"/>
          </p:cNvPicPr>
          <p:nvPr/>
        </p:nvPicPr>
        <p:blipFill>
          <a:blip r:embed="rId3"/>
          <a:stretch>
            <a:fillRect/>
          </a:stretch>
        </p:blipFill>
        <p:spPr>
          <a:xfrm>
            <a:off x="8991295" y="3246120"/>
            <a:ext cx="2542032" cy="1152144"/>
          </a:xfrm>
          <a:prstGeom prst="rect">
            <a:avLst/>
          </a:prstGeom>
        </p:spPr>
      </p:pic>
      <p:sp>
        <p:nvSpPr>
          <p:cNvPr id="18" name="Rounded Rectangle 17"/>
          <p:cNvSpPr/>
          <p:nvPr/>
        </p:nvSpPr>
        <p:spPr>
          <a:xfrm>
            <a:off x="548640" y="4672583"/>
            <a:ext cx="11094415" cy="1371600"/>
          </a:xfrm>
          <a:prstGeom prst="roundRect">
            <a:avLst>
              <a:gd name="adj" fmla="val 6666"/>
            </a:avLst>
          </a:prstGeom>
          <a:solidFill>
            <a:srgbClr val="FFFFFF"/>
          </a:solidFill>
          <a:ln w="9525">
            <a:solidFill>
              <a:srgbClr val="E4E0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22959" y="5001768"/>
            <a:ext cx="914400" cy="484174"/>
          </a:xfrm>
          <a:prstGeom prst="rect">
            <a:avLst/>
          </a:prstGeom>
          <a:noFill/>
        </p:spPr>
        <p:txBody>
          <a:bodyPr wrap="square" lIns="0" tIns="0" rIns="0" bIns="0" anchor="t">
            <a:noAutofit/>
          </a:bodyPr>
          <a:lstStyle/>
          <a:p>
            <a:pPr algn="l">
              <a:lnSpc>
                <a:spcPct val="100000"/>
              </a:lnSpc>
              <a:buNone/>
            </a:pPr>
            <a:r>
              <a:rPr sz="2800" b="0" i="0">
                <a:solidFill>
                  <a:srgbClr val="B8663C"/>
                </a:solidFill>
                <a:latin typeface="Fraunces"/>
                <a:ea typeface="Fraunces"/>
                <a:cs typeface="Fraunces"/>
              </a:rPr>
              <a:t>03</a:t>
            </a:r>
          </a:p>
        </p:txBody>
      </p:sp>
      <p:sp>
        <p:nvSpPr>
          <p:cNvPr id="20" name="TextBox 19"/>
          <p:cNvSpPr txBox="1"/>
          <p:nvPr/>
        </p:nvSpPr>
        <p:spPr>
          <a:xfrm>
            <a:off x="1645919" y="4946903"/>
            <a:ext cx="6766560" cy="327583"/>
          </a:xfrm>
          <a:prstGeom prst="rect">
            <a:avLst/>
          </a:prstGeom>
          <a:noFill/>
        </p:spPr>
        <p:txBody>
          <a:bodyPr wrap="square" lIns="0" tIns="0" rIns="0" bIns="0" anchor="t">
            <a:noAutofit/>
          </a:bodyPr>
          <a:lstStyle/>
          <a:p>
            <a:pPr algn="l">
              <a:lnSpc>
                <a:spcPct val="100000"/>
              </a:lnSpc>
              <a:buNone/>
            </a:pPr>
            <a:r>
              <a:rPr sz="1800" b="0" i="0">
                <a:solidFill>
                  <a:srgbClr val="16201B"/>
                </a:solidFill>
                <a:latin typeface="Fraunces"/>
                <a:ea typeface="Fraunces"/>
                <a:cs typeface="Fraunces"/>
              </a:rPr>
              <a:t>User Experience Enhancement</a:t>
            </a:r>
          </a:p>
        </p:txBody>
      </p:sp>
      <p:sp>
        <p:nvSpPr>
          <p:cNvPr id="21" name="TextBox 20"/>
          <p:cNvSpPr txBox="1"/>
          <p:nvPr/>
        </p:nvSpPr>
        <p:spPr>
          <a:xfrm>
            <a:off x="1645919" y="5312664"/>
            <a:ext cx="6949440" cy="640080"/>
          </a:xfrm>
          <a:prstGeom prst="rect">
            <a:avLst/>
          </a:prstGeom>
          <a:noFill/>
        </p:spPr>
        <p:txBody>
          <a:bodyPr wrap="square" lIns="0" tIns="0" rIns="0" bIns="0" anchor="t">
            <a:noAutofit/>
          </a:bodyPr>
          <a:lstStyle/>
          <a:p>
            <a:pPr algn="l">
              <a:lnSpc>
                <a:spcPct val="130000"/>
              </a:lnSpc>
              <a:buNone/>
            </a:pPr>
            <a:r>
              <a:rPr sz="1050" b="0" i="0">
                <a:solidFill>
                  <a:srgbClr val="4A5751"/>
                </a:solidFill>
                <a:latin typeface="Inter"/>
                <a:ea typeface="Inter"/>
                <a:cs typeface="Inter"/>
              </a:rPr>
              <a:t>Add a clear buy button to every section, replace the placeholder review slot with verified reviews, and publish final prices so the page converts the traffic SEO brings in.</a:t>
            </a:r>
          </a:p>
        </p:txBody>
      </p:sp>
      <p:pic>
        <p:nvPicPr>
          <p:cNvPr id="22" name="Picture 21" descr="5194775304f4.jpg"/>
          <p:cNvPicPr>
            <a:picLocks noChangeAspect="1"/>
          </p:cNvPicPr>
          <p:nvPr/>
        </p:nvPicPr>
        <p:blipFill>
          <a:blip r:embed="rId4"/>
          <a:stretch>
            <a:fillRect/>
          </a:stretch>
        </p:blipFill>
        <p:spPr>
          <a:xfrm>
            <a:off x="8991295" y="4782312"/>
            <a:ext cx="2542032" cy="115214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BF9F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5486400" cy="199851"/>
          </a:xfrm>
          <a:prstGeom prst="rect">
            <a:avLst/>
          </a:prstGeom>
          <a:noFill/>
        </p:spPr>
        <p:txBody>
          <a:bodyPr wrap="square" lIns="0" tIns="0" rIns="0" bIns="0" anchor="t">
            <a:noAutofit/>
          </a:bodyPr>
          <a:lstStyle/>
          <a:p>
            <a:pPr algn="l">
              <a:lnSpc>
                <a:spcPct val="118000"/>
              </a:lnSpc>
              <a:buNone/>
            </a:pPr>
            <a:r>
              <a:rPr sz="850" b="0" i="0" spc="140">
                <a:solidFill>
                  <a:srgbClr val="5C7A63"/>
                </a:solidFill>
                <a:latin typeface="Inter SemiBold"/>
                <a:ea typeface="Inter SemiBold"/>
                <a:cs typeface="Inter SemiBold"/>
              </a:rPr>
              <a:t>DIGITAL MARKETING  ·  ASSIGNMENT FOLIO</a:t>
            </a:r>
          </a:p>
        </p:txBody>
      </p:sp>
      <p:sp>
        <p:nvSpPr>
          <p:cNvPr id="3" name="TextBox 2"/>
          <p:cNvSpPr txBox="1"/>
          <p:nvPr/>
        </p:nvSpPr>
        <p:spPr>
          <a:xfrm>
            <a:off x="6440807" y="381842"/>
            <a:ext cx="4572000" cy="199851"/>
          </a:xfrm>
          <a:prstGeom prst="rect">
            <a:avLst/>
          </a:prstGeom>
          <a:noFill/>
        </p:spPr>
        <p:txBody>
          <a:bodyPr wrap="square" lIns="0" tIns="0" rIns="0" bIns="0" anchor="t">
            <a:noAutofit/>
          </a:bodyPr>
          <a:lstStyle/>
          <a:p>
            <a:pPr algn="r">
              <a:lnSpc>
                <a:spcPct val="118000"/>
              </a:lnSpc>
              <a:buNone/>
            </a:pPr>
            <a:r>
              <a:rPr sz="850" b="0" i="0" spc="140" dirty="0">
                <a:solidFill>
                  <a:srgbClr val="7F8A83"/>
                </a:solidFill>
                <a:latin typeface="Inter SemiBold"/>
                <a:ea typeface="Inter SemiBold"/>
                <a:cs typeface="Inter SemiBold"/>
              </a:rPr>
              <a:t>CONCLUSION</a:t>
            </a:r>
          </a:p>
        </p:txBody>
      </p:sp>
      <p:sp>
        <p:nvSpPr>
          <p:cNvPr id="4" name="Rectangle 3"/>
          <p:cNvSpPr/>
          <p:nvPr/>
        </p:nvSpPr>
        <p:spPr>
          <a:xfrm>
            <a:off x="548640" y="6377749"/>
            <a:ext cx="6355080"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640" y="6455664"/>
            <a:ext cx="7315200" cy="190784"/>
          </a:xfrm>
          <a:prstGeom prst="rect">
            <a:avLst/>
          </a:prstGeom>
          <a:noFill/>
        </p:spPr>
        <p:txBody>
          <a:bodyPr wrap="square" lIns="0" tIns="0" rIns="0" bIns="0" anchor="t">
            <a:noAutofit/>
          </a:bodyPr>
          <a:lstStyle/>
          <a:p>
            <a:pPr algn="l">
              <a:lnSpc>
                <a:spcPct val="118000"/>
              </a:lnSpc>
              <a:buNone/>
            </a:pPr>
            <a:r>
              <a:rPr sz="800" b="0" i="0">
                <a:solidFill>
                  <a:srgbClr val="7F8A83"/>
                </a:solidFill>
                <a:latin typeface="Inter"/>
                <a:ea typeface="Inter"/>
                <a:cs typeface="Inter"/>
              </a:rPr>
              <a:t>SEO for JalNest  —  Digital Marketing Assignment</a:t>
            </a:r>
          </a:p>
        </p:txBody>
      </p:sp>
      <p:sp>
        <p:nvSpPr>
          <p:cNvPr id="6" name="TextBox 5"/>
          <p:cNvSpPr txBox="1"/>
          <p:nvPr/>
        </p:nvSpPr>
        <p:spPr>
          <a:xfrm>
            <a:off x="4160520" y="6455664"/>
            <a:ext cx="2743200" cy="190784"/>
          </a:xfrm>
          <a:prstGeom prst="rect">
            <a:avLst/>
          </a:prstGeom>
          <a:noFill/>
        </p:spPr>
        <p:txBody>
          <a:bodyPr wrap="square" lIns="0" tIns="0" rIns="0" bIns="0" anchor="t">
            <a:noAutofit/>
          </a:bodyPr>
          <a:lstStyle/>
          <a:p>
            <a:pPr algn="r">
              <a:lnSpc>
                <a:spcPct val="118000"/>
              </a:lnSpc>
              <a:buNone/>
            </a:pPr>
            <a:r>
              <a:rPr sz="800" b="0" i="0">
                <a:solidFill>
                  <a:srgbClr val="7F8A83"/>
                </a:solidFill>
                <a:latin typeface="Inter"/>
                <a:ea typeface="Inter"/>
                <a:cs typeface="Inter"/>
              </a:rPr>
              <a:t>Session 2026–27   ·   17 / 18</a:t>
            </a:r>
          </a:p>
        </p:txBody>
      </p:sp>
      <p:sp>
        <p:nvSpPr>
          <p:cNvPr id="8" name="Rectangle 7"/>
          <p:cNvSpPr/>
          <p:nvPr/>
        </p:nvSpPr>
        <p:spPr>
          <a:xfrm>
            <a:off x="7223760" y="6473952"/>
            <a:ext cx="4967935" cy="384048"/>
          </a:xfrm>
          <a:prstGeom prst="rect">
            <a:avLst/>
          </a:prstGeom>
          <a:solidFill>
            <a:srgbClr val="16201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406640" y="6473952"/>
            <a:ext cx="4602175" cy="384048"/>
          </a:xfrm>
          <a:prstGeom prst="rect">
            <a:avLst/>
          </a:prstGeom>
          <a:noFill/>
        </p:spPr>
        <p:txBody>
          <a:bodyPr wrap="square" lIns="0" tIns="0" rIns="0" bIns="0" anchor="ctr">
            <a:noAutofit/>
          </a:bodyPr>
          <a:lstStyle/>
          <a:p>
            <a:pPr algn="l">
              <a:lnSpc>
                <a:spcPct val="120000"/>
              </a:lnSpc>
              <a:buNone/>
            </a:pPr>
            <a:r>
              <a:rPr sz="850" b="0" i="0">
                <a:solidFill>
                  <a:srgbClr val="FFFFFF"/>
                </a:solidFill>
                <a:latin typeface="Inter"/>
                <a:ea typeface="Inter"/>
                <a:cs typeface="Inter"/>
              </a:rPr>
              <a:t>Rankings, visitors and conversions — the numbers that show the strategy is working.</a:t>
            </a:r>
          </a:p>
        </p:txBody>
      </p:sp>
      <p:sp>
        <p:nvSpPr>
          <p:cNvPr id="10" name="TextBox 9"/>
          <p:cNvSpPr txBox="1"/>
          <p:nvPr/>
        </p:nvSpPr>
        <p:spPr>
          <a:xfrm>
            <a:off x="548640" y="841248"/>
            <a:ext cx="6217920" cy="588777"/>
          </a:xfrm>
          <a:prstGeom prst="rect">
            <a:avLst/>
          </a:prstGeom>
          <a:noFill/>
        </p:spPr>
        <p:txBody>
          <a:bodyPr wrap="square" lIns="0" tIns="0" rIns="0" bIns="0" anchor="t">
            <a:noAutofit/>
          </a:bodyPr>
          <a:lstStyle/>
          <a:p>
            <a:pPr algn="l">
              <a:lnSpc>
                <a:spcPct val="102000"/>
              </a:lnSpc>
              <a:buNone/>
            </a:pPr>
            <a:r>
              <a:rPr sz="3400" b="0" i="0">
                <a:solidFill>
                  <a:srgbClr val="16201B"/>
                </a:solidFill>
                <a:latin typeface="Fraunces"/>
                <a:ea typeface="Fraunces"/>
                <a:cs typeface="Fraunces"/>
              </a:rPr>
              <a:t>Conclusion</a:t>
            </a:r>
          </a:p>
        </p:txBody>
      </p:sp>
      <p:sp>
        <p:nvSpPr>
          <p:cNvPr id="11" name="TextBox 10"/>
          <p:cNvSpPr txBox="1"/>
          <p:nvPr/>
        </p:nvSpPr>
        <p:spPr>
          <a:xfrm>
            <a:off x="548639" y="1481328"/>
            <a:ext cx="10688855" cy="852487"/>
          </a:xfrm>
          <a:prstGeom prst="rect">
            <a:avLst/>
          </a:prstGeom>
          <a:noFill/>
        </p:spPr>
        <p:txBody>
          <a:bodyPr wrap="square" lIns="0" tIns="0" rIns="0" bIns="0" anchor="t">
            <a:noAutofit/>
          </a:bodyPr>
          <a:lstStyle/>
          <a:p>
            <a:pPr algn="l">
              <a:lnSpc>
                <a:spcPct val="140000"/>
              </a:lnSpc>
              <a:buNone/>
            </a:pPr>
            <a:r>
              <a:rPr sz="1250" b="0" i="0" dirty="0">
                <a:solidFill>
                  <a:srgbClr val="4A5751"/>
                </a:solidFill>
                <a:latin typeface="Inter"/>
                <a:ea typeface="Inter"/>
                <a:cs typeface="Inter"/>
              </a:rPr>
              <a:t>A focused SEO strategy drives </a:t>
            </a:r>
            <a:r>
              <a:rPr sz="1250" b="0" i="0" dirty="0" err="1">
                <a:solidFill>
                  <a:srgbClr val="4A5751"/>
                </a:solidFill>
                <a:latin typeface="Inter"/>
                <a:ea typeface="Inter"/>
                <a:cs typeface="Inter"/>
              </a:rPr>
              <a:t>JalNest's</a:t>
            </a:r>
            <a:r>
              <a:rPr sz="1250" b="0" i="0" dirty="0">
                <a:solidFill>
                  <a:srgbClr val="4A5751"/>
                </a:solidFill>
                <a:latin typeface="Inter"/>
                <a:ea typeface="Inter"/>
                <a:cs typeface="Inter"/>
              </a:rPr>
              <a:t> digital growth, visibility and market expansion — turning a single well-built Wix Studio page into a steady source of high-intent customers.</a:t>
            </a:r>
          </a:p>
        </p:txBody>
      </p:sp>
      <p:sp>
        <p:nvSpPr>
          <p:cNvPr id="12" name="Rectangle 11"/>
          <p:cNvSpPr/>
          <p:nvPr/>
        </p:nvSpPr>
        <p:spPr>
          <a:xfrm flipV="1">
            <a:off x="548639" y="2436683"/>
            <a:ext cx="10394081" cy="45719"/>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548640" y="2474468"/>
            <a:ext cx="457200" cy="25400"/>
          </a:xfrm>
          <a:prstGeom prst="rect">
            <a:avLst/>
          </a:prstGeom>
          <a:solidFill>
            <a:srgbClr val="B86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48640" y="2651760"/>
            <a:ext cx="6217920" cy="311924"/>
          </a:xfrm>
          <a:prstGeom prst="rect">
            <a:avLst/>
          </a:prstGeom>
          <a:noFill/>
        </p:spPr>
        <p:txBody>
          <a:bodyPr wrap="square" lIns="0" tIns="0" rIns="0" bIns="0" anchor="t">
            <a:noAutofit/>
          </a:bodyPr>
          <a:lstStyle/>
          <a:p>
            <a:pPr algn="l">
              <a:lnSpc>
                <a:spcPct val="100000"/>
              </a:lnSpc>
              <a:buNone/>
            </a:pPr>
            <a:r>
              <a:rPr sz="1700" b="0" i="0">
                <a:solidFill>
                  <a:srgbClr val="16201B"/>
                </a:solidFill>
                <a:latin typeface="Fraunces"/>
                <a:ea typeface="Fraunces"/>
                <a:cs typeface="Fraunces"/>
              </a:rPr>
              <a:t>Key Takeaways</a:t>
            </a:r>
          </a:p>
        </p:txBody>
      </p:sp>
      <p:sp>
        <p:nvSpPr>
          <p:cNvPr id="15" name="TextBox 14"/>
          <p:cNvSpPr txBox="1"/>
          <p:nvPr/>
        </p:nvSpPr>
        <p:spPr>
          <a:xfrm>
            <a:off x="548638" y="2999232"/>
            <a:ext cx="10688855" cy="505500"/>
          </a:xfrm>
          <a:prstGeom prst="rect">
            <a:avLst/>
          </a:prstGeom>
          <a:noFill/>
        </p:spPr>
        <p:txBody>
          <a:bodyPr wrap="square" lIns="0" tIns="0" rIns="0" bIns="0" anchor="t">
            <a:noAutofit/>
          </a:bodyPr>
          <a:lstStyle/>
          <a:p>
            <a:pPr algn="l">
              <a:lnSpc>
                <a:spcPct val="136000"/>
              </a:lnSpc>
              <a:buNone/>
            </a:pPr>
            <a:r>
              <a:rPr sz="1100" b="0" i="0" dirty="0">
                <a:solidFill>
                  <a:srgbClr val="4A5751"/>
                </a:solidFill>
                <a:latin typeface="Inter"/>
                <a:ea typeface="Inter"/>
                <a:cs typeface="Inter"/>
              </a:rPr>
              <a:t>On-page and technical SEO decide how well the page is understood and indexed — title tag, meta description, canonical URL, one clean H1, a working robots.txt and the missing sitemap.</a:t>
            </a:r>
          </a:p>
        </p:txBody>
      </p:sp>
      <p:sp>
        <p:nvSpPr>
          <p:cNvPr id="16" name="Rectangle 15"/>
          <p:cNvSpPr/>
          <p:nvPr/>
        </p:nvSpPr>
        <p:spPr>
          <a:xfrm flipV="1">
            <a:off x="548640" y="3682851"/>
            <a:ext cx="10394080" cy="45719"/>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548640" y="3720632"/>
            <a:ext cx="457200" cy="25400"/>
          </a:xfrm>
          <a:prstGeom prst="rect">
            <a:avLst/>
          </a:prstGeom>
          <a:solidFill>
            <a:srgbClr val="B86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48640" y="3897924"/>
            <a:ext cx="6217920" cy="311924"/>
          </a:xfrm>
          <a:prstGeom prst="rect">
            <a:avLst/>
          </a:prstGeom>
          <a:noFill/>
        </p:spPr>
        <p:txBody>
          <a:bodyPr wrap="square" lIns="0" tIns="0" rIns="0" bIns="0" anchor="t">
            <a:noAutofit/>
          </a:bodyPr>
          <a:lstStyle/>
          <a:p>
            <a:pPr algn="l">
              <a:lnSpc>
                <a:spcPct val="100000"/>
              </a:lnSpc>
              <a:buNone/>
            </a:pPr>
            <a:r>
              <a:rPr sz="1700" b="0" i="0">
                <a:solidFill>
                  <a:srgbClr val="16201B"/>
                </a:solidFill>
                <a:latin typeface="Fraunces"/>
                <a:ea typeface="Fraunces"/>
                <a:cs typeface="Fraunces"/>
              </a:rPr>
              <a:t>Future SEO Growth</a:t>
            </a:r>
          </a:p>
        </p:txBody>
      </p:sp>
      <p:sp>
        <p:nvSpPr>
          <p:cNvPr id="19" name="TextBox 18"/>
          <p:cNvSpPr txBox="1"/>
          <p:nvPr/>
        </p:nvSpPr>
        <p:spPr>
          <a:xfrm>
            <a:off x="548639" y="4245396"/>
            <a:ext cx="10749014" cy="505500"/>
          </a:xfrm>
          <a:prstGeom prst="rect">
            <a:avLst/>
          </a:prstGeom>
          <a:noFill/>
        </p:spPr>
        <p:txBody>
          <a:bodyPr wrap="square" lIns="0" tIns="0" rIns="0" bIns="0" anchor="t">
            <a:noAutofit/>
          </a:bodyPr>
          <a:lstStyle/>
          <a:p>
            <a:pPr algn="l">
              <a:lnSpc>
                <a:spcPct val="136000"/>
              </a:lnSpc>
              <a:buNone/>
            </a:pPr>
            <a:r>
              <a:rPr sz="1100" b="0" i="0" dirty="0">
                <a:solidFill>
                  <a:srgbClr val="4A5751"/>
                </a:solidFill>
                <a:latin typeface="Inter"/>
                <a:ea typeface="Inter"/>
                <a:cs typeface="Inter"/>
              </a:rPr>
              <a:t>Off-page strategies — guest posts, partner banners, Instagram, Facebook and X — plus competitor insight will build </a:t>
            </a:r>
            <a:r>
              <a:rPr sz="1100" b="0" i="0" dirty="0" err="1">
                <a:solidFill>
                  <a:srgbClr val="4A5751"/>
                </a:solidFill>
                <a:latin typeface="Inter"/>
                <a:ea typeface="Inter"/>
                <a:cs typeface="Inter"/>
              </a:rPr>
              <a:t>JalNest's</a:t>
            </a:r>
            <a:r>
              <a:rPr sz="1100" b="0" i="0" dirty="0">
                <a:solidFill>
                  <a:srgbClr val="4A5751"/>
                </a:solidFill>
                <a:latin typeface="Inter"/>
                <a:ea typeface="Inter"/>
                <a:cs typeface="Inter"/>
              </a:rPr>
              <a:t> authority beyond Jaipur and its first set of keywords.</a:t>
            </a:r>
          </a:p>
        </p:txBody>
      </p:sp>
      <p:sp>
        <p:nvSpPr>
          <p:cNvPr id="20" name="Rectangle 19"/>
          <p:cNvSpPr/>
          <p:nvPr/>
        </p:nvSpPr>
        <p:spPr>
          <a:xfrm>
            <a:off x="548640" y="4974734"/>
            <a:ext cx="10394080" cy="45719"/>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548640" y="4966797"/>
            <a:ext cx="457200" cy="25400"/>
          </a:xfrm>
          <a:prstGeom prst="rect">
            <a:avLst/>
          </a:prstGeom>
          <a:solidFill>
            <a:srgbClr val="B86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548640" y="5144089"/>
            <a:ext cx="6217920" cy="311924"/>
          </a:xfrm>
          <a:prstGeom prst="rect">
            <a:avLst/>
          </a:prstGeom>
          <a:noFill/>
        </p:spPr>
        <p:txBody>
          <a:bodyPr wrap="square" lIns="0" tIns="0" rIns="0" bIns="0" anchor="t">
            <a:noAutofit/>
          </a:bodyPr>
          <a:lstStyle/>
          <a:p>
            <a:pPr algn="l">
              <a:lnSpc>
                <a:spcPct val="100000"/>
              </a:lnSpc>
              <a:buNone/>
            </a:pPr>
            <a:r>
              <a:rPr sz="1700" b="0" i="0">
                <a:solidFill>
                  <a:srgbClr val="16201B"/>
                </a:solidFill>
                <a:latin typeface="Fraunces"/>
                <a:ea typeface="Fraunces"/>
                <a:cs typeface="Fraunces"/>
              </a:rPr>
              <a:t>SEO Success Factors</a:t>
            </a:r>
          </a:p>
        </p:txBody>
      </p:sp>
      <p:sp>
        <p:nvSpPr>
          <p:cNvPr id="23" name="Rounded Rectangle 22"/>
          <p:cNvSpPr/>
          <p:nvPr/>
        </p:nvSpPr>
        <p:spPr>
          <a:xfrm>
            <a:off x="548640" y="5528137"/>
            <a:ext cx="1451610" cy="530352"/>
          </a:xfrm>
          <a:prstGeom prst="roundRect">
            <a:avLst>
              <a:gd name="adj" fmla="val 13793"/>
            </a:avLst>
          </a:prstGeom>
          <a:solidFill>
            <a:srgbClr val="E3E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40080" y="5528137"/>
            <a:ext cx="1268730" cy="530352"/>
          </a:xfrm>
          <a:prstGeom prst="rect">
            <a:avLst/>
          </a:prstGeom>
          <a:noFill/>
        </p:spPr>
        <p:txBody>
          <a:bodyPr wrap="square" lIns="0" tIns="0" rIns="0" bIns="0" anchor="ctr">
            <a:noAutofit/>
          </a:bodyPr>
          <a:lstStyle/>
          <a:p>
            <a:pPr algn="ctr">
              <a:lnSpc>
                <a:spcPct val="110000"/>
              </a:lnSpc>
              <a:buNone/>
            </a:pPr>
            <a:r>
              <a:rPr sz="880" b="0" i="0">
                <a:solidFill>
                  <a:srgbClr val="3B5744"/>
                </a:solidFill>
                <a:latin typeface="Inter SemiBold"/>
                <a:ea typeface="Inter SemiBold"/>
                <a:cs typeface="Inter SemiBold"/>
              </a:rPr>
              <a:t>01</a:t>
            </a:r>
            <a:r>
              <a:rPr sz="880" b="0" i="0">
                <a:solidFill>
                  <a:srgbClr val="3B5744"/>
                </a:solidFill>
                <a:latin typeface="Inter"/>
                <a:ea typeface="Inter"/>
                <a:cs typeface="Inter"/>
              </a:rPr>
              <a:t>  Keyword Targeting</a:t>
            </a:r>
          </a:p>
        </p:txBody>
      </p:sp>
      <p:sp>
        <p:nvSpPr>
          <p:cNvPr id="25" name="Rounded Rectangle 24"/>
          <p:cNvSpPr/>
          <p:nvPr/>
        </p:nvSpPr>
        <p:spPr>
          <a:xfrm>
            <a:off x="2137410" y="5528137"/>
            <a:ext cx="1451610" cy="530352"/>
          </a:xfrm>
          <a:prstGeom prst="roundRect">
            <a:avLst>
              <a:gd name="adj" fmla="val 13793"/>
            </a:avLst>
          </a:prstGeom>
          <a:solidFill>
            <a:srgbClr val="E3E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2228850" y="5528137"/>
            <a:ext cx="1268730" cy="530352"/>
          </a:xfrm>
          <a:prstGeom prst="rect">
            <a:avLst/>
          </a:prstGeom>
          <a:noFill/>
        </p:spPr>
        <p:txBody>
          <a:bodyPr wrap="square" lIns="0" tIns="0" rIns="0" bIns="0" anchor="ctr">
            <a:noAutofit/>
          </a:bodyPr>
          <a:lstStyle/>
          <a:p>
            <a:pPr algn="ctr">
              <a:lnSpc>
                <a:spcPct val="110000"/>
              </a:lnSpc>
              <a:buNone/>
            </a:pPr>
            <a:r>
              <a:rPr sz="880" b="0" i="0">
                <a:solidFill>
                  <a:srgbClr val="3B5744"/>
                </a:solidFill>
                <a:latin typeface="Inter SemiBold"/>
                <a:ea typeface="Inter SemiBold"/>
                <a:cs typeface="Inter SemiBold"/>
              </a:rPr>
              <a:t>02</a:t>
            </a:r>
            <a:r>
              <a:rPr sz="880" b="0" i="0">
                <a:solidFill>
                  <a:srgbClr val="3B5744"/>
                </a:solidFill>
                <a:latin typeface="Inter"/>
                <a:ea typeface="Inter"/>
                <a:cs typeface="Inter"/>
              </a:rPr>
              <a:t>  On-Page SEO</a:t>
            </a:r>
          </a:p>
        </p:txBody>
      </p:sp>
      <p:sp>
        <p:nvSpPr>
          <p:cNvPr id="27" name="Rounded Rectangle 26"/>
          <p:cNvSpPr/>
          <p:nvPr/>
        </p:nvSpPr>
        <p:spPr>
          <a:xfrm>
            <a:off x="3726180" y="5528137"/>
            <a:ext cx="1451610" cy="530352"/>
          </a:xfrm>
          <a:prstGeom prst="roundRect">
            <a:avLst>
              <a:gd name="adj" fmla="val 13793"/>
            </a:avLst>
          </a:prstGeom>
          <a:solidFill>
            <a:srgbClr val="E3E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3817620" y="5528137"/>
            <a:ext cx="1268730" cy="530352"/>
          </a:xfrm>
          <a:prstGeom prst="rect">
            <a:avLst/>
          </a:prstGeom>
          <a:noFill/>
        </p:spPr>
        <p:txBody>
          <a:bodyPr wrap="square" lIns="0" tIns="0" rIns="0" bIns="0" anchor="ctr">
            <a:noAutofit/>
          </a:bodyPr>
          <a:lstStyle/>
          <a:p>
            <a:pPr algn="ctr">
              <a:lnSpc>
                <a:spcPct val="110000"/>
              </a:lnSpc>
              <a:buNone/>
            </a:pPr>
            <a:r>
              <a:rPr sz="880" b="0" i="0">
                <a:solidFill>
                  <a:srgbClr val="3B5744"/>
                </a:solidFill>
                <a:latin typeface="Inter SemiBold"/>
                <a:ea typeface="Inter SemiBold"/>
                <a:cs typeface="Inter SemiBold"/>
              </a:rPr>
              <a:t>03</a:t>
            </a:r>
            <a:r>
              <a:rPr sz="880" b="0" i="0">
                <a:solidFill>
                  <a:srgbClr val="3B5744"/>
                </a:solidFill>
                <a:latin typeface="Inter"/>
                <a:ea typeface="Inter"/>
                <a:cs typeface="Inter"/>
              </a:rPr>
              <a:t>  Off-Page SEO</a:t>
            </a:r>
          </a:p>
        </p:txBody>
      </p:sp>
      <p:sp>
        <p:nvSpPr>
          <p:cNvPr id="29" name="Rounded Rectangle 28"/>
          <p:cNvSpPr/>
          <p:nvPr/>
        </p:nvSpPr>
        <p:spPr>
          <a:xfrm>
            <a:off x="5314950" y="5528137"/>
            <a:ext cx="1451610" cy="530352"/>
          </a:xfrm>
          <a:prstGeom prst="roundRect">
            <a:avLst>
              <a:gd name="adj" fmla="val 13793"/>
            </a:avLst>
          </a:prstGeom>
          <a:solidFill>
            <a:srgbClr val="E3E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5406390" y="5528137"/>
            <a:ext cx="1268730" cy="530352"/>
          </a:xfrm>
          <a:prstGeom prst="rect">
            <a:avLst/>
          </a:prstGeom>
          <a:noFill/>
        </p:spPr>
        <p:txBody>
          <a:bodyPr wrap="square" lIns="0" tIns="0" rIns="0" bIns="0" anchor="ctr">
            <a:noAutofit/>
          </a:bodyPr>
          <a:lstStyle/>
          <a:p>
            <a:pPr algn="ctr">
              <a:lnSpc>
                <a:spcPct val="110000"/>
              </a:lnSpc>
              <a:buNone/>
            </a:pPr>
            <a:r>
              <a:rPr sz="880" b="0" i="0">
                <a:solidFill>
                  <a:srgbClr val="3B5744"/>
                </a:solidFill>
                <a:latin typeface="Inter SemiBold"/>
                <a:ea typeface="Inter SemiBold"/>
                <a:cs typeface="Inter SemiBold"/>
              </a:rPr>
              <a:t>04</a:t>
            </a:r>
            <a:r>
              <a:rPr sz="880" b="0" i="0">
                <a:solidFill>
                  <a:srgbClr val="3B5744"/>
                </a:solidFill>
                <a:latin typeface="Inter"/>
                <a:ea typeface="Inter"/>
                <a:cs typeface="Inter"/>
              </a:rPr>
              <a:t>  Technical SEO</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BF9F4"/>
        </a:solidFill>
        <a:effectLst/>
      </p:bgPr>
    </p:bg>
    <p:spTree>
      <p:nvGrpSpPr>
        <p:cNvPr id="1" name=""/>
        <p:cNvGrpSpPr/>
        <p:nvPr/>
      </p:nvGrpSpPr>
      <p:grpSpPr>
        <a:xfrm>
          <a:off x="0" y="0"/>
          <a:ext cx="0" cy="0"/>
          <a:chOff x="0" y="0"/>
          <a:chExt cx="0" cy="0"/>
        </a:xfrm>
      </p:grpSpPr>
      <p:pic>
        <p:nvPicPr>
          <p:cNvPr id="2" name="Picture 1" descr="d5918577bdbc.jpg"/>
          <p:cNvPicPr>
            <a:picLocks noChangeAspect="1"/>
          </p:cNvPicPr>
          <p:nvPr/>
        </p:nvPicPr>
        <p:blipFill>
          <a:blip r:embed="rId2"/>
          <a:stretch>
            <a:fillRect/>
          </a:stretch>
        </p:blipFill>
        <p:spPr>
          <a:xfrm>
            <a:off x="0" y="4160520"/>
            <a:ext cx="12191695" cy="2697480"/>
          </a:xfrm>
          <a:prstGeom prst="rect">
            <a:avLst/>
          </a:prstGeom>
        </p:spPr>
      </p:pic>
      <p:sp>
        <p:nvSpPr>
          <p:cNvPr id="3" name="Rectangle 2"/>
          <p:cNvSpPr/>
          <p:nvPr/>
        </p:nvSpPr>
        <p:spPr>
          <a:xfrm>
            <a:off x="0" y="4160520"/>
            <a:ext cx="12191695" cy="822960"/>
          </a:xfrm>
          <a:prstGeom prst="rect">
            <a:avLst/>
          </a:prstGeom>
          <a:gradFill rotWithShape="1">
            <a:gsLst>
              <a:gs pos="0">
                <a:srgbClr val="FBF9F4">
                  <a:alpha val="100000"/>
                </a:srgbClr>
              </a:gs>
              <a:gs pos="100000">
                <a:srgbClr val="FBF9F4">
                  <a:alpha val="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college_logo_wide19.png"/>
          <p:cNvPicPr>
            <a:picLocks noChangeAspect="1"/>
          </p:cNvPicPr>
          <p:nvPr/>
        </p:nvPicPr>
        <p:blipFill>
          <a:blip r:embed="rId3"/>
          <a:stretch>
            <a:fillRect/>
          </a:stretch>
        </p:blipFill>
        <p:spPr>
          <a:xfrm>
            <a:off x="3993954" y="457200"/>
            <a:ext cx="4203785" cy="1143000"/>
          </a:xfrm>
          <a:prstGeom prst="rect">
            <a:avLst/>
          </a:prstGeom>
        </p:spPr>
      </p:pic>
      <p:sp>
        <p:nvSpPr>
          <p:cNvPr id="6" name="Rectangle 5"/>
          <p:cNvSpPr/>
          <p:nvPr/>
        </p:nvSpPr>
        <p:spPr>
          <a:xfrm>
            <a:off x="5684367" y="2043060"/>
            <a:ext cx="822960" cy="19050"/>
          </a:xfrm>
          <a:prstGeom prst="rect">
            <a:avLst/>
          </a:prstGeom>
          <a:solidFill>
            <a:srgbClr val="B86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0" y="2376231"/>
            <a:ext cx="12191695" cy="236117"/>
          </a:xfrm>
          <a:prstGeom prst="rect">
            <a:avLst/>
          </a:prstGeom>
          <a:noFill/>
        </p:spPr>
        <p:txBody>
          <a:bodyPr wrap="square" lIns="0" tIns="0" rIns="0" bIns="0" anchor="t">
            <a:noAutofit/>
          </a:bodyPr>
          <a:lstStyle/>
          <a:p>
            <a:pPr algn="ctr">
              <a:lnSpc>
                <a:spcPct val="118000"/>
              </a:lnSpc>
              <a:buNone/>
            </a:pPr>
            <a:r>
              <a:rPr sz="1050" b="0" i="0" spc="120" dirty="0">
                <a:solidFill>
                  <a:srgbClr val="5C7A63"/>
                </a:solidFill>
                <a:latin typeface="Inter SemiBold"/>
                <a:ea typeface="Inter SemiBold"/>
                <a:cs typeface="Inter SemiBold"/>
              </a:rPr>
              <a:t>Digital Marketing  ·  Assignment Folio  ·  SEO Strategy for </a:t>
            </a:r>
            <a:r>
              <a:rPr sz="1050" b="0" i="0" spc="120" dirty="0" err="1">
                <a:solidFill>
                  <a:srgbClr val="5C7A63"/>
                </a:solidFill>
                <a:latin typeface="Inter SemiBold"/>
                <a:ea typeface="Inter SemiBold"/>
                <a:cs typeface="Inter SemiBold"/>
              </a:rPr>
              <a:t>JalNest</a:t>
            </a:r>
            <a:r>
              <a:rPr sz="1050" b="0" i="0" spc="120" dirty="0">
                <a:solidFill>
                  <a:srgbClr val="5C7A63"/>
                </a:solidFill>
                <a:latin typeface="Inter SemiBold"/>
                <a:ea typeface="Inter SemiBold"/>
                <a:cs typeface="Inter SemiBold"/>
              </a:rPr>
              <a:t> by ORIVYAA</a:t>
            </a:r>
          </a:p>
        </p:txBody>
      </p:sp>
      <p:sp>
        <p:nvSpPr>
          <p:cNvPr id="8" name="TextBox 7"/>
          <p:cNvSpPr txBox="1"/>
          <p:nvPr/>
        </p:nvSpPr>
        <p:spPr>
          <a:xfrm>
            <a:off x="0" y="3015109"/>
            <a:ext cx="12191695" cy="501396"/>
          </a:xfrm>
          <a:prstGeom prst="rect">
            <a:avLst/>
          </a:prstGeom>
          <a:noFill/>
        </p:spPr>
        <p:txBody>
          <a:bodyPr wrap="square" lIns="0" tIns="0" rIns="0" bIns="0" anchor="t">
            <a:noAutofit/>
          </a:bodyPr>
          <a:lstStyle/>
          <a:p>
            <a:pPr algn="ctr">
              <a:lnSpc>
                <a:spcPct val="140000"/>
              </a:lnSpc>
              <a:spcAft>
                <a:spcPts val="200"/>
              </a:spcAft>
              <a:buNone/>
            </a:pPr>
            <a:r>
              <a:rPr sz="1000" b="0" i="0" dirty="0">
                <a:solidFill>
                  <a:srgbClr val="4A5751"/>
                </a:solidFill>
                <a:latin typeface="Inter"/>
                <a:ea typeface="Inter"/>
                <a:cs typeface="Inter"/>
              </a:rPr>
              <a:t>Case study: divyanshkumar47473.wixstudio.com/</a:t>
            </a:r>
            <a:r>
              <a:rPr sz="1000" b="0" i="0" dirty="0" err="1">
                <a:solidFill>
                  <a:srgbClr val="4A5751"/>
                </a:solidFill>
                <a:latin typeface="Inter"/>
                <a:ea typeface="Inter"/>
                <a:cs typeface="Inter"/>
              </a:rPr>
              <a:t>orivyaa</a:t>
            </a:r>
            <a:r>
              <a:rPr sz="1000" b="0" i="0" dirty="0">
                <a:solidFill>
                  <a:srgbClr val="4A5751"/>
                </a:solidFill>
                <a:latin typeface="Inter"/>
                <a:ea typeface="Inter"/>
                <a:cs typeface="Inter"/>
              </a:rPr>
              <a:t>  ·  Submitted by </a:t>
            </a:r>
            <a:r>
              <a:rPr lang="en-IN" sz="1000" b="0" i="0" dirty="0">
                <a:solidFill>
                  <a:srgbClr val="4A5751"/>
                </a:solidFill>
                <a:latin typeface="Inter"/>
                <a:ea typeface="Inter"/>
                <a:cs typeface="Inter"/>
              </a:rPr>
              <a:t>Divyansh</a:t>
            </a:r>
            <a:r>
              <a:rPr sz="1000" b="0" i="0" dirty="0">
                <a:solidFill>
                  <a:srgbClr val="4A5751"/>
                </a:solidFill>
                <a:latin typeface="Inter"/>
                <a:ea typeface="Inter"/>
                <a:cs typeface="Inter"/>
              </a:rPr>
              <a:t>  ·  BCA, 2nd Year</a:t>
            </a:r>
          </a:p>
          <a:p>
            <a:pPr algn="ctr">
              <a:lnSpc>
                <a:spcPct val="140000"/>
              </a:lnSpc>
              <a:buNone/>
            </a:pPr>
            <a:r>
              <a:rPr sz="1000" b="0" i="0" dirty="0">
                <a:solidFill>
                  <a:srgbClr val="4A5751"/>
                </a:solidFill>
                <a:latin typeface="Inter"/>
                <a:ea typeface="Inter"/>
                <a:cs typeface="Inter"/>
              </a:rPr>
              <a:t>Dezyne École College  ·  106/10, Civil Lines, Ajmer  ·  www.dezyneecole.com  ·  Session 2026–27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95</TotalTime>
  <Words>2470</Words>
  <Application>Microsoft Office PowerPoint</Application>
  <PresentationFormat>Widescreen</PresentationFormat>
  <Paragraphs>303</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Inter SemiBold</vt:lpstr>
      <vt:lpstr>Fraunces</vt:lpstr>
      <vt:lpstr>Inter Medium</vt:lpstr>
      <vt:lpstr>Arial</vt:lpstr>
      <vt:lpstr>JetBrains Mono</vt:lpstr>
      <vt:lpstr>Calibri</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IT Student</dc:creator>
  <cp:keywords/>
  <dc:description>generated using python-pptx</dc:description>
  <cp:lastModifiedBy>IT Student</cp:lastModifiedBy>
  <cp:revision>3</cp:revision>
  <dcterms:created xsi:type="dcterms:W3CDTF">2013-01-27T09:14:16Z</dcterms:created>
  <dcterms:modified xsi:type="dcterms:W3CDTF">2026-10-05T05:42:11Z</dcterms:modified>
  <cp:category/>
</cp:coreProperties>
</file>